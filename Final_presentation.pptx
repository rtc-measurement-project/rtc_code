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6"/>
  </p:notesMasterIdLst>
  <p:sldIdLst>
    <p:sldId id="256" r:id="rId3"/>
    <p:sldId id="257" r:id="rId4"/>
    <p:sldId id="259" r:id="rId5"/>
    <p:sldId id="260" r:id="rId6"/>
    <p:sldId id="261" r:id="rId7"/>
    <p:sldId id="262" r:id="rId8"/>
    <p:sldId id="263" r:id="rId9"/>
    <p:sldId id="264" r:id="rId10"/>
    <p:sldId id="265" r:id="rId11"/>
    <p:sldId id="266" r:id="rId12"/>
    <p:sldId id="267" r:id="rId13"/>
    <p:sldId id="268" r:id="rId14"/>
    <p:sldId id="269" r:id="rId15"/>
    <p:sldId id="279" r:id="rId16"/>
    <p:sldId id="280" r:id="rId17"/>
    <p:sldId id="281" r:id="rId18"/>
    <p:sldId id="282" r:id="rId19"/>
    <p:sldId id="283" r:id="rId20"/>
    <p:sldId id="284" r:id="rId21"/>
    <p:sldId id="285" r:id="rId22"/>
    <p:sldId id="286" r:id="rId23"/>
    <p:sldId id="288" r:id="rId24"/>
    <p:sldId id="289" r:id="rId25"/>
  </p:sldIdLst>
  <p:sldSz cx="9144000" cy="5143500" type="screen16x9"/>
  <p:notesSz cx="6858000" cy="9144000"/>
  <p:embeddedFontLst>
    <p:embeddedFont>
      <p:font typeface="Cambria Math" panose="02040503050406030204" pitchFamily="18" charset="0"/>
      <p:regular r:id="rId27"/>
    </p:embeddedFont>
    <p:embeddedFont>
      <p:font typeface="Helvetica Neue" panose="02000503000000020004"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oo"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6CC39C-3FF6-4D97-8BE7-9929187E7436}">
  <a:tblStyle styleId="{8B6CC39C-3FF6-4D97-8BE7-9929187E7436}"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DFD"/>
          </a:solidFill>
        </a:fill>
      </a:tcStyle>
    </a:wholeTbl>
    <a:band1H>
      <a:tcTxStyle b="off" i="off"/>
      <a:tcStyle>
        <a:tcBdr/>
        <a:fill>
          <a:solidFill>
            <a:srgbClr val="CDD8FB"/>
          </a:solidFill>
        </a:fill>
      </a:tcStyle>
    </a:band1H>
    <a:band2H>
      <a:tcTxStyle b="off" i="off"/>
      <a:tcStyle>
        <a:tcBdr/>
      </a:tcStyle>
    </a:band2H>
    <a:band1V>
      <a:tcTxStyle b="off" i="off"/>
      <a:tcStyle>
        <a:tcBdr/>
        <a:fill>
          <a:solidFill>
            <a:srgbClr val="CDD8FB"/>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B9C99F92-F64D-4526-B72B-562ED602E222}"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DFD"/>
          </a:solidFill>
        </a:fill>
      </a:tcStyle>
    </a:wholeTbl>
    <a:band1H>
      <a:tcTxStyle/>
      <a:tcStyle>
        <a:tcBdr/>
        <a:fill>
          <a:solidFill>
            <a:srgbClr val="CDD8FB"/>
          </a:solidFill>
        </a:fill>
      </a:tcStyle>
    </a:band1H>
    <a:band2H>
      <a:tcTxStyle/>
      <a:tcStyle>
        <a:tcBdr/>
      </a:tcStyle>
    </a:band2H>
    <a:band1V>
      <a:tcTxStyle/>
      <a:tcStyle>
        <a:tcBdr/>
        <a:fill>
          <a:solidFill>
            <a:srgbClr val="CDD8FB"/>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60"/>
    <p:restoredTop sz="94719"/>
  </p:normalViewPr>
  <p:slideViewPr>
    <p:cSldViewPr snapToGrid="0">
      <p:cViewPr varScale="1">
        <p:scale>
          <a:sx n="157" d="100"/>
          <a:sy n="157" d="100"/>
        </p:scale>
        <p:origin x="168" y="8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9b8006d7b9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g39b8006d7b9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9b8006d7b9_2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g39b8006d7b9_2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9b8006d7b9_2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g39b8006d7b9_2_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9b8006d7b9_2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9b8006d7b9_2_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9b8006d7b9_2_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g39b8006d7b9_2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9b8006d7b9_2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g39b8006d7b9_2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9b8006d7b9_2_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3" name="Google Shape;223;g39b8006d7b9_2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9b8006d7b9_2_1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0" name="Google Shape;230;g39b8006d7b9_2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9b8006d7b9_2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9b8006d7b9_2_1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Internet Assigned Numbers Authority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9b8006d7b9_2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g39b8006d7b9_2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9b8006d7b9_2_2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6" name="Google Shape;356;g39b8006d7b9_2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9b8006d7b9_2_2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3" name="Google Shape;363;g39b8006d7b9_2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9b8006d7b9_2_2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t>Listen to what </a:t>
            </a:r>
            <a:endParaRPr dirty="0"/>
          </a:p>
        </p:txBody>
      </p:sp>
      <p:sp>
        <p:nvSpPr>
          <p:cNvPr id="389" name="Google Shape;389;g39b8006d7b9_2_2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39b8006d7b9_2_5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7" name="Google Shape;637;g39b8006d7b9_2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39b8006d7b9_2_5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4" name="Google Shape;644;g39b8006d7b9_2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39b8006d7b9_2_5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4" name="Google Shape;654;g39b8006d7b9_2_5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39b8006d7b9_2_5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5" name="Google Shape;665;g39b8006d7b9_2_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39b8006d7b9_2_5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2" name="Google Shape;672;g39b8006d7b9_2_5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39b8006d7b9_2_5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7" name="Google Shape;687;g39b8006d7b9_2_5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39b8006d7b9_2_5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0" name="Google Shape;700;g39b8006d7b9_2_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39b8006d7b9_2_6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6" name="Google Shape;726;g39b8006d7b9_2_6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39b8006d7b9_2_6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3" name="Google Shape;773;g39b8006d7b9_2_6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39b8006d7b9_2_6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91" name="Google Shape;791;g39b8006d7b9_2_6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0" name="Google Shape;60;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1" name="Google Shape;6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 Id="rId9" Type="http://schemas.openxmlformats.org/officeDocument/2006/relationships/image" Target="../media/image9.jp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21.jpeg"/><Relationship Id="rId4" Type="http://schemas.openxmlformats.org/officeDocument/2006/relationships/image" Target="../media/image20.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5.jpg"/><Relationship Id="rId5" Type="http://schemas.openxmlformats.org/officeDocument/2006/relationships/image" Target="../media/image4.jpg"/><Relationship Id="rId10" Type="http://schemas.openxmlformats.org/officeDocument/2006/relationships/image" Target="../media/image9.jpg"/><Relationship Id="rId4" Type="http://schemas.openxmlformats.org/officeDocument/2006/relationships/image" Target="../media/image26.png"/><Relationship Id="rId9"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33.png"/><Relationship Id="rId5" Type="http://schemas.openxmlformats.org/officeDocument/2006/relationships/image" Target="../media/image29.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36.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4.jpg"/><Relationship Id="rId7"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jpg"/><Relationship Id="rId10" Type="http://schemas.openxmlformats.org/officeDocument/2006/relationships/image" Target="../media/image38.jpeg"/><Relationship Id="rId4" Type="http://schemas.openxmlformats.org/officeDocument/2006/relationships/image" Target="../media/image5.jpg"/><Relationship Id="rId9" Type="http://schemas.openxmlformats.org/officeDocument/2006/relationships/image" Target="../media/image3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r>
              <a:rPr lang="en" sz="4100"/>
              <a:t>Protocol Compliance in Popular RTC Applications</a:t>
            </a:r>
            <a:endParaRPr sz="4100"/>
          </a:p>
        </p:txBody>
      </p:sp>
      <p:sp>
        <p:nvSpPr>
          <p:cNvPr id="100" name="Google Shape;100;p2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 sz="2100" b="1" dirty="0" err="1"/>
              <a:t>Peiqing</a:t>
            </a:r>
            <a:r>
              <a:rPr lang="en" sz="2100" b="1" dirty="0"/>
              <a:t> Chen</a:t>
            </a:r>
            <a:r>
              <a:rPr lang="zh-CN" altLang="en-US" sz="2100" b="1" dirty="0"/>
              <a:t>*</a:t>
            </a:r>
            <a:r>
              <a:rPr lang="en" sz="2100" b="1" dirty="0"/>
              <a:t>, </a:t>
            </a:r>
            <a:r>
              <a:rPr lang="en" sz="2100" dirty="0"/>
              <a:t>Peng Qiu</a:t>
            </a:r>
            <a:r>
              <a:rPr lang="en" sz="2100" b="1" dirty="0"/>
              <a:t>*,</a:t>
            </a:r>
            <a:r>
              <a:rPr lang="en" sz="2100" dirty="0"/>
              <a:t> Anonymous, </a:t>
            </a:r>
            <a:r>
              <a:rPr lang="en" sz="2100" dirty="0" err="1"/>
              <a:t>Zaoxing</a:t>
            </a:r>
            <a:r>
              <a:rPr lang="en" sz="2100" dirty="0"/>
              <a:t> Liu</a:t>
            </a:r>
            <a:endParaRPr sz="2100" dirty="0"/>
          </a:p>
        </p:txBody>
      </p:sp>
      <p:pic>
        <p:nvPicPr>
          <p:cNvPr id="101" name="Google Shape;101;p25"/>
          <p:cNvPicPr preferRelativeResize="0"/>
          <p:nvPr/>
        </p:nvPicPr>
        <p:blipFill rotWithShape="1">
          <a:blip r:embed="rId3">
            <a:alphaModFix/>
          </a:blip>
          <a:srcRect/>
          <a:stretch/>
        </p:blipFill>
        <p:spPr>
          <a:xfrm>
            <a:off x="1924700" y="4057600"/>
            <a:ext cx="2030449" cy="451200"/>
          </a:xfrm>
          <a:prstGeom prst="rect">
            <a:avLst/>
          </a:prstGeom>
          <a:noFill/>
          <a:ln>
            <a:noFill/>
          </a:ln>
        </p:spPr>
      </p:pic>
      <p:pic>
        <p:nvPicPr>
          <p:cNvPr id="102" name="Google Shape;102;p25"/>
          <p:cNvPicPr preferRelativeResize="0"/>
          <p:nvPr/>
        </p:nvPicPr>
        <p:blipFill rotWithShape="1">
          <a:blip r:embed="rId4">
            <a:alphaModFix/>
          </a:blip>
          <a:srcRect/>
          <a:stretch/>
        </p:blipFill>
        <p:spPr>
          <a:xfrm>
            <a:off x="5522749" y="3750363"/>
            <a:ext cx="1598000" cy="1065674"/>
          </a:xfrm>
          <a:prstGeom prst="rect">
            <a:avLst/>
          </a:prstGeom>
          <a:noFill/>
          <a:ln>
            <a:noFill/>
          </a:ln>
        </p:spPr>
      </p:pic>
      <p:sp>
        <p:nvSpPr>
          <p:cNvPr id="103" name="Google Shape;103;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a:t>
            </a:fld>
            <a:endParaRPr/>
          </a:p>
        </p:txBody>
      </p:sp>
      <p:sp>
        <p:nvSpPr>
          <p:cNvPr id="2" name="TextBox 1">
            <a:extLst>
              <a:ext uri="{FF2B5EF4-FFF2-40B4-BE49-F238E27FC236}">
                <a16:creationId xmlns:a16="http://schemas.microsoft.com/office/drawing/2014/main" id="{1323B7D2-9173-10B5-09A0-F3552B1E37E3}"/>
              </a:ext>
            </a:extLst>
          </p:cNvPr>
          <p:cNvSpPr txBox="1"/>
          <p:nvPr/>
        </p:nvSpPr>
        <p:spPr>
          <a:xfrm>
            <a:off x="2098406" y="4835723"/>
            <a:ext cx="4947188" cy="307777"/>
          </a:xfrm>
          <a:prstGeom prst="rect">
            <a:avLst/>
          </a:prstGeom>
          <a:noFill/>
        </p:spPr>
        <p:txBody>
          <a:bodyPr wrap="none" rtlCol="0">
            <a:spAutoFit/>
          </a:bodyPr>
          <a:lstStyle/>
          <a:p>
            <a:r>
              <a:rPr lang="en-US" altLang="zh-CN" dirty="0"/>
              <a:t>Internet</a:t>
            </a:r>
            <a:r>
              <a:rPr lang="zh-CN" altLang="en-US" dirty="0"/>
              <a:t> </a:t>
            </a:r>
            <a:r>
              <a:rPr lang="en-US" altLang="zh-CN" dirty="0"/>
              <a:t>Measurement</a:t>
            </a:r>
            <a:r>
              <a:rPr lang="zh-CN" altLang="en-US" dirty="0"/>
              <a:t> </a:t>
            </a:r>
            <a:r>
              <a:rPr lang="en-US" altLang="zh-CN" dirty="0"/>
              <a:t>Conference</a:t>
            </a:r>
            <a:r>
              <a:rPr lang="zh-CN" altLang="en-US" dirty="0"/>
              <a:t> </a:t>
            </a:r>
            <a:r>
              <a:rPr lang="en-US" altLang="zh-CN" dirty="0"/>
              <a:t>(IMC)</a:t>
            </a:r>
            <a:r>
              <a:rPr lang="zh-CN" altLang="en-US" dirty="0"/>
              <a:t> </a:t>
            </a:r>
            <a:r>
              <a:rPr lang="en-US" altLang="zh-CN" dirty="0"/>
              <a:t>2025,</a:t>
            </a:r>
            <a:r>
              <a:rPr lang="zh-CN" altLang="en-US" dirty="0"/>
              <a:t> </a:t>
            </a:r>
            <a:r>
              <a:rPr lang="en-US" altLang="zh-CN" dirty="0"/>
              <a:t>Madison,</a:t>
            </a:r>
            <a:r>
              <a:rPr lang="zh-CN" altLang="en-US" dirty="0"/>
              <a:t> </a:t>
            </a:r>
            <a:r>
              <a:rPr lang="en-US" altLang="zh-CN" dirty="0"/>
              <a:t>WI</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Rea</a:t>
            </a:r>
            <a:r>
              <a:rPr lang="en-US" altLang="zh-CN" dirty="0"/>
              <a:t>l-</a:t>
            </a:r>
            <a:r>
              <a:rPr lang="en" dirty="0"/>
              <a:t>T</a:t>
            </a:r>
            <a:r>
              <a:rPr lang="en-US" altLang="zh-CN" dirty="0" err="1"/>
              <a:t>ime</a:t>
            </a:r>
            <a:r>
              <a:rPr lang="zh-CN" altLang="en-US" dirty="0"/>
              <a:t> </a:t>
            </a:r>
            <a:r>
              <a:rPr lang="en" dirty="0"/>
              <a:t>C</a:t>
            </a:r>
            <a:r>
              <a:rPr lang="en-US" altLang="zh-CN" dirty="0" err="1"/>
              <a:t>ommunication</a:t>
            </a:r>
            <a:r>
              <a:rPr lang="zh-CN" altLang="en-US" dirty="0"/>
              <a:t> </a:t>
            </a:r>
            <a:r>
              <a:rPr lang="en-US" altLang="zh-CN" dirty="0"/>
              <a:t>(RTC)</a:t>
            </a:r>
            <a:r>
              <a:rPr lang="en" dirty="0"/>
              <a:t> applications &amp; protocols</a:t>
            </a:r>
            <a:endParaRPr dirty="0"/>
          </a:p>
        </p:txBody>
      </p:sp>
      <p:pic>
        <p:nvPicPr>
          <p:cNvPr id="109" name="Google Shape;109;p26" descr="FluentUI Emoji Flat Iconpack | Microsoft"/>
          <p:cNvPicPr preferRelativeResize="0"/>
          <p:nvPr/>
        </p:nvPicPr>
        <p:blipFill rotWithShape="1">
          <a:blip r:embed="rId3">
            <a:alphaModFix/>
          </a:blip>
          <a:srcRect/>
          <a:stretch/>
        </p:blipFill>
        <p:spPr>
          <a:xfrm>
            <a:off x="2938388" y="880669"/>
            <a:ext cx="2454158" cy="2454158"/>
          </a:xfrm>
          <a:prstGeom prst="rect">
            <a:avLst/>
          </a:prstGeom>
          <a:noFill/>
          <a:ln>
            <a:noFill/>
          </a:ln>
        </p:spPr>
      </p:pic>
      <p:pic>
        <p:nvPicPr>
          <p:cNvPr id="110" name="Google Shape;110;p26" descr="Messenger Logo Icon 21495949 PNG"/>
          <p:cNvPicPr preferRelativeResize="0"/>
          <p:nvPr/>
        </p:nvPicPr>
        <p:blipFill rotWithShape="1">
          <a:blip r:embed="rId4">
            <a:alphaModFix/>
          </a:blip>
          <a:srcRect/>
          <a:stretch/>
        </p:blipFill>
        <p:spPr>
          <a:xfrm>
            <a:off x="3508943" y="3326594"/>
            <a:ext cx="741734" cy="745045"/>
          </a:xfrm>
          <a:prstGeom prst="rect">
            <a:avLst/>
          </a:prstGeom>
          <a:noFill/>
          <a:ln>
            <a:noFill/>
          </a:ln>
        </p:spPr>
      </p:pic>
      <p:pic>
        <p:nvPicPr>
          <p:cNvPr id="111" name="Google Shape;111;p26"/>
          <p:cNvPicPr preferRelativeResize="0"/>
          <p:nvPr/>
        </p:nvPicPr>
        <p:blipFill rotWithShape="1">
          <a:blip r:embed="rId5">
            <a:alphaModFix/>
          </a:blip>
          <a:srcRect/>
          <a:stretch/>
        </p:blipFill>
        <p:spPr>
          <a:xfrm>
            <a:off x="4178334" y="3422342"/>
            <a:ext cx="551086" cy="553547"/>
          </a:xfrm>
          <a:prstGeom prst="rect">
            <a:avLst/>
          </a:prstGeom>
          <a:noFill/>
          <a:ln>
            <a:noFill/>
          </a:ln>
        </p:spPr>
      </p:pic>
      <p:pic>
        <p:nvPicPr>
          <p:cNvPr id="112" name="Google Shape;112;p26"/>
          <p:cNvPicPr preferRelativeResize="0"/>
          <p:nvPr/>
        </p:nvPicPr>
        <p:blipFill rotWithShape="1">
          <a:blip r:embed="rId6">
            <a:alphaModFix/>
          </a:blip>
          <a:srcRect/>
          <a:stretch/>
        </p:blipFill>
        <p:spPr>
          <a:xfrm>
            <a:off x="4833893" y="3480080"/>
            <a:ext cx="438069" cy="438069"/>
          </a:xfrm>
          <a:prstGeom prst="rect">
            <a:avLst/>
          </a:prstGeom>
          <a:noFill/>
          <a:ln>
            <a:noFill/>
          </a:ln>
        </p:spPr>
      </p:pic>
      <p:pic>
        <p:nvPicPr>
          <p:cNvPr id="113" name="Google Shape;113;p26" descr="Discord logo, Discord icon, Discord ..."/>
          <p:cNvPicPr preferRelativeResize="0"/>
          <p:nvPr/>
        </p:nvPicPr>
        <p:blipFill rotWithShape="1">
          <a:blip r:embed="rId7">
            <a:alphaModFix/>
          </a:blip>
          <a:srcRect/>
          <a:stretch/>
        </p:blipFill>
        <p:spPr>
          <a:xfrm>
            <a:off x="2938388" y="3372171"/>
            <a:ext cx="680714" cy="680714"/>
          </a:xfrm>
          <a:prstGeom prst="rect">
            <a:avLst/>
          </a:prstGeom>
          <a:noFill/>
          <a:ln>
            <a:noFill/>
          </a:ln>
        </p:spPr>
      </p:pic>
      <p:pic>
        <p:nvPicPr>
          <p:cNvPr id="114" name="Google Shape;114;p26" descr="Google Meets - Flat - Wired - Lordicon"/>
          <p:cNvPicPr preferRelativeResize="0"/>
          <p:nvPr/>
        </p:nvPicPr>
        <p:blipFill rotWithShape="1">
          <a:blip r:embed="rId8">
            <a:alphaModFix/>
          </a:blip>
          <a:srcRect/>
          <a:stretch/>
        </p:blipFill>
        <p:spPr>
          <a:xfrm>
            <a:off x="3269934" y="3918149"/>
            <a:ext cx="570776" cy="570776"/>
          </a:xfrm>
          <a:prstGeom prst="rect">
            <a:avLst/>
          </a:prstGeom>
          <a:noFill/>
          <a:ln>
            <a:noFill/>
          </a:ln>
        </p:spPr>
      </p:pic>
      <p:pic>
        <p:nvPicPr>
          <p:cNvPr id="115" name="Google Shape;115;p26" descr="Zoom Logo and symbol, meaning, history, PNG"/>
          <p:cNvPicPr preferRelativeResize="0"/>
          <p:nvPr/>
        </p:nvPicPr>
        <p:blipFill rotWithShape="1">
          <a:blip r:embed="rId9">
            <a:alphaModFix/>
          </a:blip>
          <a:srcRect l="18712" r="22136"/>
          <a:stretch/>
        </p:blipFill>
        <p:spPr>
          <a:xfrm>
            <a:off x="4489686" y="3992837"/>
            <a:ext cx="490677" cy="466096"/>
          </a:xfrm>
          <a:prstGeom prst="rect">
            <a:avLst/>
          </a:prstGeom>
          <a:noFill/>
          <a:ln>
            <a:noFill/>
          </a:ln>
        </p:spPr>
      </p:pic>
      <p:sp>
        <p:nvSpPr>
          <p:cNvPr id="116" name="Google Shape;116;p26"/>
          <p:cNvSpPr txBox="1"/>
          <p:nvPr/>
        </p:nvSpPr>
        <p:spPr>
          <a:xfrm>
            <a:off x="3719637" y="1470063"/>
            <a:ext cx="1221809" cy="307777"/>
          </a:xfrm>
          <a:prstGeom prst="rect">
            <a:avLst/>
          </a:prstGeom>
          <a:solidFill>
            <a:schemeClr val="lt1">
              <a:alpha val="48235"/>
            </a:scheme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STUN/TURN</a:t>
            </a:r>
            <a:endParaRPr sz="1400" b="0" i="0" u="none" strike="noStrike" cap="none">
              <a:solidFill>
                <a:srgbClr val="000000"/>
              </a:solidFill>
              <a:latin typeface="Arial"/>
              <a:ea typeface="Arial"/>
              <a:cs typeface="Arial"/>
              <a:sym typeface="Arial"/>
            </a:endParaRPr>
          </a:p>
        </p:txBody>
      </p:sp>
      <p:sp>
        <p:nvSpPr>
          <p:cNvPr id="117" name="Google Shape;117;p26"/>
          <p:cNvSpPr txBox="1"/>
          <p:nvPr/>
        </p:nvSpPr>
        <p:spPr>
          <a:xfrm>
            <a:off x="4436624" y="2281961"/>
            <a:ext cx="543739" cy="307777"/>
          </a:xfrm>
          <a:prstGeom prst="rect">
            <a:avLst/>
          </a:prstGeom>
          <a:solidFill>
            <a:schemeClr val="lt1">
              <a:alpha val="48235"/>
            </a:scheme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RTP</a:t>
            </a:r>
            <a:endParaRPr sz="1400" b="0" i="0" u="none" strike="noStrike" cap="none">
              <a:solidFill>
                <a:srgbClr val="000000"/>
              </a:solidFill>
              <a:latin typeface="Arial"/>
              <a:ea typeface="Arial"/>
              <a:cs typeface="Arial"/>
              <a:sym typeface="Arial"/>
            </a:endParaRPr>
          </a:p>
        </p:txBody>
      </p:sp>
      <p:sp>
        <p:nvSpPr>
          <p:cNvPr id="118" name="Google Shape;118;p26"/>
          <p:cNvSpPr txBox="1"/>
          <p:nvPr/>
        </p:nvSpPr>
        <p:spPr>
          <a:xfrm>
            <a:off x="3763042" y="2386490"/>
            <a:ext cx="673582" cy="307777"/>
          </a:xfrm>
          <a:prstGeom prst="rect">
            <a:avLst/>
          </a:prstGeom>
          <a:solidFill>
            <a:schemeClr val="lt1">
              <a:alpha val="48235"/>
            </a:scheme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RTCP</a:t>
            </a:r>
            <a:endParaRPr sz="1400" b="0" i="0" u="none" strike="noStrike" cap="none">
              <a:solidFill>
                <a:srgbClr val="000000"/>
              </a:solidFill>
              <a:latin typeface="Arial"/>
              <a:ea typeface="Arial"/>
              <a:cs typeface="Arial"/>
              <a:sym typeface="Arial"/>
            </a:endParaRPr>
          </a:p>
        </p:txBody>
      </p:sp>
      <p:sp>
        <p:nvSpPr>
          <p:cNvPr id="119" name="Google Shape;119;p26"/>
          <p:cNvSpPr txBox="1"/>
          <p:nvPr/>
        </p:nvSpPr>
        <p:spPr>
          <a:xfrm>
            <a:off x="4509188" y="2791277"/>
            <a:ext cx="633507" cy="307777"/>
          </a:xfrm>
          <a:prstGeom prst="rect">
            <a:avLst/>
          </a:prstGeom>
          <a:solidFill>
            <a:schemeClr val="lt1">
              <a:alpha val="48235"/>
            </a:scheme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QUIC</a:t>
            </a:r>
            <a:endParaRPr sz="1400" b="0" i="0" u="none" strike="noStrike" cap="none">
              <a:solidFill>
                <a:srgbClr val="000000"/>
              </a:solidFill>
              <a:latin typeface="Arial"/>
              <a:ea typeface="Arial"/>
              <a:cs typeface="Arial"/>
              <a:sym typeface="Arial"/>
            </a:endParaRPr>
          </a:p>
        </p:txBody>
      </p:sp>
      <p:sp>
        <p:nvSpPr>
          <p:cNvPr id="120" name="Google Shape;120;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fade">
                                      <p:cBhvr>
                                        <p:cTn id="7" dur="500"/>
                                        <p:tgtEl>
                                          <p:spTgt spid="1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6"/>
                                        </p:tgtEl>
                                        <p:attrNameLst>
                                          <p:attrName>style.visibility</p:attrName>
                                        </p:attrNameLst>
                                      </p:cBhvr>
                                      <p:to>
                                        <p:strVal val="visible"/>
                                      </p:to>
                                    </p:set>
                                    <p:animEffect transition="in" filter="fade">
                                      <p:cBhvr>
                                        <p:cTn id="12" dur="500"/>
                                        <p:tgtEl>
                                          <p:spTgt spid="116"/>
                                        </p:tgtEl>
                                      </p:cBhvr>
                                    </p:animEffect>
                                  </p:childTnLst>
                                </p:cTn>
                              </p:par>
                              <p:par>
                                <p:cTn id="13" presetID="10" presetClass="entr" presetSubtype="0" fill="hold" nodeType="withEffect">
                                  <p:stCondLst>
                                    <p:cond delay="0"/>
                                  </p:stCondLst>
                                  <p:childTnLst>
                                    <p:set>
                                      <p:cBhvr>
                                        <p:cTn id="14" dur="1" fill="hold">
                                          <p:stCondLst>
                                            <p:cond delay="0"/>
                                          </p:stCondLst>
                                        </p:cTn>
                                        <p:tgtEl>
                                          <p:spTgt spid="118"/>
                                        </p:tgtEl>
                                        <p:attrNameLst>
                                          <p:attrName>style.visibility</p:attrName>
                                        </p:attrNameLst>
                                      </p:cBhvr>
                                      <p:to>
                                        <p:strVal val="visible"/>
                                      </p:to>
                                    </p:set>
                                    <p:animEffect transition="in" filter="fade">
                                      <p:cBhvr>
                                        <p:cTn id="15" dur="500"/>
                                        <p:tgtEl>
                                          <p:spTgt spid="118"/>
                                        </p:tgtEl>
                                      </p:cBhvr>
                                    </p:animEffect>
                                  </p:childTnLst>
                                </p:cTn>
                              </p:par>
                              <p:par>
                                <p:cTn id="16" presetID="10" presetClass="entr" presetSubtype="0" fill="hold" nodeType="withEffect">
                                  <p:stCondLst>
                                    <p:cond delay="0"/>
                                  </p:stCondLst>
                                  <p:childTnLst>
                                    <p:set>
                                      <p:cBhvr>
                                        <p:cTn id="17" dur="1" fill="hold">
                                          <p:stCondLst>
                                            <p:cond delay="0"/>
                                          </p:stCondLst>
                                        </p:cTn>
                                        <p:tgtEl>
                                          <p:spTgt spid="117"/>
                                        </p:tgtEl>
                                        <p:attrNameLst>
                                          <p:attrName>style.visibility</p:attrName>
                                        </p:attrNameLst>
                                      </p:cBhvr>
                                      <p:to>
                                        <p:strVal val="visible"/>
                                      </p:to>
                                    </p:set>
                                    <p:animEffect transition="in" filter="fade">
                                      <p:cBhvr>
                                        <p:cTn id="18" dur="500"/>
                                        <p:tgtEl>
                                          <p:spTgt spid="117"/>
                                        </p:tgtEl>
                                      </p:cBhvr>
                                    </p:animEffect>
                                  </p:childTnLst>
                                </p:cTn>
                              </p:par>
                              <p:par>
                                <p:cTn id="19" presetID="10" presetClass="entr" presetSubtype="0" fill="hold" nodeType="withEffect">
                                  <p:stCondLst>
                                    <p:cond delay="0"/>
                                  </p:stCondLst>
                                  <p:childTnLst>
                                    <p:set>
                                      <p:cBhvr>
                                        <p:cTn id="20" dur="1" fill="hold">
                                          <p:stCondLst>
                                            <p:cond delay="0"/>
                                          </p:stCondLst>
                                        </p:cTn>
                                        <p:tgtEl>
                                          <p:spTgt spid="119"/>
                                        </p:tgtEl>
                                        <p:attrNameLst>
                                          <p:attrName>style.visibility</p:attrName>
                                        </p:attrNameLst>
                                      </p:cBhvr>
                                      <p:to>
                                        <p:strVal val="visible"/>
                                      </p:to>
                                    </p:set>
                                    <p:animEffect transition="in" filter="fade">
                                      <p:cBhvr>
                                        <p:cTn id="21"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latin typeface="Arial"/>
                <a:ea typeface="Arial"/>
                <a:cs typeface="Arial"/>
                <a:sym typeface="Arial"/>
              </a:rPr>
              <a:t>RTC protocol stack</a:t>
            </a:r>
            <a:endParaRPr>
              <a:latin typeface="Arial"/>
              <a:ea typeface="Arial"/>
              <a:cs typeface="Arial"/>
              <a:sym typeface="Arial"/>
            </a:endParaRPr>
          </a:p>
        </p:txBody>
      </p:sp>
      <p:sp>
        <p:nvSpPr>
          <p:cNvPr id="159" name="Google Shape;159;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latin typeface="Arial"/>
                <a:ea typeface="Arial"/>
                <a:cs typeface="Arial"/>
                <a:sym typeface="Arial"/>
              </a:rPr>
              <a:t>3</a:t>
            </a:fld>
            <a:endParaRPr>
              <a:latin typeface="Arial"/>
              <a:ea typeface="Arial"/>
              <a:cs typeface="Arial"/>
              <a:sym typeface="Arial"/>
            </a:endParaRPr>
          </a:p>
        </p:txBody>
      </p:sp>
      <p:sp>
        <p:nvSpPr>
          <p:cNvPr id="160" name="Google Shape;160;p28"/>
          <p:cNvSpPr txBox="1"/>
          <p:nvPr/>
        </p:nvSpPr>
        <p:spPr>
          <a:xfrm>
            <a:off x="942655" y="4114192"/>
            <a:ext cx="1221809" cy="307777"/>
          </a:xfrm>
          <a:prstGeom prst="rect">
            <a:avLst/>
          </a:prstGeom>
          <a:solidFill>
            <a:schemeClr val="lt1">
              <a:alpha val="48235"/>
            </a:scheme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STUN/TURN</a:t>
            </a:r>
            <a:endParaRPr sz="1400" b="1" i="0" u="none" strike="noStrike" cap="none">
              <a:solidFill>
                <a:srgbClr val="000000"/>
              </a:solidFill>
              <a:latin typeface="Arial"/>
              <a:ea typeface="Arial"/>
              <a:cs typeface="Arial"/>
              <a:sym typeface="Arial"/>
            </a:endParaRPr>
          </a:p>
        </p:txBody>
      </p:sp>
      <p:pic>
        <p:nvPicPr>
          <p:cNvPr id="161" name="Google Shape;161;p28" descr="Iphone Generic outline icon | Freepik"/>
          <p:cNvPicPr preferRelativeResize="0"/>
          <p:nvPr/>
        </p:nvPicPr>
        <p:blipFill rotWithShape="1">
          <a:blip r:embed="rId3">
            <a:alphaModFix/>
          </a:blip>
          <a:srcRect/>
          <a:stretch/>
        </p:blipFill>
        <p:spPr>
          <a:xfrm>
            <a:off x="2204608" y="2362636"/>
            <a:ext cx="539848" cy="539848"/>
          </a:xfrm>
          <a:prstGeom prst="rect">
            <a:avLst/>
          </a:prstGeom>
          <a:noFill/>
          <a:ln>
            <a:noFill/>
          </a:ln>
        </p:spPr>
      </p:pic>
      <p:pic>
        <p:nvPicPr>
          <p:cNvPr id="162" name="Google Shape;162;p28" descr="Iphone Generic outline icon | Freepik"/>
          <p:cNvPicPr preferRelativeResize="0"/>
          <p:nvPr/>
        </p:nvPicPr>
        <p:blipFill rotWithShape="1">
          <a:blip r:embed="rId3">
            <a:alphaModFix/>
          </a:blip>
          <a:srcRect/>
          <a:stretch/>
        </p:blipFill>
        <p:spPr>
          <a:xfrm>
            <a:off x="6479834" y="2362636"/>
            <a:ext cx="539848" cy="539848"/>
          </a:xfrm>
          <a:prstGeom prst="rect">
            <a:avLst/>
          </a:prstGeom>
          <a:noFill/>
          <a:ln>
            <a:noFill/>
          </a:ln>
        </p:spPr>
      </p:pic>
      <p:cxnSp>
        <p:nvCxnSpPr>
          <p:cNvPr id="163" name="Google Shape;163;p28"/>
          <p:cNvCxnSpPr>
            <a:stCxn id="161" idx="3"/>
            <a:endCxn id="162" idx="1"/>
          </p:cNvCxnSpPr>
          <p:nvPr/>
        </p:nvCxnSpPr>
        <p:spPr>
          <a:xfrm>
            <a:off x="2744456" y="2632560"/>
            <a:ext cx="3735300" cy="0"/>
          </a:xfrm>
          <a:prstGeom prst="straightConnector1">
            <a:avLst/>
          </a:prstGeom>
          <a:noFill/>
          <a:ln w="9525" cap="flat" cmpd="sng">
            <a:solidFill>
              <a:srgbClr val="3B7FF2"/>
            </a:solidFill>
            <a:prstDash val="solid"/>
            <a:round/>
            <a:headEnd type="triangle" w="med" len="med"/>
            <a:tailEnd type="triangle" w="med" len="med"/>
          </a:ln>
        </p:spPr>
      </p:cxnSp>
      <p:sp>
        <p:nvSpPr>
          <p:cNvPr id="164" name="Google Shape;164;p28"/>
          <p:cNvSpPr txBox="1"/>
          <p:nvPr/>
        </p:nvSpPr>
        <p:spPr>
          <a:xfrm>
            <a:off x="2057932" y="2933930"/>
            <a:ext cx="81304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Client A</a:t>
            </a:r>
            <a:endParaRPr sz="1400" b="0" i="0" u="none" strike="noStrike" cap="none">
              <a:solidFill>
                <a:srgbClr val="000000"/>
              </a:solidFill>
              <a:latin typeface="Arial"/>
              <a:ea typeface="Arial"/>
              <a:cs typeface="Arial"/>
              <a:sym typeface="Arial"/>
            </a:endParaRPr>
          </a:p>
        </p:txBody>
      </p:sp>
      <p:sp>
        <p:nvSpPr>
          <p:cNvPr id="165" name="Google Shape;165;p28"/>
          <p:cNvSpPr txBox="1"/>
          <p:nvPr/>
        </p:nvSpPr>
        <p:spPr>
          <a:xfrm>
            <a:off x="6343236" y="2933930"/>
            <a:ext cx="81304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Client B</a:t>
            </a:r>
            <a:endParaRPr sz="1400" b="0" i="0" u="none" strike="noStrike" cap="none">
              <a:solidFill>
                <a:srgbClr val="000000"/>
              </a:solidFill>
              <a:latin typeface="Arial"/>
              <a:ea typeface="Arial"/>
              <a:cs typeface="Arial"/>
              <a:sym typeface="Arial"/>
            </a:endParaRPr>
          </a:p>
        </p:txBody>
      </p:sp>
      <p:sp>
        <p:nvSpPr>
          <p:cNvPr id="166" name="Google Shape;166;p28"/>
          <p:cNvSpPr txBox="1"/>
          <p:nvPr/>
        </p:nvSpPr>
        <p:spPr>
          <a:xfrm>
            <a:off x="806558" y="4421969"/>
            <a:ext cx="161775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Set up connection</a:t>
            </a:r>
            <a:endParaRPr sz="1400" b="0" i="0" u="none" strike="noStrike" cap="none">
              <a:solidFill>
                <a:srgbClr val="000000"/>
              </a:solidFill>
              <a:latin typeface="Arial"/>
              <a:ea typeface="Arial"/>
              <a:cs typeface="Arial"/>
              <a:sym typeface="Arial"/>
            </a:endParaRPr>
          </a:p>
        </p:txBody>
      </p:sp>
      <p:sp>
        <p:nvSpPr>
          <p:cNvPr id="167" name="Google Shape;167;p28"/>
          <p:cNvSpPr txBox="1"/>
          <p:nvPr/>
        </p:nvSpPr>
        <p:spPr>
          <a:xfrm>
            <a:off x="3851896" y="4114232"/>
            <a:ext cx="1440207" cy="307736"/>
          </a:xfrm>
          <a:prstGeom prst="rect">
            <a:avLst/>
          </a:prstGeom>
          <a:solidFill>
            <a:schemeClr val="lt1">
              <a:alpha val="48235"/>
            </a:scheme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RTP or QUIC</a:t>
            </a:r>
            <a:endParaRPr sz="1400" b="1" i="0" u="none" strike="noStrike" cap="none">
              <a:solidFill>
                <a:srgbClr val="000000"/>
              </a:solidFill>
              <a:latin typeface="Arial"/>
              <a:ea typeface="Arial"/>
              <a:cs typeface="Arial"/>
              <a:sym typeface="Arial"/>
            </a:endParaRPr>
          </a:p>
        </p:txBody>
      </p:sp>
      <p:sp>
        <p:nvSpPr>
          <p:cNvPr id="168" name="Google Shape;168;p28"/>
          <p:cNvSpPr txBox="1"/>
          <p:nvPr/>
        </p:nvSpPr>
        <p:spPr>
          <a:xfrm>
            <a:off x="3311709" y="4421968"/>
            <a:ext cx="239360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Media packets transmission</a:t>
            </a:r>
            <a:endParaRPr sz="1400" b="0" i="0" u="none" strike="noStrike" cap="none">
              <a:solidFill>
                <a:srgbClr val="000000"/>
              </a:solidFill>
              <a:latin typeface="Arial"/>
              <a:ea typeface="Arial"/>
              <a:cs typeface="Arial"/>
              <a:sym typeface="Arial"/>
            </a:endParaRPr>
          </a:p>
        </p:txBody>
      </p:sp>
      <p:sp>
        <p:nvSpPr>
          <p:cNvPr id="169" name="Google Shape;169;p28"/>
          <p:cNvSpPr txBox="1"/>
          <p:nvPr/>
        </p:nvSpPr>
        <p:spPr>
          <a:xfrm>
            <a:off x="7068908" y="4108237"/>
            <a:ext cx="683725" cy="307777"/>
          </a:xfrm>
          <a:prstGeom prst="rect">
            <a:avLst/>
          </a:prstGeom>
          <a:solidFill>
            <a:schemeClr val="lt1">
              <a:alpha val="48235"/>
            </a:scheme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RTCP</a:t>
            </a:r>
            <a:endParaRPr sz="1400" b="1" i="0" u="none" strike="noStrike" cap="none">
              <a:solidFill>
                <a:srgbClr val="000000"/>
              </a:solidFill>
              <a:latin typeface="Arial"/>
              <a:ea typeface="Arial"/>
              <a:cs typeface="Arial"/>
              <a:sym typeface="Arial"/>
            </a:endParaRPr>
          </a:p>
        </p:txBody>
      </p:sp>
      <p:sp>
        <p:nvSpPr>
          <p:cNvPr id="170" name="Google Shape;170;p28"/>
          <p:cNvSpPr txBox="1"/>
          <p:nvPr/>
        </p:nvSpPr>
        <p:spPr>
          <a:xfrm>
            <a:off x="6179503" y="4421968"/>
            <a:ext cx="246093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Monitor performance metrics</a:t>
            </a:r>
            <a:endParaRPr sz="1400" b="0" i="0" u="none" strike="noStrike" cap="none">
              <a:solidFill>
                <a:srgbClr val="000000"/>
              </a:solidFill>
              <a:latin typeface="Arial"/>
              <a:ea typeface="Arial"/>
              <a:cs typeface="Arial"/>
              <a:sym typeface="Arial"/>
            </a:endParaRPr>
          </a:p>
        </p:txBody>
      </p:sp>
      <p:sp>
        <p:nvSpPr>
          <p:cNvPr id="171" name="Google Shape;171;p28"/>
          <p:cNvSpPr/>
          <p:nvPr/>
        </p:nvSpPr>
        <p:spPr>
          <a:xfrm>
            <a:off x="2830271" y="2281932"/>
            <a:ext cx="229008" cy="229008"/>
          </a:xfrm>
          <a:prstGeom prst="cube">
            <a:avLst>
              <a:gd name="adj" fmla="val 25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2" name="Google Shape;172;p28"/>
          <p:cNvSpPr/>
          <p:nvPr/>
        </p:nvSpPr>
        <p:spPr>
          <a:xfrm>
            <a:off x="6228732" y="2704922"/>
            <a:ext cx="229008" cy="229008"/>
          </a:xfrm>
          <a:prstGeom prst="cube">
            <a:avLst>
              <a:gd name="adj" fmla="val 25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3" name="Google Shape;173;p28"/>
          <p:cNvSpPr txBox="1"/>
          <p:nvPr/>
        </p:nvSpPr>
        <p:spPr>
          <a:xfrm>
            <a:off x="1202341" y="3800460"/>
            <a:ext cx="70243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Step 1</a:t>
            </a:r>
            <a:endParaRPr sz="1400" b="0" i="0" u="none" strike="noStrike" cap="none">
              <a:solidFill>
                <a:srgbClr val="000000"/>
              </a:solidFill>
              <a:latin typeface="Arial"/>
              <a:ea typeface="Arial"/>
              <a:cs typeface="Arial"/>
              <a:sym typeface="Arial"/>
            </a:endParaRPr>
          </a:p>
        </p:txBody>
      </p:sp>
      <p:sp>
        <p:nvSpPr>
          <p:cNvPr id="174" name="Google Shape;174;p28"/>
          <p:cNvSpPr txBox="1"/>
          <p:nvPr/>
        </p:nvSpPr>
        <p:spPr>
          <a:xfrm>
            <a:off x="4220781" y="3797097"/>
            <a:ext cx="70243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Step 2</a:t>
            </a:r>
            <a:endParaRPr sz="1400" b="0" i="0" u="none" strike="noStrike" cap="none">
              <a:solidFill>
                <a:srgbClr val="000000"/>
              </a:solidFill>
              <a:latin typeface="Arial"/>
              <a:ea typeface="Arial"/>
              <a:cs typeface="Arial"/>
              <a:sym typeface="Arial"/>
            </a:endParaRPr>
          </a:p>
        </p:txBody>
      </p:sp>
      <p:sp>
        <p:nvSpPr>
          <p:cNvPr id="175" name="Google Shape;175;p28"/>
          <p:cNvSpPr txBox="1"/>
          <p:nvPr/>
        </p:nvSpPr>
        <p:spPr>
          <a:xfrm>
            <a:off x="6890435" y="3809924"/>
            <a:ext cx="104067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Meanwhile</a:t>
            </a:r>
            <a:endParaRPr sz="1400" b="0" i="0" u="none" strike="noStrike" cap="none">
              <a:solidFill>
                <a:srgbClr val="000000"/>
              </a:solidFill>
              <a:latin typeface="Arial"/>
              <a:ea typeface="Arial"/>
              <a:cs typeface="Arial"/>
              <a:sym typeface="Arial"/>
            </a:endParaRPr>
          </a:p>
        </p:txBody>
      </p:sp>
      <p:pic>
        <p:nvPicPr>
          <p:cNvPr id="176" name="Google Shape;176;p28" descr="丢包率图标免费下载-图标0NeWgekae-新图网"/>
          <p:cNvPicPr preferRelativeResize="0"/>
          <p:nvPr/>
        </p:nvPicPr>
        <p:blipFill rotWithShape="1">
          <a:blip r:embed="rId4">
            <a:alphaModFix/>
          </a:blip>
          <a:srcRect/>
          <a:stretch/>
        </p:blipFill>
        <p:spPr>
          <a:xfrm>
            <a:off x="6343236" y="727668"/>
            <a:ext cx="512715" cy="505909"/>
          </a:xfrm>
          <a:prstGeom prst="rect">
            <a:avLst/>
          </a:prstGeom>
          <a:noFill/>
          <a:ln>
            <a:noFill/>
          </a:ln>
        </p:spPr>
      </p:pic>
      <p:pic>
        <p:nvPicPr>
          <p:cNvPr id="177" name="Google Shape;177;p28" descr="Time travel - Free time and date icons"/>
          <p:cNvPicPr preferRelativeResize="0"/>
          <p:nvPr/>
        </p:nvPicPr>
        <p:blipFill rotWithShape="1">
          <a:blip r:embed="rId5">
            <a:alphaModFix/>
          </a:blip>
          <a:srcRect/>
          <a:stretch/>
        </p:blipFill>
        <p:spPr>
          <a:xfrm>
            <a:off x="4894822" y="703604"/>
            <a:ext cx="539848" cy="539848"/>
          </a:xfrm>
          <a:prstGeom prst="rect">
            <a:avLst/>
          </a:prstGeom>
          <a:noFill/>
          <a:ln>
            <a:noFill/>
          </a:ln>
        </p:spPr>
      </p:pic>
      <p:pic>
        <p:nvPicPr>
          <p:cNvPr id="178" name="Google Shape;178;p28" descr="Jitter Icons - Free SVG &amp; PNG Jitter ..."/>
          <p:cNvPicPr preferRelativeResize="0"/>
          <p:nvPr/>
        </p:nvPicPr>
        <p:blipFill rotWithShape="1">
          <a:blip r:embed="rId6">
            <a:alphaModFix/>
          </a:blip>
          <a:srcRect/>
          <a:stretch/>
        </p:blipFill>
        <p:spPr>
          <a:xfrm>
            <a:off x="7822986" y="619460"/>
            <a:ext cx="722323" cy="722323"/>
          </a:xfrm>
          <a:prstGeom prst="rect">
            <a:avLst/>
          </a:prstGeom>
          <a:noFill/>
          <a:ln>
            <a:noFill/>
          </a:ln>
        </p:spPr>
      </p:pic>
      <p:sp>
        <p:nvSpPr>
          <p:cNvPr id="179" name="Google Shape;179;p28"/>
          <p:cNvSpPr txBox="1"/>
          <p:nvPr/>
        </p:nvSpPr>
        <p:spPr>
          <a:xfrm>
            <a:off x="4485138" y="1286303"/>
            <a:ext cx="139814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Round trip time</a:t>
            </a:r>
            <a:endParaRPr sz="1400" b="0" i="0" u="none" strike="noStrike" cap="none">
              <a:solidFill>
                <a:srgbClr val="000000"/>
              </a:solidFill>
              <a:latin typeface="Arial"/>
              <a:ea typeface="Arial"/>
              <a:cs typeface="Arial"/>
              <a:sym typeface="Arial"/>
            </a:endParaRPr>
          </a:p>
        </p:txBody>
      </p:sp>
      <p:sp>
        <p:nvSpPr>
          <p:cNvPr id="180" name="Google Shape;180;p28"/>
          <p:cNvSpPr txBox="1"/>
          <p:nvPr/>
        </p:nvSpPr>
        <p:spPr>
          <a:xfrm>
            <a:off x="6048801" y="1286303"/>
            <a:ext cx="110158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Packet loss</a:t>
            </a:r>
            <a:endParaRPr sz="1400" b="0" i="0" u="none" strike="noStrike" cap="none">
              <a:solidFill>
                <a:srgbClr val="000000"/>
              </a:solidFill>
              <a:latin typeface="Arial"/>
              <a:ea typeface="Arial"/>
              <a:cs typeface="Arial"/>
              <a:sym typeface="Arial"/>
            </a:endParaRPr>
          </a:p>
        </p:txBody>
      </p:sp>
      <p:sp>
        <p:nvSpPr>
          <p:cNvPr id="181" name="Google Shape;181;p28"/>
          <p:cNvSpPr txBox="1"/>
          <p:nvPr/>
        </p:nvSpPr>
        <p:spPr>
          <a:xfrm>
            <a:off x="7569235" y="1245985"/>
            <a:ext cx="122982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Network jitter</a:t>
            </a:r>
            <a:endParaRPr sz="1400" b="0" i="0" u="none" strike="noStrike" cap="none">
              <a:solidFill>
                <a:srgbClr val="000000"/>
              </a:solidFill>
              <a:latin typeface="Arial"/>
              <a:ea typeface="Arial"/>
              <a:cs typeface="Arial"/>
              <a:sym typeface="Arial"/>
            </a:endParaRPr>
          </a:p>
        </p:txBody>
      </p:sp>
      <p:pic>
        <p:nvPicPr>
          <p:cNvPr id="182" name="Google Shape;182;p28" descr="放大镜 应用 Purple Icons – Free Download SVG, PNG, GIF"/>
          <p:cNvPicPr preferRelativeResize="0"/>
          <p:nvPr/>
        </p:nvPicPr>
        <p:blipFill rotWithShape="1">
          <a:blip r:embed="rId7">
            <a:alphaModFix/>
          </a:blip>
          <a:srcRect/>
          <a:stretch/>
        </p:blipFill>
        <p:spPr>
          <a:xfrm>
            <a:off x="3813921" y="1694096"/>
            <a:ext cx="547804" cy="523064"/>
          </a:xfrm>
          <a:prstGeom prst="rect">
            <a:avLst/>
          </a:prstGeom>
          <a:noFill/>
          <a:ln>
            <a:noFill/>
          </a:ln>
        </p:spPr>
      </p:pic>
      <p:sp>
        <p:nvSpPr>
          <p:cNvPr id="183" name="Google Shape;183;p28"/>
          <p:cNvSpPr/>
          <p:nvPr/>
        </p:nvSpPr>
        <p:spPr>
          <a:xfrm>
            <a:off x="4304714" y="558018"/>
            <a:ext cx="4576689" cy="1136078"/>
          </a:xfrm>
          <a:prstGeom prst="wedgeRoundRectCallout">
            <a:avLst>
              <a:gd name="adj1" fmla="val -47267"/>
              <a:gd name="adj2" fmla="val 70755"/>
              <a:gd name="adj3" fmla="val 16667"/>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fade">
                                      <p:cBhvr>
                                        <p:cTn id="7" dur="2000"/>
                                        <p:tgtEl>
                                          <p:spTgt spid="163"/>
                                        </p:tgtEl>
                                      </p:cBhvr>
                                    </p:animEffect>
                                  </p:childTnLst>
                                </p:cTn>
                              </p:par>
                              <p:par>
                                <p:cTn id="8" presetID="10" presetClass="entr" presetSubtype="0" fill="hold" nodeType="with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fade">
                                      <p:cBhvr>
                                        <p:cTn id="10" dur="500"/>
                                        <p:tgtEl>
                                          <p:spTgt spid="173"/>
                                        </p:tgtEl>
                                      </p:cBhvr>
                                    </p:animEffect>
                                  </p:childTnLst>
                                </p:cTn>
                              </p:par>
                              <p:par>
                                <p:cTn id="11" presetID="10" presetClass="entr" presetSubtype="0" fill="hold" nodeType="withEffect">
                                  <p:stCondLst>
                                    <p:cond delay="0"/>
                                  </p:stCondLst>
                                  <p:childTnLst>
                                    <p:set>
                                      <p:cBhvr>
                                        <p:cTn id="12" dur="1" fill="hold">
                                          <p:stCondLst>
                                            <p:cond delay="0"/>
                                          </p:stCondLst>
                                        </p:cTn>
                                        <p:tgtEl>
                                          <p:spTgt spid="166"/>
                                        </p:tgtEl>
                                        <p:attrNameLst>
                                          <p:attrName>style.visibility</p:attrName>
                                        </p:attrNameLst>
                                      </p:cBhvr>
                                      <p:to>
                                        <p:strVal val="visible"/>
                                      </p:to>
                                    </p:set>
                                    <p:animEffect transition="in" filter="fade">
                                      <p:cBhvr>
                                        <p:cTn id="13" dur="500"/>
                                        <p:tgtEl>
                                          <p:spTgt spid="166"/>
                                        </p:tgtEl>
                                      </p:cBhvr>
                                    </p:animEffect>
                                  </p:childTnLst>
                                </p:cTn>
                              </p:par>
                              <p:par>
                                <p:cTn id="14" presetID="10" presetClass="entr" presetSubtype="0" fill="hold" nodeType="withEffect">
                                  <p:stCondLst>
                                    <p:cond delay="0"/>
                                  </p:stCondLst>
                                  <p:childTnLst>
                                    <p:set>
                                      <p:cBhvr>
                                        <p:cTn id="15" dur="1" fill="hold">
                                          <p:stCondLst>
                                            <p:cond delay="0"/>
                                          </p:stCondLst>
                                        </p:cTn>
                                        <p:tgtEl>
                                          <p:spTgt spid="160"/>
                                        </p:tgtEl>
                                        <p:attrNameLst>
                                          <p:attrName>style.visibility</p:attrName>
                                        </p:attrNameLst>
                                      </p:cBhvr>
                                      <p:to>
                                        <p:strVal val="visible"/>
                                      </p:to>
                                    </p:set>
                                    <p:animEffect transition="in" filter="fade">
                                      <p:cBhvr>
                                        <p:cTn id="16" dur="500"/>
                                        <p:tgtEl>
                                          <p:spTgt spid="16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7"/>
                                        </p:tgtEl>
                                        <p:attrNameLst>
                                          <p:attrName>style.visibility</p:attrName>
                                        </p:attrNameLst>
                                      </p:cBhvr>
                                      <p:to>
                                        <p:strVal val="visible"/>
                                      </p:to>
                                    </p:set>
                                    <p:animEffect transition="in" filter="fade">
                                      <p:cBhvr>
                                        <p:cTn id="21" dur="500"/>
                                        <p:tgtEl>
                                          <p:spTgt spid="167"/>
                                        </p:tgtEl>
                                      </p:cBhvr>
                                    </p:animEffect>
                                  </p:childTnLst>
                                </p:cTn>
                              </p:par>
                              <p:par>
                                <p:cTn id="22" presetID="10" presetClass="entr" presetSubtype="0" fill="hold" nodeType="withEffect">
                                  <p:stCondLst>
                                    <p:cond delay="0"/>
                                  </p:stCondLst>
                                  <p:childTnLst>
                                    <p:set>
                                      <p:cBhvr>
                                        <p:cTn id="23" dur="1" fill="hold">
                                          <p:stCondLst>
                                            <p:cond delay="0"/>
                                          </p:stCondLst>
                                        </p:cTn>
                                        <p:tgtEl>
                                          <p:spTgt spid="168"/>
                                        </p:tgtEl>
                                        <p:attrNameLst>
                                          <p:attrName>style.visibility</p:attrName>
                                        </p:attrNameLst>
                                      </p:cBhvr>
                                      <p:to>
                                        <p:strVal val="visible"/>
                                      </p:to>
                                    </p:set>
                                    <p:animEffect transition="in" filter="fade">
                                      <p:cBhvr>
                                        <p:cTn id="24" dur="500"/>
                                        <p:tgtEl>
                                          <p:spTgt spid="168"/>
                                        </p:tgtEl>
                                      </p:cBhvr>
                                    </p:animEffect>
                                  </p:childTnLst>
                                </p:cTn>
                              </p:par>
                              <p:par>
                                <p:cTn id="25" presetID="10" presetClass="entr" presetSubtype="0" fill="hold" nodeType="withEffect">
                                  <p:stCondLst>
                                    <p:cond delay="0"/>
                                  </p:stCondLst>
                                  <p:childTnLst>
                                    <p:set>
                                      <p:cBhvr>
                                        <p:cTn id="26" dur="1" fill="hold">
                                          <p:stCondLst>
                                            <p:cond delay="0"/>
                                          </p:stCondLst>
                                        </p:cTn>
                                        <p:tgtEl>
                                          <p:spTgt spid="174"/>
                                        </p:tgtEl>
                                        <p:attrNameLst>
                                          <p:attrName>style.visibility</p:attrName>
                                        </p:attrNameLst>
                                      </p:cBhvr>
                                      <p:to>
                                        <p:strVal val="visible"/>
                                      </p:to>
                                    </p:set>
                                    <p:animEffect transition="in" filter="fade">
                                      <p:cBhvr>
                                        <p:cTn id="27" dur="500"/>
                                        <p:tgtEl>
                                          <p:spTgt spid="17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1"/>
                                        </p:tgtEl>
                                        <p:attrNameLst>
                                          <p:attrName>style.visibility</p:attrName>
                                        </p:attrNameLst>
                                      </p:cBhvr>
                                      <p:to>
                                        <p:strVal val="visible"/>
                                      </p:to>
                                    </p:set>
                                    <p:animEffect transition="in" filter="fade">
                                      <p:cBhvr>
                                        <p:cTn id="32" dur="500"/>
                                        <p:tgtEl>
                                          <p:spTgt spid="17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2"/>
                                        </p:tgtEl>
                                        <p:attrNameLst>
                                          <p:attrName>style.visibility</p:attrName>
                                        </p:attrNameLst>
                                      </p:cBhvr>
                                      <p:to>
                                        <p:strVal val="visible"/>
                                      </p:to>
                                    </p:set>
                                    <p:animEffect transition="in" filter="fade">
                                      <p:cBhvr>
                                        <p:cTn id="37" dur="500"/>
                                        <p:tgtEl>
                                          <p:spTgt spid="172"/>
                                        </p:tgtEl>
                                      </p:cBhvr>
                                    </p:animEffect>
                                  </p:childTnLst>
                                </p:cTn>
                              </p:par>
                            </p:childTnLst>
                          </p:cTn>
                        </p:par>
                      </p:childTnLst>
                    </p:cTn>
                  </p:par>
                  <p:par>
                    <p:cTn id="38" fill="hold">
                      <p:stCondLst>
                        <p:cond delay="indefinite"/>
                      </p:stCondLst>
                      <p:childTnLst>
                        <p:par>
                          <p:cTn id="39" fill="hold">
                            <p:stCondLst>
                              <p:cond delay="0"/>
                            </p:stCondLst>
                            <p:childTnLst>
                              <p:par>
                                <p:cTn id="40" presetID="0" presetClass="path" presetSubtype="0" accel="50000" decel="50000" fill="hold" grpId="0" nodeType="clickEffect">
                                  <p:stCondLst>
                                    <p:cond delay="0"/>
                                  </p:stCondLst>
                                  <p:childTnLst>
                                    <p:animMotion origin="layout" path="M 0 0 L 0.37135 0 " pathEditMode="relative" ptsTypes="AA">
                                      <p:cBhvr>
                                        <p:cTn id="41" dur="2000" fill="hold"/>
                                        <p:tgtEl>
                                          <p:spTgt spid="171"/>
                                        </p:tgtEl>
                                        <p:attrNameLst>
                                          <p:attrName>ppt_x</p:attrName>
                                          <p:attrName>ppt_y</p:attrName>
                                        </p:attrNameLst>
                                      </p:cBhvr>
                                    </p:animMotion>
                                  </p:childTnLst>
                                </p:cTn>
                              </p:par>
                            </p:childTnLst>
                          </p:cTn>
                        </p:par>
                      </p:childTnLst>
                    </p:cTn>
                  </p:par>
                  <p:par>
                    <p:cTn id="42" fill="hold">
                      <p:stCondLst>
                        <p:cond delay="indefinite"/>
                      </p:stCondLst>
                      <p:childTnLst>
                        <p:par>
                          <p:cTn id="43" fill="hold">
                            <p:stCondLst>
                              <p:cond delay="0"/>
                            </p:stCondLst>
                            <p:childTnLst>
                              <p:par>
                                <p:cTn id="44" presetID="0" presetClass="path" presetSubtype="0" accel="50000" decel="50000" fill="hold" grpId="0" nodeType="clickEffect">
                                  <p:stCondLst>
                                    <p:cond delay="0"/>
                                  </p:stCondLst>
                                  <p:childTnLst>
                                    <p:animMotion origin="layout" path="M 0 0 L -0.37344 0 " pathEditMode="relative" ptsTypes="AA">
                                      <p:cBhvr>
                                        <p:cTn id="45" dur="2000" fill="hold"/>
                                        <p:tgtEl>
                                          <p:spTgt spid="172"/>
                                        </p:tgtEl>
                                        <p:attrNameLst>
                                          <p:attrName>ppt_x</p:attrName>
                                          <p:attrName>ppt_y</p:attrName>
                                        </p:attrNameLst>
                                      </p:cBhvr>
                                    </p:animMotion>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69"/>
                                        </p:tgtEl>
                                        <p:attrNameLst>
                                          <p:attrName>style.visibility</p:attrName>
                                        </p:attrNameLst>
                                      </p:cBhvr>
                                      <p:to>
                                        <p:strVal val="visible"/>
                                      </p:to>
                                    </p:set>
                                    <p:animEffect transition="in" filter="fade">
                                      <p:cBhvr>
                                        <p:cTn id="50" dur="500"/>
                                        <p:tgtEl>
                                          <p:spTgt spid="169"/>
                                        </p:tgtEl>
                                      </p:cBhvr>
                                    </p:animEffect>
                                  </p:childTnLst>
                                </p:cTn>
                              </p:par>
                              <p:par>
                                <p:cTn id="51" presetID="10" presetClass="entr" presetSubtype="0" fill="hold" nodeType="withEffect">
                                  <p:stCondLst>
                                    <p:cond delay="0"/>
                                  </p:stCondLst>
                                  <p:childTnLst>
                                    <p:set>
                                      <p:cBhvr>
                                        <p:cTn id="52" dur="1" fill="hold">
                                          <p:stCondLst>
                                            <p:cond delay="0"/>
                                          </p:stCondLst>
                                        </p:cTn>
                                        <p:tgtEl>
                                          <p:spTgt spid="170"/>
                                        </p:tgtEl>
                                        <p:attrNameLst>
                                          <p:attrName>style.visibility</p:attrName>
                                        </p:attrNameLst>
                                      </p:cBhvr>
                                      <p:to>
                                        <p:strVal val="visible"/>
                                      </p:to>
                                    </p:set>
                                    <p:animEffect transition="in" filter="fade">
                                      <p:cBhvr>
                                        <p:cTn id="53" dur="500"/>
                                        <p:tgtEl>
                                          <p:spTgt spid="170"/>
                                        </p:tgtEl>
                                      </p:cBhvr>
                                    </p:animEffect>
                                  </p:childTnLst>
                                </p:cTn>
                              </p:par>
                              <p:par>
                                <p:cTn id="54" presetID="10" presetClass="entr" presetSubtype="0" fill="hold" nodeType="withEffect">
                                  <p:stCondLst>
                                    <p:cond delay="0"/>
                                  </p:stCondLst>
                                  <p:childTnLst>
                                    <p:set>
                                      <p:cBhvr>
                                        <p:cTn id="55" dur="1" fill="hold">
                                          <p:stCondLst>
                                            <p:cond delay="0"/>
                                          </p:stCondLst>
                                        </p:cTn>
                                        <p:tgtEl>
                                          <p:spTgt spid="175"/>
                                        </p:tgtEl>
                                        <p:attrNameLst>
                                          <p:attrName>style.visibility</p:attrName>
                                        </p:attrNameLst>
                                      </p:cBhvr>
                                      <p:to>
                                        <p:strVal val="visible"/>
                                      </p:to>
                                    </p:set>
                                    <p:animEffect transition="in" filter="fade">
                                      <p:cBhvr>
                                        <p:cTn id="56" dur="500"/>
                                        <p:tgtEl>
                                          <p:spTgt spid="17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76"/>
                                        </p:tgtEl>
                                        <p:attrNameLst>
                                          <p:attrName>style.visibility</p:attrName>
                                        </p:attrNameLst>
                                      </p:cBhvr>
                                      <p:to>
                                        <p:strVal val="visible"/>
                                      </p:to>
                                    </p:set>
                                    <p:animEffect transition="in" filter="fade">
                                      <p:cBhvr>
                                        <p:cTn id="61" dur="500"/>
                                        <p:tgtEl>
                                          <p:spTgt spid="176"/>
                                        </p:tgtEl>
                                      </p:cBhvr>
                                    </p:animEffect>
                                  </p:childTnLst>
                                </p:cTn>
                              </p:par>
                              <p:par>
                                <p:cTn id="62" presetID="10" presetClass="entr" presetSubtype="0" fill="hold" nodeType="withEffect">
                                  <p:stCondLst>
                                    <p:cond delay="0"/>
                                  </p:stCondLst>
                                  <p:childTnLst>
                                    <p:set>
                                      <p:cBhvr>
                                        <p:cTn id="63" dur="1" fill="hold">
                                          <p:stCondLst>
                                            <p:cond delay="0"/>
                                          </p:stCondLst>
                                        </p:cTn>
                                        <p:tgtEl>
                                          <p:spTgt spid="177"/>
                                        </p:tgtEl>
                                        <p:attrNameLst>
                                          <p:attrName>style.visibility</p:attrName>
                                        </p:attrNameLst>
                                      </p:cBhvr>
                                      <p:to>
                                        <p:strVal val="visible"/>
                                      </p:to>
                                    </p:set>
                                    <p:animEffect transition="in" filter="fade">
                                      <p:cBhvr>
                                        <p:cTn id="64" dur="500"/>
                                        <p:tgtEl>
                                          <p:spTgt spid="177"/>
                                        </p:tgtEl>
                                      </p:cBhvr>
                                    </p:animEffect>
                                  </p:childTnLst>
                                </p:cTn>
                              </p:par>
                              <p:par>
                                <p:cTn id="65" presetID="10" presetClass="entr" presetSubtype="0" fill="hold" nodeType="withEffect">
                                  <p:stCondLst>
                                    <p:cond delay="0"/>
                                  </p:stCondLst>
                                  <p:childTnLst>
                                    <p:set>
                                      <p:cBhvr>
                                        <p:cTn id="66" dur="1" fill="hold">
                                          <p:stCondLst>
                                            <p:cond delay="0"/>
                                          </p:stCondLst>
                                        </p:cTn>
                                        <p:tgtEl>
                                          <p:spTgt spid="179"/>
                                        </p:tgtEl>
                                        <p:attrNameLst>
                                          <p:attrName>style.visibility</p:attrName>
                                        </p:attrNameLst>
                                      </p:cBhvr>
                                      <p:to>
                                        <p:strVal val="visible"/>
                                      </p:to>
                                    </p:set>
                                    <p:animEffect transition="in" filter="fade">
                                      <p:cBhvr>
                                        <p:cTn id="67" dur="500"/>
                                        <p:tgtEl>
                                          <p:spTgt spid="179"/>
                                        </p:tgtEl>
                                      </p:cBhvr>
                                    </p:animEffect>
                                  </p:childTnLst>
                                </p:cTn>
                              </p:par>
                              <p:par>
                                <p:cTn id="68" presetID="10" presetClass="entr" presetSubtype="0" fill="hold" nodeType="withEffect">
                                  <p:stCondLst>
                                    <p:cond delay="0"/>
                                  </p:stCondLst>
                                  <p:childTnLst>
                                    <p:set>
                                      <p:cBhvr>
                                        <p:cTn id="69" dur="1" fill="hold">
                                          <p:stCondLst>
                                            <p:cond delay="0"/>
                                          </p:stCondLst>
                                        </p:cTn>
                                        <p:tgtEl>
                                          <p:spTgt spid="180"/>
                                        </p:tgtEl>
                                        <p:attrNameLst>
                                          <p:attrName>style.visibility</p:attrName>
                                        </p:attrNameLst>
                                      </p:cBhvr>
                                      <p:to>
                                        <p:strVal val="visible"/>
                                      </p:to>
                                    </p:set>
                                    <p:animEffect transition="in" filter="fade">
                                      <p:cBhvr>
                                        <p:cTn id="70" dur="500"/>
                                        <p:tgtEl>
                                          <p:spTgt spid="180"/>
                                        </p:tgtEl>
                                      </p:cBhvr>
                                    </p:animEffect>
                                  </p:childTnLst>
                                </p:cTn>
                              </p:par>
                              <p:par>
                                <p:cTn id="71" presetID="10" presetClass="entr" presetSubtype="0" fill="hold" nodeType="withEffect">
                                  <p:stCondLst>
                                    <p:cond delay="0"/>
                                  </p:stCondLst>
                                  <p:childTnLst>
                                    <p:set>
                                      <p:cBhvr>
                                        <p:cTn id="72" dur="1" fill="hold">
                                          <p:stCondLst>
                                            <p:cond delay="0"/>
                                          </p:stCondLst>
                                        </p:cTn>
                                        <p:tgtEl>
                                          <p:spTgt spid="181"/>
                                        </p:tgtEl>
                                        <p:attrNameLst>
                                          <p:attrName>style.visibility</p:attrName>
                                        </p:attrNameLst>
                                      </p:cBhvr>
                                      <p:to>
                                        <p:strVal val="visible"/>
                                      </p:to>
                                    </p:set>
                                    <p:animEffect transition="in" filter="fade">
                                      <p:cBhvr>
                                        <p:cTn id="73" dur="500"/>
                                        <p:tgtEl>
                                          <p:spTgt spid="181"/>
                                        </p:tgtEl>
                                      </p:cBhvr>
                                    </p:animEffect>
                                  </p:childTnLst>
                                </p:cTn>
                              </p:par>
                              <p:par>
                                <p:cTn id="74" presetID="10" presetClass="entr" presetSubtype="0" fill="hold" nodeType="withEffect">
                                  <p:stCondLst>
                                    <p:cond delay="0"/>
                                  </p:stCondLst>
                                  <p:childTnLst>
                                    <p:set>
                                      <p:cBhvr>
                                        <p:cTn id="75" dur="1" fill="hold">
                                          <p:stCondLst>
                                            <p:cond delay="0"/>
                                          </p:stCondLst>
                                        </p:cTn>
                                        <p:tgtEl>
                                          <p:spTgt spid="178"/>
                                        </p:tgtEl>
                                        <p:attrNameLst>
                                          <p:attrName>style.visibility</p:attrName>
                                        </p:attrNameLst>
                                      </p:cBhvr>
                                      <p:to>
                                        <p:strVal val="visible"/>
                                      </p:to>
                                    </p:set>
                                    <p:animEffect transition="in" filter="fade">
                                      <p:cBhvr>
                                        <p:cTn id="76" dur="500"/>
                                        <p:tgtEl>
                                          <p:spTgt spid="178"/>
                                        </p:tgtEl>
                                      </p:cBhvr>
                                    </p:animEffect>
                                  </p:childTnLst>
                                </p:cTn>
                              </p:par>
                              <p:par>
                                <p:cTn id="77" presetID="10" presetClass="entr" presetSubtype="0" fill="hold" nodeType="withEffect">
                                  <p:stCondLst>
                                    <p:cond delay="0"/>
                                  </p:stCondLst>
                                  <p:childTnLst>
                                    <p:set>
                                      <p:cBhvr>
                                        <p:cTn id="78" dur="1" fill="hold">
                                          <p:stCondLst>
                                            <p:cond delay="0"/>
                                          </p:stCondLst>
                                        </p:cTn>
                                        <p:tgtEl>
                                          <p:spTgt spid="182"/>
                                        </p:tgtEl>
                                        <p:attrNameLst>
                                          <p:attrName>style.visibility</p:attrName>
                                        </p:attrNameLst>
                                      </p:cBhvr>
                                      <p:to>
                                        <p:strVal val="visible"/>
                                      </p:to>
                                    </p:set>
                                    <p:animEffect transition="in" filter="fade">
                                      <p:cBhvr>
                                        <p:cTn id="79" dur="500"/>
                                        <p:tgtEl>
                                          <p:spTgt spid="182"/>
                                        </p:tgtEl>
                                      </p:cBhvr>
                                    </p:animEffect>
                                  </p:childTnLst>
                                </p:cTn>
                              </p:par>
                              <p:par>
                                <p:cTn id="80" presetID="10" presetClass="entr" presetSubtype="0" fill="hold" nodeType="withEffect">
                                  <p:stCondLst>
                                    <p:cond delay="0"/>
                                  </p:stCondLst>
                                  <p:childTnLst>
                                    <p:set>
                                      <p:cBhvr>
                                        <p:cTn id="81" dur="1" fill="hold">
                                          <p:stCondLst>
                                            <p:cond delay="0"/>
                                          </p:stCondLst>
                                        </p:cTn>
                                        <p:tgtEl>
                                          <p:spTgt spid="183"/>
                                        </p:tgtEl>
                                        <p:attrNameLst>
                                          <p:attrName>style.visibility</p:attrName>
                                        </p:attrNameLst>
                                      </p:cBhvr>
                                      <p:to>
                                        <p:strVal val="visible"/>
                                      </p:to>
                                    </p:set>
                                    <p:animEffect transition="in" filter="fade">
                                      <p:cBhvr>
                                        <p:cTn id="82"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animBg="1"/>
      <p:bldP spid="17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The implementations of RTC protocols are noncompliant</a:t>
            </a:r>
            <a:endParaRPr/>
          </a:p>
        </p:txBody>
      </p:sp>
      <p:pic>
        <p:nvPicPr>
          <p:cNvPr id="189" name="Google Shape;189;p29"/>
          <p:cNvPicPr preferRelativeResize="0"/>
          <p:nvPr/>
        </p:nvPicPr>
        <p:blipFill rotWithShape="1">
          <a:blip r:embed="rId3">
            <a:alphaModFix/>
          </a:blip>
          <a:srcRect/>
          <a:stretch/>
        </p:blipFill>
        <p:spPr>
          <a:xfrm>
            <a:off x="2302326" y="3066642"/>
            <a:ext cx="1068923" cy="881065"/>
          </a:xfrm>
          <a:prstGeom prst="rect">
            <a:avLst/>
          </a:prstGeom>
          <a:noFill/>
          <a:ln>
            <a:noFill/>
          </a:ln>
        </p:spPr>
      </p:pic>
      <p:pic>
        <p:nvPicPr>
          <p:cNvPr id="190" name="Google Shape;190;p29"/>
          <p:cNvPicPr preferRelativeResize="0"/>
          <p:nvPr/>
        </p:nvPicPr>
        <p:blipFill rotWithShape="1">
          <a:blip r:embed="rId4">
            <a:alphaModFix/>
          </a:blip>
          <a:srcRect/>
          <a:stretch/>
        </p:blipFill>
        <p:spPr>
          <a:xfrm>
            <a:off x="5533845" y="3066155"/>
            <a:ext cx="1284093" cy="881066"/>
          </a:xfrm>
          <a:prstGeom prst="rect">
            <a:avLst/>
          </a:prstGeom>
          <a:noFill/>
          <a:ln>
            <a:noFill/>
          </a:ln>
        </p:spPr>
      </p:pic>
      <p:pic>
        <p:nvPicPr>
          <p:cNvPr id="191" name="Google Shape;191;p29"/>
          <p:cNvPicPr preferRelativeResize="0"/>
          <p:nvPr/>
        </p:nvPicPr>
        <p:blipFill rotWithShape="1">
          <a:blip r:embed="rId5">
            <a:alphaModFix/>
          </a:blip>
          <a:srcRect/>
          <a:stretch/>
        </p:blipFill>
        <p:spPr>
          <a:xfrm>
            <a:off x="3863384" y="3066155"/>
            <a:ext cx="1306222" cy="881065"/>
          </a:xfrm>
          <a:prstGeom prst="rect">
            <a:avLst/>
          </a:prstGeom>
          <a:noFill/>
          <a:ln>
            <a:noFill/>
          </a:ln>
        </p:spPr>
      </p:pic>
      <p:pic>
        <p:nvPicPr>
          <p:cNvPr id="192" name="Google Shape;192;p29"/>
          <p:cNvPicPr preferRelativeResize="0"/>
          <p:nvPr/>
        </p:nvPicPr>
        <p:blipFill rotWithShape="1">
          <a:blip r:embed="rId6">
            <a:alphaModFix/>
          </a:blip>
          <a:srcRect/>
          <a:stretch/>
        </p:blipFill>
        <p:spPr>
          <a:xfrm>
            <a:off x="3948834" y="1665099"/>
            <a:ext cx="1135321" cy="732971"/>
          </a:xfrm>
          <a:prstGeom prst="rect">
            <a:avLst/>
          </a:prstGeom>
          <a:noFill/>
          <a:ln>
            <a:noFill/>
          </a:ln>
        </p:spPr>
      </p:pic>
      <p:sp>
        <p:nvSpPr>
          <p:cNvPr id="193" name="Google Shape;193;p29"/>
          <p:cNvSpPr txBox="1"/>
          <p:nvPr/>
        </p:nvSpPr>
        <p:spPr>
          <a:xfrm>
            <a:off x="3205077" y="1210502"/>
            <a:ext cx="2622834" cy="523220"/>
          </a:xfrm>
          <a:prstGeom prst="rect">
            <a:avLst/>
          </a:prstGeom>
          <a:solidFill>
            <a:schemeClr val="lt1">
              <a:alpha val="48235"/>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Standard protocol</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e.g. RFC protocol specification</a:t>
            </a:r>
            <a:endParaRPr sz="1400" b="0" i="0" u="none" strike="noStrike" cap="none">
              <a:solidFill>
                <a:srgbClr val="000000"/>
              </a:solidFill>
              <a:latin typeface="Arial"/>
              <a:ea typeface="Arial"/>
              <a:cs typeface="Arial"/>
              <a:sym typeface="Arial"/>
            </a:endParaRPr>
          </a:p>
        </p:txBody>
      </p:sp>
      <p:sp>
        <p:nvSpPr>
          <p:cNvPr id="194" name="Google Shape;194;p29"/>
          <p:cNvSpPr txBox="1"/>
          <p:nvPr/>
        </p:nvSpPr>
        <p:spPr>
          <a:xfrm>
            <a:off x="3497710" y="2715473"/>
            <a:ext cx="2036135" cy="307777"/>
          </a:xfrm>
          <a:prstGeom prst="rect">
            <a:avLst/>
          </a:prstGeom>
          <a:solidFill>
            <a:schemeClr val="lt1">
              <a:alpha val="48235"/>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Actual implementations</a:t>
            </a:r>
            <a:endParaRPr sz="1400" b="0" i="0" u="none" strike="noStrike" cap="none">
              <a:solidFill>
                <a:srgbClr val="000000"/>
              </a:solidFill>
              <a:latin typeface="Arial"/>
              <a:ea typeface="Arial"/>
              <a:cs typeface="Arial"/>
              <a:sym typeface="Arial"/>
            </a:endParaRPr>
          </a:p>
        </p:txBody>
      </p:sp>
      <p:sp>
        <p:nvSpPr>
          <p:cNvPr id="195" name="Google Shape;195;p29"/>
          <p:cNvSpPr txBox="1"/>
          <p:nvPr/>
        </p:nvSpPr>
        <p:spPr>
          <a:xfrm>
            <a:off x="1936542" y="3947219"/>
            <a:ext cx="1698226" cy="523220"/>
          </a:xfrm>
          <a:prstGeom prst="rect">
            <a:avLst/>
          </a:prstGeom>
          <a:solidFill>
            <a:schemeClr val="lt1">
              <a:alpha val="48235"/>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Unknown extra attribute</a:t>
            </a:r>
            <a:endParaRPr sz="1400" b="0" i="0" u="none" strike="noStrike" cap="none">
              <a:solidFill>
                <a:srgbClr val="000000"/>
              </a:solidFill>
              <a:latin typeface="Arial"/>
              <a:ea typeface="Arial"/>
              <a:cs typeface="Arial"/>
              <a:sym typeface="Arial"/>
            </a:endParaRPr>
          </a:p>
        </p:txBody>
      </p:sp>
      <p:sp>
        <p:nvSpPr>
          <p:cNvPr id="196" name="Google Shape;196;p29"/>
          <p:cNvSpPr txBox="1"/>
          <p:nvPr/>
        </p:nvSpPr>
        <p:spPr>
          <a:xfrm>
            <a:off x="3771824" y="3947219"/>
            <a:ext cx="1487908" cy="307777"/>
          </a:xfrm>
          <a:prstGeom prst="rect">
            <a:avLst/>
          </a:prstGeom>
          <a:solidFill>
            <a:schemeClr val="lt1">
              <a:alpha val="48235"/>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Missing attribute</a:t>
            </a:r>
            <a:endParaRPr sz="1400" b="0" i="0" u="none" strike="noStrike" cap="none">
              <a:solidFill>
                <a:srgbClr val="000000"/>
              </a:solidFill>
              <a:latin typeface="Arial"/>
              <a:ea typeface="Arial"/>
              <a:cs typeface="Arial"/>
              <a:sym typeface="Arial"/>
            </a:endParaRPr>
          </a:p>
        </p:txBody>
      </p:sp>
      <p:sp>
        <p:nvSpPr>
          <p:cNvPr id="197" name="Google Shape;197;p29"/>
          <p:cNvSpPr txBox="1"/>
          <p:nvPr/>
        </p:nvSpPr>
        <p:spPr>
          <a:xfrm>
            <a:off x="5660307" y="3949174"/>
            <a:ext cx="1080745" cy="307777"/>
          </a:xfrm>
          <a:prstGeom prst="rect">
            <a:avLst/>
          </a:prstGeom>
          <a:solidFill>
            <a:schemeClr val="lt1">
              <a:alpha val="48235"/>
            </a:scheme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Invalid field</a:t>
            </a:r>
            <a:endParaRPr sz="1400" b="0" i="0" u="none" strike="noStrike" cap="none">
              <a:solidFill>
                <a:srgbClr val="000000"/>
              </a:solidFill>
              <a:latin typeface="Arial"/>
              <a:ea typeface="Arial"/>
              <a:cs typeface="Arial"/>
              <a:sym typeface="Arial"/>
            </a:endParaRPr>
          </a:p>
        </p:txBody>
      </p:sp>
      <p:sp>
        <p:nvSpPr>
          <p:cNvPr id="198" name="Google Shape;198;p29"/>
          <p:cNvSpPr txBox="1"/>
          <p:nvPr/>
        </p:nvSpPr>
        <p:spPr>
          <a:xfrm>
            <a:off x="1881837" y="2657691"/>
            <a:ext cx="5267880" cy="338514"/>
          </a:xfrm>
          <a:prstGeom prst="rect">
            <a:avLst/>
          </a:prstGeom>
          <a:solidFill>
            <a:srgbClr val="FFDDB2"/>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dirty="0">
                <a:solidFill>
                  <a:srgbClr val="000000"/>
                </a:solidFill>
                <a:latin typeface="Arial"/>
                <a:ea typeface="Arial"/>
                <a:cs typeface="Arial"/>
                <a:sym typeface="Arial"/>
              </a:rPr>
              <a:t>The RTC </a:t>
            </a:r>
            <a:r>
              <a:rPr lang="en-US" altLang="zh-CN" sz="1600" b="0" i="0" u="none" strike="noStrike" cap="none" dirty="0">
                <a:solidFill>
                  <a:srgbClr val="000000"/>
                </a:solidFill>
                <a:latin typeface="Arial"/>
                <a:ea typeface="Arial"/>
                <a:cs typeface="Arial"/>
                <a:sym typeface="Arial"/>
              </a:rPr>
              <a:t>applications</a:t>
            </a:r>
            <a:r>
              <a:rPr lang="en" sz="1600" b="0" i="0" u="none" strike="noStrike" cap="none" dirty="0">
                <a:solidFill>
                  <a:srgbClr val="000000"/>
                </a:solidFill>
                <a:latin typeface="Arial"/>
                <a:ea typeface="Arial"/>
                <a:cs typeface="Arial"/>
                <a:sym typeface="Arial"/>
              </a:rPr>
              <a:t> don’t strictly follow the standards</a:t>
            </a:r>
            <a:r>
              <a:rPr lang="en-US" altLang="zh-CN" sz="1600" b="0" i="0" u="none" strike="noStrike" cap="none" dirty="0">
                <a:solidFill>
                  <a:srgbClr val="000000"/>
                </a:solidFill>
                <a:latin typeface="Arial"/>
                <a:ea typeface="Arial"/>
                <a:cs typeface="Arial"/>
                <a:sym typeface="Arial"/>
              </a:rPr>
              <a:t>.</a:t>
            </a:r>
            <a:endParaRPr sz="1600" b="0" i="0" u="none" strike="noStrike" cap="none" dirty="0">
              <a:solidFill>
                <a:srgbClr val="000000"/>
              </a:solidFill>
              <a:latin typeface="Arial"/>
              <a:ea typeface="Arial"/>
              <a:cs typeface="Arial"/>
              <a:sym typeface="Arial"/>
            </a:endParaRPr>
          </a:p>
        </p:txBody>
      </p:sp>
      <p:sp>
        <p:nvSpPr>
          <p:cNvPr id="199" name="Google Shape;19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500"/>
                                        <p:tgtEl>
                                          <p:spTgt spid="192"/>
                                        </p:tgtEl>
                                      </p:cBhvr>
                                    </p:animEffect>
                                  </p:childTnLst>
                                </p:cTn>
                              </p:par>
                              <p:par>
                                <p:cTn id="8" presetID="10" presetClass="entr" presetSubtype="0" fill="hold" nodeType="withEffect">
                                  <p:stCondLst>
                                    <p:cond delay="0"/>
                                  </p:stCondLst>
                                  <p:childTnLst>
                                    <p:set>
                                      <p:cBhvr>
                                        <p:cTn id="9" dur="1" fill="hold">
                                          <p:stCondLst>
                                            <p:cond delay="0"/>
                                          </p:stCondLst>
                                        </p:cTn>
                                        <p:tgtEl>
                                          <p:spTgt spid="193"/>
                                        </p:tgtEl>
                                        <p:attrNameLst>
                                          <p:attrName>style.visibility</p:attrName>
                                        </p:attrNameLst>
                                      </p:cBhvr>
                                      <p:to>
                                        <p:strVal val="visible"/>
                                      </p:to>
                                    </p:set>
                                    <p:animEffect transition="in" filter="fade">
                                      <p:cBhvr>
                                        <p:cTn id="10" dur="500"/>
                                        <p:tgtEl>
                                          <p:spTgt spid="19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9"/>
                                        </p:tgtEl>
                                        <p:attrNameLst>
                                          <p:attrName>style.visibility</p:attrName>
                                        </p:attrNameLst>
                                      </p:cBhvr>
                                      <p:to>
                                        <p:strVal val="visible"/>
                                      </p:to>
                                    </p:set>
                                    <p:animEffect transition="in" filter="fade">
                                      <p:cBhvr>
                                        <p:cTn id="15" dur="500"/>
                                        <p:tgtEl>
                                          <p:spTgt spid="189"/>
                                        </p:tgtEl>
                                      </p:cBhvr>
                                    </p:animEffect>
                                  </p:childTnLst>
                                </p:cTn>
                              </p:par>
                              <p:par>
                                <p:cTn id="16" presetID="10" presetClass="entr" presetSubtype="0" fill="hold" nodeType="withEffect">
                                  <p:stCondLst>
                                    <p:cond delay="0"/>
                                  </p:stCondLst>
                                  <p:childTnLst>
                                    <p:set>
                                      <p:cBhvr>
                                        <p:cTn id="17" dur="1" fill="hold">
                                          <p:stCondLst>
                                            <p:cond delay="0"/>
                                          </p:stCondLst>
                                        </p:cTn>
                                        <p:tgtEl>
                                          <p:spTgt spid="190"/>
                                        </p:tgtEl>
                                        <p:attrNameLst>
                                          <p:attrName>style.visibility</p:attrName>
                                        </p:attrNameLst>
                                      </p:cBhvr>
                                      <p:to>
                                        <p:strVal val="visible"/>
                                      </p:to>
                                    </p:set>
                                    <p:animEffect transition="in" filter="fade">
                                      <p:cBhvr>
                                        <p:cTn id="18" dur="500"/>
                                        <p:tgtEl>
                                          <p:spTgt spid="190"/>
                                        </p:tgtEl>
                                      </p:cBhvr>
                                    </p:animEffect>
                                  </p:childTnLst>
                                </p:cTn>
                              </p:par>
                              <p:par>
                                <p:cTn id="19" presetID="10" presetClass="entr" presetSubtype="0" fill="hold" nodeType="withEffect">
                                  <p:stCondLst>
                                    <p:cond delay="0"/>
                                  </p:stCondLst>
                                  <p:childTnLst>
                                    <p:set>
                                      <p:cBhvr>
                                        <p:cTn id="20" dur="1" fill="hold">
                                          <p:stCondLst>
                                            <p:cond delay="0"/>
                                          </p:stCondLst>
                                        </p:cTn>
                                        <p:tgtEl>
                                          <p:spTgt spid="191"/>
                                        </p:tgtEl>
                                        <p:attrNameLst>
                                          <p:attrName>style.visibility</p:attrName>
                                        </p:attrNameLst>
                                      </p:cBhvr>
                                      <p:to>
                                        <p:strVal val="visible"/>
                                      </p:to>
                                    </p:set>
                                    <p:animEffect transition="in" filter="fade">
                                      <p:cBhvr>
                                        <p:cTn id="21" dur="500"/>
                                        <p:tgtEl>
                                          <p:spTgt spid="191"/>
                                        </p:tgtEl>
                                      </p:cBhvr>
                                    </p:animEffect>
                                  </p:childTnLst>
                                </p:cTn>
                              </p:par>
                              <p:par>
                                <p:cTn id="22" presetID="10" presetClass="entr" presetSubtype="0" fill="hold" nodeType="withEffect">
                                  <p:stCondLst>
                                    <p:cond delay="0"/>
                                  </p:stCondLst>
                                  <p:childTnLst>
                                    <p:set>
                                      <p:cBhvr>
                                        <p:cTn id="23" dur="1" fill="hold">
                                          <p:stCondLst>
                                            <p:cond delay="0"/>
                                          </p:stCondLst>
                                        </p:cTn>
                                        <p:tgtEl>
                                          <p:spTgt spid="194"/>
                                        </p:tgtEl>
                                        <p:attrNameLst>
                                          <p:attrName>style.visibility</p:attrName>
                                        </p:attrNameLst>
                                      </p:cBhvr>
                                      <p:to>
                                        <p:strVal val="visible"/>
                                      </p:to>
                                    </p:set>
                                    <p:animEffect transition="in" filter="fade">
                                      <p:cBhvr>
                                        <p:cTn id="24" dur="500"/>
                                        <p:tgtEl>
                                          <p:spTgt spid="194"/>
                                        </p:tgtEl>
                                      </p:cBhvr>
                                    </p:animEffect>
                                  </p:childTnLst>
                                </p:cTn>
                              </p:par>
                              <p:par>
                                <p:cTn id="25" presetID="10" presetClass="entr" presetSubtype="0" fill="hold" nodeType="withEffect">
                                  <p:stCondLst>
                                    <p:cond delay="0"/>
                                  </p:stCondLst>
                                  <p:childTnLst>
                                    <p:set>
                                      <p:cBhvr>
                                        <p:cTn id="26" dur="1" fill="hold">
                                          <p:stCondLst>
                                            <p:cond delay="0"/>
                                          </p:stCondLst>
                                        </p:cTn>
                                        <p:tgtEl>
                                          <p:spTgt spid="195"/>
                                        </p:tgtEl>
                                        <p:attrNameLst>
                                          <p:attrName>style.visibility</p:attrName>
                                        </p:attrNameLst>
                                      </p:cBhvr>
                                      <p:to>
                                        <p:strVal val="visible"/>
                                      </p:to>
                                    </p:set>
                                    <p:animEffect transition="in" filter="fade">
                                      <p:cBhvr>
                                        <p:cTn id="27" dur="500"/>
                                        <p:tgtEl>
                                          <p:spTgt spid="195"/>
                                        </p:tgtEl>
                                      </p:cBhvr>
                                    </p:animEffect>
                                  </p:childTnLst>
                                </p:cTn>
                              </p:par>
                              <p:par>
                                <p:cTn id="28" presetID="10" presetClass="entr" presetSubtype="0" fill="hold" nodeType="withEffect">
                                  <p:stCondLst>
                                    <p:cond delay="0"/>
                                  </p:stCondLst>
                                  <p:childTnLst>
                                    <p:set>
                                      <p:cBhvr>
                                        <p:cTn id="29" dur="1" fill="hold">
                                          <p:stCondLst>
                                            <p:cond delay="0"/>
                                          </p:stCondLst>
                                        </p:cTn>
                                        <p:tgtEl>
                                          <p:spTgt spid="196"/>
                                        </p:tgtEl>
                                        <p:attrNameLst>
                                          <p:attrName>style.visibility</p:attrName>
                                        </p:attrNameLst>
                                      </p:cBhvr>
                                      <p:to>
                                        <p:strVal val="visible"/>
                                      </p:to>
                                    </p:set>
                                    <p:animEffect transition="in" filter="fade">
                                      <p:cBhvr>
                                        <p:cTn id="30" dur="500"/>
                                        <p:tgtEl>
                                          <p:spTgt spid="196"/>
                                        </p:tgtEl>
                                      </p:cBhvr>
                                    </p:animEffect>
                                  </p:childTnLst>
                                </p:cTn>
                              </p:par>
                              <p:par>
                                <p:cTn id="31" presetID="10" presetClass="entr" presetSubtype="0" fill="hold" nodeType="withEffect">
                                  <p:stCondLst>
                                    <p:cond delay="0"/>
                                  </p:stCondLst>
                                  <p:childTnLst>
                                    <p:set>
                                      <p:cBhvr>
                                        <p:cTn id="32" dur="1" fill="hold">
                                          <p:stCondLst>
                                            <p:cond delay="0"/>
                                          </p:stCondLst>
                                        </p:cTn>
                                        <p:tgtEl>
                                          <p:spTgt spid="197"/>
                                        </p:tgtEl>
                                        <p:attrNameLst>
                                          <p:attrName>style.visibility</p:attrName>
                                        </p:attrNameLst>
                                      </p:cBhvr>
                                      <p:to>
                                        <p:strVal val="visible"/>
                                      </p:to>
                                    </p:set>
                                    <p:animEffect transition="in" filter="fade">
                                      <p:cBhvr>
                                        <p:cTn id="33" dur="500"/>
                                        <p:tgtEl>
                                          <p:spTgt spid="19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98"/>
                                        </p:tgtEl>
                                        <p:attrNameLst>
                                          <p:attrName>style.visibility</p:attrName>
                                        </p:attrNameLst>
                                      </p:cBhvr>
                                      <p:to>
                                        <p:strVal val="visible"/>
                                      </p:to>
                                    </p:set>
                                    <p:animEffect transition="in" filter="fade">
                                      <p:cBhvr>
                                        <p:cTn id="38" dur="500"/>
                                        <p:tgtEl>
                                          <p:spTgt spid="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3076" name="Picture 4">
            <a:extLst>
              <a:ext uri="{FF2B5EF4-FFF2-40B4-BE49-F238E27FC236}">
                <a16:creationId xmlns:a16="http://schemas.microsoft.com/office/drawing/2014/main" id="{2A91A35D-A23E-5AEC-8928-82F8A3E573F8}"/>
              </a:ext>
            </a:extLst>
          </p:cNvPr>
          <p:cNvPicPr>
            <a:picLocks noChangeAspect="1" noChangeArrowheads="1"/>
          </p:cNvPicPr>
          <p:nvPr/>
        </p:nvPicPr>
        <p:blipFill>
          <a:blip r:embed="rId3">
            <a:alphaModFix amt="38000"/>
            <a:extLst>
              <a:ext uri="{28A0092B-C50C-407E-A947-70E740481C1C}">
                <a14:useLocalDpi xmlns:a14="http://schemas.microsoft.com/office/drawing/2010/main" val="0"/>
              </a:ext>
            </a:extLst>
          </a:blip>
          <a:srcRect/>
          <a:stretch>
            <a:fillRect/>
          </a:stretch>
        </p:blipFill>
        <p:spPr bwMode="auto">
          <a:xfrm>
            <a:off x="1145377" y="2013822"/>
            <a:ext cx="2802180" cy="1653297"/>
          </a:xfrm>
          <a:prstGeom prst="rect">
            <a:avLst/>
          </a:prstGeom>
          <a:noFill/>
          <a:effectLst>
            <a:outerShdw blurRad="50800" dist="50800" dir="5400000" algn="ctr" rotWithShape="0">
              <a:srgbClr val="000000">
                <a:alpha val="0"/>
              </a:srgbClr>
            </a:outerShdw>
            <a:reflection stA="0" endPos="65000" dist="50800" dir="5400000" sy="-100000" algn="bl" rotWithShape="0"/>
          </a:effectLst>
          <a:extLst>
            <a:ext uri="{909E8E84-426E-40DD-AFC4-6F175D3DCCD1}">
              <a14:hiddenFill xmlns:a14="http://schemas.microsoft.com/office/drawing/2010/main">
                <a:solidFill>
                  <a:srgbClr val="FFFFFF"/>
                </a:solidFill>
              </a14:hiddenFill>
            </a:ext>
          </a:extLst>
        </p:spPr>
      </p:pic>
      <p:sp>
        <p:nvSpPr>
          <p:cNvPr id="204" name="Google Shape;204;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Significance of compliance study</a:t>
            </a:r>
            <a:endParaRPr/>
          </a:p>
        </p:txBody>
      </p:sp>
      <p:sp>
        <p:nvSpPr>
          <p:cNvPr id="206" name="Google Shape;206;p30"/>
          <p:cNvSpPr txBox="1"/>
          <p:nvPr/>
        </p:nvSpPr>
        <p:spPr>
          <a:xfrm>
            <a:off x="1242230" y="3722464"/>
            <a:ext cx="2908629" cy="797818"/>
          </a:xfrm>
          <a:prstGeom prst="rect">
            <a:avLst/>
          </a:prstGeom>
          <a:noFill/>
          <a:ln>
            <a:noFill/>
          </a:ln>
        </p:spPr>
        <p:txBody>
          <a:bodyPr spcFirstLastPara="1" wrap="square" lIns="91425" tIns="91425" rIns="91425" bIns="91425" anchor="t" anchorCtr="0">
            <a:normAutofit fontScale="92500" lnSpcReduction="20000"/>
          </a:bodyPr>
          <a:lstStyle/>
          <a:p>
            <a:pPr marL="114300" marR="0" lvl="0" indent="0" algn="l" rtl="0">
              <a:lnSpc>
                <a:spcPct val="115000"/>
              </a:lnSpc>
              <a:spcBef>
                <a:spcPts val="0"/>
              </a:spcBef>
              <a:spcAft>
                <a:spcPts val="0"/>
              </a:spcAft>
              <a:buClr>
                <a:schemeClr val="dk2"/>
              </a:buClr>
              <a:buSzPct val="138996"/>
              <a:buFont typeface="Arial"/>
              <a:buNone/>
            </a:pPr>
            <a:r>
              <a:rPr lang="en" sz="1400" b="0" i="0" u="none" strike="noStrike" cap="none" dirty="0">
                <a:solidFill>
                  <a:schemeClr val="dk2"/>
                </a:solidFill>
                <a:latin typeface="Arial"/>
                <a:ea typeface="Arial"/>
                <a:cs typeface="Arial"/>
                <a:sym typeface="Arial"/>
              </a:rPr>
              <a:t>Compliance measurement helps understand interoperation challenges</a:t>
            </a:r>
            <a:endParaRPr sz="1400" b="0" i="0" u="none" strike="noStrike" cap="none" dirty="0">
              <a:solidFill>
                <a:schemeClr val="dk2"/>
              </a:solidFill>
              <a:latin typeface="Arial"/>
              <a:ea typeface="Arial"/>
              <a:cs typeface="Arial"/>
              <a:sym typeface="Arial"/>
            </a:endParaRPr>
          </a:p>
        </p:txBody>
      </p:sp>
      <p:sp>
        <p:nvSpPr>
          <p:cNvPr id="207" name="Google Shape;207;p30"/>
          <p:cNvSpPr txBox="1"/>
          <p:nvPr/>
        </p:nvSpPr>
        <p:spPr>
          <a:xfrm>
            <a:off x="4806139" y="3577881"/>
            <a:ext cx="3477064" cy="1043111"/>
          </a:xfrm>
          <a:prstGeom prst="rect">
            <a:avLst/>
          </a:prstGeom>
          <a:noFill/>
          <a:ln>
            <a:noFill/>
          </a:ln>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Clr>
                <a:schemeClr val="dk2"/>
              </a:buClr>
              <a:buSzPts val="1946"/>
              <a:buFont typeface="Arial"/>
              <a:buChar char="•"/>
            </a:pPr>
            <a:r>
              <a:rPr lang="en" sz="1400" b="0" i="0" u="none" strike="noStrike" cap="none" dirty="0">
                <a:solidFill>
                  <a:schemeClr val="dk2"/>
                </a:solidFill>
                <a:latin typeface="Arial"/>
                <a:ea typeface="Arial"/>
                <a:cs typeface="Arial"/>
                <a:sym typeface="Arial"/>
              </a:rPr>
              <a:t>Lower app development overhead</a:t>
            </a:r>
            <a:endParaRPr dirty="0"/>
          </a:p>
          <a:p>
            <a:pPr marL="457200" marR="0" lvl="0" indent="-342900" algn="l" rtl="0">
              <a:lnSpc>
                <a:spcPct val="115000"/>
              </a:lnSpc>
              <a:spcBef>
                <a:spcPts val="0"/>
              </a:spcBef>
              <a:spcAft>
                <a:spcPts val="0"/>
              </a:spcAft>
              <a:buClr>
                <a:schemeClr val="dk2"/>
              </a:buClr>
              <a:buSzPts val="1946"/>
              <a:buFont typeface="Arial"/>
              <a:buChar char="•"/>
            </a:pPr>
            <a:r>
              <a:rPr lang="en" sz="1400" b="0" i="0" u="none" strike="noStrike" cap="none" dirty="0">
                <a:solidFill>
                  <a:schemeClr val="dk2"/>
                </a:solidFill>
                <a:latin typeface="Arial"/>
                <a:ea typeface="Arial"/>
                <a:cs typeface="Arial"/>
                <a:sym typeface="Arial"/>
              </a:rPr>
              <a:t>Lower </a:t>
            </a:r>
            <a:r>
              <a:rPr lang="en" sz="1400" b="0" i="0" u="none" strike="noStrike" cap="none" dirty="0" err="1">
                <a:solidFill>
                  <a:schemeClr val="dk2"/>
                </a:solidFill>
                <a:latin typeface="Arial"/>
                <a:ea typeface="Arial"/>
                <a:cs typeface="Arial"/>
                <a:sym typeface="Arial"/>
              </a:rPr>
              <a:t>interopera</a:t>
            </a:r>
            <a:r>
              <a:rPr lang="en-US" altLang="zh-CN" sz="1400" b="0" i="0" u="none" strike="noStrike" cap="none" dirty="0" err="1">
                <a:solidFill>
                  <a:schemeClr val="dk2"/>
                </a:solidFill>
                <a:latin typeface="Arial"/>
                <a:ea typeface="Arial"/>
                <a:cs typeface="Arial"/>
                <a:sym typeface="Arial"/>
              </a:rPr>
              <a:t>tion</a:t>
            </a:r>
            <a:r>
              <a:rPr lang="en" sz="1400" b="0" i="0" u="none" strike="noStrike" cap="none" dirty="0">
                <a:solidFill>
                  <a:schemeClr val="dk2"/>
                </a:solidFill>
                <a:latin typeface="Arial"/>
                <a:ea typeface="Arial"/>
                <a:cs typeface="Arial"/>
                <a:sym typeface="Arial"/>
              </a:rPr>
              <a:t> cost</a:t>
            </a:r>
            <a:endParaRPr sz="1400" b="0" i="0" u="none" strike="noStrike" cap="none" dirty="0">
              <a:solidFill>
                <a:schemeClr val="dk2"/>
              </a:solidFill>
              <a:latin typeface="Arial"/>
              <a:ea typeface="Arial"/>
              <a:cs typeface="Arial"/>
              <a:sym typeface="Arial"/>
            </a:endParaRPr>
          </a:p>
          <a:p>
            <a:pPr marL="114300" marR="0" lvl="0" indent="0" algn="ctr" rtl="0">
              <a:lnSpc>
                <a:spcPct val="115000"/>
              </a:lnSpc>
              <a:spcBef>
                <a:spcPts val="0"/>
              </a:spcBef>
              <a:spcAft>
                <a:spcPts val="0"/>
              </a:spcAft>
              <a:buClr>
                <a:schemeClr val="dk2"/>
              </a:buClr>
              <a:buSzPts val="1946"/>
              <a:buFont typeface="Arial"/>
              <a:buNone/>
            </a:pPr>
            <a:endParaRPr sz="1400" b="0" i="0" u="none" strike="noStrike" cap="none" dirty="0">
              <a:solidFill>
                <a:schemeClr val="dk2"/>
              </a:solidFill>
              <a:latin typeface="Arial"/>
              <a:ea typeface="Arial"/>
              <a:cs typeface="Arial"/>
              <a:sym typeface="Arial"/>
            </a:endParaRPr>
          </a:p>
        </p:txBody>
      </p:sp>
      <p:pic>
        <p:nvPicPr>
          <p:cNvPr id="209" name="Google Shape;209;p30" descr="Programmer icon or developer or ..."/>
          <p:cNvPicPr preferRelativeResize="0"/>
          <p:nvPr/>
        </p:nvPicPr>
        <p:blipFill rotWithShape="1">
          <a:blip r:embed="rId4">
            <a:alphaModFix/>
          </a:blip>
          <a:srcRect/>
          <a:stretch/>
        </p:blipFill>
        <p:spPr>
          <a:xfrm>
            <a:off x="6217145" y="2233498"/>
            <a:ext cx="1092653" cy="1068586"/>
          </a:xfrm>
          <a:prstGeom prst="rect">
            <a:avLst/>
          </a:prstGeom>
          <a:noFill/>
          <a:ln>
            <a:noFill/>
          </a:ln>
        </p:spPr>
      </p:pic>
      <p:sp>
        <p:nvSpPr>
          <p:cNvPr id="210" name="Google Shape;210;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5</a:t>
            </a:fld>
            <a:endParaRPr/>
          </a:p>
        </p:txBody>
      </p:sp>
      <p:sp>
        <p:nvSpPr>
          <p:cNvPr id="211" name="Google Shape;211;p30"/>
          <p:cNvSpPr txBox="1"/>
          <p:nvPr/>
        </p:nvSpPr>
        <p:spPr>
          <a:xfrm>
            <a:off x="1413231" y="1617197"/>
            <a:ext cx="256662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EU DMA (Digital Markets Act) </a:t>
            </a:r>
            <a:endParaRPr sz="1400" b="0" i="0" u="none" strike="noStrike" cap="none">
              <a:solidFill>
                <a:schemeClr val="dk1"/>
              </a:solidFill>
              <a:latin typeface="Arial"/>
              <a:ea typeface="Arial"/>
              <a:cs typeface="Arial"/>
              <a:sym typeface="Arial"/>
            </a:endParaRPr>
          </a:p>
        </p:txBody>
      </p:sp>
      <p:sp>
        <p:nvSpPr>
          <p:cNvPr id="212" name="Google Shape;212;p30"/>
          <p:cNvSpPr txBox="1"/>
          <p:nvPr/>
        </p:nvSpPr>
        <p:spPr>
          <a:xfrm>
            <a:off x="5196444" y="1635491"/>
            <a:ext cx="313405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chemeClr val="dk2"/>
                </a:solidFill>
                <a:latin typeface="Arial"/>
                <a:ea typeface="Arial"/>
                <a:cs typeface="Arial"/>
                <a:sym typeface="Arial"/>
              </a:rPr>
              <a:t>A more compliant implementation may help engineers: </a:t>
            </a:r>
            <a:endParaRPr sz="1400" b="0" i="0" u="none" strike="noStrike" cap="none">
              <a:solidFill>
                <a:srgbClr val="000000"/>
              </a:solidFill>
              <a:latin typeface="Arial"/>
              <a:ea typeface="Arial"/>
              <a:cs typeface="Arial"/>
              <a:sym typeface="Arial"/>
            </a:endParaRPr>
          </a:p>
        </p:txBody>
      </p:sp>
      <p:sp>
        <p:nvSpPr>
          <p:cNvPr id="213" name="Google Shape;213;p30"/>
          <p:cNvSpPr txBox="1">
            <a:spLocks noGrp="1"/>
          </p:cNvSpPr>
          <p:nvPr>
            <p:ph type="body" idx="1"/>
          </p:nvPr>
        </p:nvSpPr>
        <p:spPr>
          <a:xfrm>
            <a:off x="0" y="4747925"/>
            <a:ext cx="7669371" cy="395575"/>
          </a:xfrm>
          <a:prstGeom prst="rect">
            <a:avLst/>
          </a:prstGeom>
          <a:noFill/>
          <a:ln>
            <a:noFill/>
          </a:ln>
        </p:spPr>
        <p:txBody>
          <a:bodyPr spcFirstLastPara="1" wrap="square" lIns="91425" tIns="91425" rIns="91425" bIns="91425" anchor="t" anchorCtr="0">
            <a:normAutofit/>
          </a:bodyPr>
          <a:lstStyle/>
          <a:p>
            <a:pPr marL="114300" lvl="0" indent="0" algn="l" rtl="0">
              <a:lnSpc>
                <a:spcPct val="115000"/>
              </a:lnSpc>
              <a:spcBef>
                <a:spcPts val="0"/>
              </a:spcBef>
              <a:spcAft>
                <a:spcPts val="0"/>
              </a:spcAft>
              <a:buSzPts val="1800"/>
              <a:buNone/>
            </a:pPr>
            <a:r>
              <a:rPr lang="en" sz="1200" dirty="0">
                <a:solidFill>
                  <a:schemeClr val="dk1"/>
                </a:solidFill>
              </a:rPr>
              <a:t>Clarification: Noncompliance implementations does not degrade App performance.</a:t>
            </a:r>
            <a:endParaRPr sz="1200" dirty="0">
              <a:solidFill>
                <a:schemeClr val="dk1"/>
              </a:solidFill>
            </a:endParaRPr>
          </a:p>
        </p:txBody>
      </p:sp>
      <p:sp>
        <p:nvSpPr>
          <p:cNvPr id="3" name="TextBox 2">
            <a:extLst>
              <a:ext uri="{FF2B5EF4-FFF2-40B4-BE49-F238E27FC236}">
                <a16:creationId xmlns:a16="http://schemas.microsoft.com/office/drawing/2014/main" id="{6D8B29E9-3606-7E36-3705-90A5150B4E77}"/>
              </a:ext>
            </a:extLst>
          </p:cNvPr>
          <p:cNvSpPr txBox="1"/>
          <p:nvPr/>
        </p:nvSpPr>
        <p:spPr>
          <a:xfrm>
            <a:off x="1450902" y="2279296"/>
            <a:ext cx="2336171" cy="1169551"/>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tx1"/>
                </a:solidFill>
                <a:latin typeface="Arial"/>
                <a:ea typeface="Arial"/>
                <a:cs typeface="Arial"/>
                <a:sym typeface="Arial"/>
              </a:rPr>
              <a:t>Major RTC applications must support cross-platform voice and video calls between individual users by 2028.</a:t>
            </a:r>
          </a:p>
        </p:txBody>
      </p:sp>
      <p:pic>
        <p:nvPicPr>
          <p:cNvPr id="3078" name="Picture 6" descr="Penalty Vector Thick Line Filled Colors Icon For Personal And Commercial  Use. 28338417 Vector Art at Vecteezy">
            <a:extLst>
              <a:ext uri="{FF2B5EF4-FFF2-40B4-BE49-F238E27FC236}">
                <a16:creationId xmlns:a16="http://schemas.microsoft.com/office/drawing/2014/main" id="{8F3CA81F-4E69-E031-DC2D-CBCFD785AE13}"/>
              </a:ext>
            </a:extLst>
          </p:cNvPr>
          <p:cNvPicPr>
            <a:picLocks noChangeAspect="1" noChangeArrowheads="1"/>
          </p:cNvPicPr>
          <p:nvPr/>
        </p:nvPicPr>
        <p:blipFill>
          <a:blip r:embed="rId5">
            <a:alphaModFix/>
            <a:extLst>
              <a:ext uri="{28A0092B-C50C-407E-A947-70E740481C1C}">
                <a14:useLocalDpi xmlns:a14="http://schemas.microsoft.com/office/drawing/2010/main" val="0"/>
              </a:ext>
            </a:extLst>
          </a:blip>
          <a:srcRect/>
          <a:stretch>
            <a:fillRect/>
          </a:stretch>
        </p:blipFill>
        <p:spPr bwMode="auto">
          <a:xfrm>
            <a:off x="1387367" y="2012531"/>
            <a:ext cx="2367022" cy="23670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fade">
                                      <p:cBhvr>
                                        <p:cTn id="7" dur="500"/>
                                        <p:tgtEl>
                                          <p:spTgt spid="21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307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078"/>
                                        </p:tgtEl>
                                        <p:attrNameLst>
                                          <p:attrName>style.visibility</p:attrName>
                                        </p:attrNameLst>
                                      </p:cBhvr>
                                      <p:to>
                                        <p:strVal val="visible"/>
                                      </p:to>
                                    </p:set>
                                  </p:childTnLst>
                                </p:cTn>
                              </p:par>
                              <p:par>
                                <p:cTn id="16" presetID="26" presetClass="emph" presetSubtype="0" fill="hold" nodeType="withEffect">
                                  <p:stCondLst>
                                    <p:cond delay="0"/>
                                  </p:stCondLst>
                                  <p:childTnLst>
                                    <p:animEffect transition="out" filter="fade">
                                      <p:cBhvr>
                                        <p:cTn id="17" dur="2000" tmFilter="0, 0; .2, .5; .8, .5; 1, 0"/>
                                        <p:tgtEl>
                                          <p:spTgt spid="3078"/>
                                        </p:tgtEl>
                                      </p:cBhvr>
                                    </p:animEffect>
                                    <p:animScale>
                                      <p:cBhvr>
                                        <p:cTn id="18" dur="1000" autoRev="1" fill="hold"/>
                                        <p:tgtEl>
                                          <p:spTgt spid="3078"/>
                                        </p:tgtEl>
                                      </p:cBhvr>
                                      <p:by x="105000" y="105000"/>
                                    </p:animScale>
                                  </p:childTnLst>
                                </p:cTn>
                              </p:par>
                            </p:childTnLst>
                          </p:cTn>
                        </p:par>
                        <p:par>
                          <p:cTn id="19" fill="hold">
                            <p:stCondLst>
                              <p:cond delay="2000"/>
                            </p:stCondLst>
                            <p:childTnLst>
                              <p:par>
                                <p:cTn id="20" presetID="3" presetClass="exit" presetSubtype="10" fill="hold" nodeType="afterEffect">
                                  <p:stCondLst>
                                    <p:cond delay="0"/>
                                  </p:stCondLst>
                                  <p:childTnLst>
                                    <p:animEffect transition="out" filter="blinds(horizontal)">
                                      <p:cBhvr>
                                        <p:cTn id="21" dur="2000"/>
                                        <p:tgtEl>
                                          <p:spTgt spid="3078"/>
                                        </p:tgtEl>
                                      </p:cBhvr>
                                    </p:animEffect>
                                    <p:set>
                                      <p:cBhvr>
                                        <p:cTn id="22" dur="1" fill="hold">
                                          <p:stCondLst>
                                            <p:cond delay="1999"/>
                                          </p:stCondLst>
                                        </p:cTn>
                                        <p:tgtEl>
                                          <p:spTgt spid="307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6"/>
                                        </p:tgtEl>
                                        <p:attrNameLst>
                                          <p:attrName>style.visibility</p:attrName>
                                        </p:attrNameLst>
                                      </p:cBhvr>
                                      <p:to>
                                        <p:strVal val="visible"/>
                                      </p:to>
                                    </p:set>
                                    <p:animEffect transition="in" filter="fade">
                                      <p:cBhvr>
                                        <p:cTn id="27" dur="500"/>
                                        <p:tgtEl>
                                          <p:spTgt spid="20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2"/>
                                        </p:tgtEl>
                                        <p:attrNameLst>
                                          <p:attrName>style.visibility</p:attrName>
                                        </p:attrNameLst>
                                      </p:cBhvr>
                                      <p:to>
                                        <p:strVal val="visible"/>
                                      </p:to>
                                    </p:set>
                                    <p:animEffect transition="in" filter="fade">
                                      <p:cBhvr>
                                        <p:cTn id="32" dur="500"/>
                                        <p:tgtEl>
                                          <p:spTgt spid="2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7"/>
                                        </p:tgtEl>
                                        <p:attrNameLst>
                                          <p:attrName>style.visibility</p:attrName>
                                        </p:attrNameLst>
                                      </p:cBhvr>
                                      <p:to>
                                        <p:strVal val="visible"/>
                                      </p:to>
                                    </p:set>
                                    <p:animEffect transition="in" filter="fade">
                                      <p:cBhvr>
                                        <p:cTn id="37" dur="500"/>
                                        <p:tgtEl>
                                          <p:spTgt spid="207"/>
                                        </p:tgtEl>
                                      </p:cBhvr>
                                    </p:animEffect>
                                  </p:childTnLst>
                                </p:cTn>
                              </p:par>
                              <p:par>
                                <p:cTn id="38" presetID="10" presetClass="entr" presetSubtype="0" fill="hold" nodeType="withEffect">
                                  <p:stCondLst>
                                    <p:cond delay="0"/>
                                  </p:stCondLst>
                                  <p:childTnLst>
                                    <p:set>
                                      <p:cBhvr>
                                        <p:cTn id="39" dur="1" fill="hold">
                                          <p:stCondLst>
                                            <p:cond delay="0"/>
                                          </p:stCondLst>
                                        </p:cTn>
                                        <p:tgtEl>
                                          <p:spTgt spid="209"/>
                                        </p:tgtEl>
                                        <p:attrNameLst>
                                          <p:attrName>style.visibility</p:attrName>
                                        </p:attrNameLst>
                                      </p:cBhvr>
                                      <p:to>
                                        <p:strVal val="visible"/>
                                      </p:to>
                                    </p:set>
                                    <p:animEffect transition="in" filter="fade">
                                      <p:cBhvr>
                                        <p:cTn id="40" dur="500"/>
                                        <p:tgtEl>
                                          <p:spTgt spid="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In this paper we study…</a:t>
            </a:r>
            <a:endParaRPr/>
          </a:p>
        </p:txBody>
      </p:sp>
      <p:sp>
        <p:nvSpPr>
          <p:cNvPr id="219" name="Google Shape;219;p31"/>
          <p:cNvSpPr txBox="1">
            <a:spLocks noGrp="1"/>
          </p:cNvSpPr>
          <p:nvPr>
            <p:ph type="body" idx="1"/>
          </p:nvPr>
        </p:nvSpPr>
        <p:spPr>
          <a:xfrm>
            <a:off x="822826" y="2011680"/>
            <a:ext cx="8520600" cy="2561884"/>
          </a:xfrm>
          <a:prstGeom prst="rect">
            <a:avLst/>
          </a:prstGeom>
          <a:noFill/>
          <a:ln>
            <a:noFill/>
          </a:ln>
        </p:spPr>
        <p:txBody>
          <a:bodyPr spcFirstLastPara="1" wrap="square" lIns="91425" tIns="91425" rIns="91425" bIns="91425" anchor="t" anchorCtr="0">
            <a:normAutofit/>
          </a:bodyPr>
          <a:lstStyle/>
          <a:p>
            <a:pPr marL="114300" lvl="0" indent="0" algn="l" rtl="0">
              <a:lnSpc>
                <a:spcPct val="115000"/>
              </a:lnSpc>
              <a:spcBef>
                <a:spcPts val="0"/>
              </a:spcBef>
              <a:spcAft>
                <a:spcPts val="0"/>
              </a:spcAft>
              <a:buSzPts val="1800"/>
              <a:buNone/>
            </a:pPr>
            <a:r>
              <a:rPr lang="en" dirty="0">
                <a:solidFill>
                  <a:schemeClr val="dk1"/>
                </a:solidFill>
              </a:rPr>
              <a:t>How popular RTC applications implement the RTC protocols</a:t>
            </a:r>
            <a:r>
              <a:rPr lang="zh-CN" altLang="en-US" dirty="0">
                <a:solidFill>
                  <a:schemeClr val="dk1"/>
                </a:solidFill>
              </a:rPr>
              <a:t> </a:t>
            </a:r>
            <a:r>
              <a:rPr lang="en-US" altLang="zh-CN" dirty="0">
                <a:solidFill>
                  <a:schemeClr val="dk1"/>
                </a:solidFill>
              </a:rPr>
              <a:t>differently.</a:t>
            </a:r>
            <a:endParaRPr dirty="0">
              <a:solidFill>
                <a:schemeClr val="dk1"/>
              </a:solidFill>
            </a:endParaRPr>
          </a:p>
        </p:txBody>
      </p:sp>
      <p:sp>
        <p:nvSpPr>
          <p:cNvPr id="220" name="Google Shape;220;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Outline</a:t>
            </a:r>
            <a:endParaRPr/>
          </a:p>
        </p:txBody>
      </p:sp>
      <p:sp>
        <p:nvSpPr>
          <p:cNvPr id="226" name="Google Shape;226;p3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dk1"/>
                </a:solidFill>
              </a:rPr>
              <a:t>Message-level protocol compliance definition</a:t>
            </a:r>
            <a:endParaRPr>
              <a:solidFill>
                <a:schemeClr val="dk1"/>
              </a:solidFill>
            </a:endParaRPr>
          </a:p>
          <a:p>
            <a:pPr marL="457200" lvl="0" indent="-228600" algn="l" rtl="0">
              <a:lnSpc>
                <a:spcPct val="115000"/>
              </a:lnSpc>
              <a:spcBef>
                <a:spcPts val="0"/>
              </a:spcBef>
              <a:spcAft>
                <a:spcPts val="0"/>
              </a:spcAft>
              <a:buSzPts val="1800"/>
              <a:buNone/>
            </a:pPr>
            <a:endParaRPr>
              <a:solidFill>
                <a:srgbClr val="C7C7C7"/>
              </a:solidFill>
            </a:endParaRPr>
          </a:p>
          <a:p>
            <a:pPr marL="457200" lvl="0" indent="-342900" algn="l" rtl="0">
              <a:lnSpc>
                <a:spcPct val="115000"/>
              </a:lnSpc>
              <a:spcBef>
                <a:spcPts val="0"/>
              </a:spcBef>
              <a:spcAft>
                <a:spcPts val="0"/>
              </a:spcAft>
              <a:buSzPts val="1800"/>
              <a:buChar char="●"/>
            </a:pPr>
            <a:r>
              <a:rPr lang="en">
                <a:solidFill>
                  <a:srgbClr val="C7C7C7"/>
                </a:solidFill>
              </a:rPr>
              <a:t>RTC calling traffic collection &amp; Message extraction</a:t>
            </a:r>
            <a:endParaRPr/>
          </a:p>
          <a:p>
            <a:pPr marL="457200" lvl="0" indent="-228600" algn="l" rtl="0">
              <a:lnSpc>
                <a:spcPct val="115000"/>
              </a:lnSpc>
              <a:spcBef>
                <a:spcPts val="0"/>
              </a:spcBef>
              <a:spcAft>
                <a:spcPts val="0"/>
              </a:spcAft>
              <a:buSzPts val="1800"/>
              <a:buFont typeface="Arial"/>
              <a:buNone/>
            </a:pPr>
            <a:endParaRPr>
              <a:solidFill>
                <a:srgbClr val="C7C7C7"/>
              </a:solidFill>
            </a:endParaRPr>
          </a:p>
          <a:p>
            <a:pPr marL="457200" lvl="0" indent="-342900" algn="l" rtl="0">
              <a:lnSpc>
                <a:spcPct val="115000"/>
              </a:lnSpc>
              <a:spcBef>
                <a:spcPts val="0"/>
              </a:spcBef>
              <a:spcAft>
                <a:spcPts val="0"/>
              </a:spcAft>
              <a:buSzPts val="1800"/>
              <a:buFont typeface="Arial"/>
              <a:buChar char="●"/>
            </a:pPr>
            <a:r>
              <a:rPr lang="en">
                <a:solidFill>
                  <a:srgbClr val="C7C7C7"/>
                </a:solidFill>
              </a:rPr>
              <a:t>Quantitative analysis results on collected traffic</a:t>
            </a:r>
            <a:endParaRPr/>
          </a:p>
          <a:p>
            <a:pPr marL="457200" lvl="0" indent="-228600" algn="l" rtl="0">
              <a:lnSpc>
                <a:spcPct val="115000"/>
              </a:lnSpc>
              <a:spcBef>
                <a:spcPts val="0"/>
              </a:spcBef>
              <a:spcAft>
                <a:spcPts val="0"/>
              </a:spcAft>
              <a:buSzPts val="1800"/>
              <a:buNone/>
            </a:pPr>
            <a:endParaRPr>
              <a:solidFill>
                <a:srgbClr val="C7C7C7"/>
              </a:solidFill>
            </a:endParaRPr>
          </a:p>
          <a:p>
            <a:pPr marL="457200" lvl="0" indent="-342900" algn="l" rtl="0">
              <a:lnSpc>
                <a:spcPct val="115000"/>
              </a:lnSpc>
              <a:spcBef>
                <a:spcPts val="0"/>
              </a:spcBef>
              <a:spcAft>
                <a:spcPts val="0"/>
              </a:spcAft>
              <a:buSzPts val="1800"/>
              <a:buChar char="●"/>
            </a:pPr>
            <a:r>
              <a:rPr lang="en">
                <a:solidFill>
                  <a:srgbClr val="C7C7C7"/>
                </a:solidFill>
              </a:rPr>
              <a:t>Case studies</a:t>
            </a:r>
            <a:endParaRPr/>
          </a:p>
          <a:p>
            <a:pPr marL="457200" lvl="0" indent="-228600" algn="l" rtl="0">
              <a:lnSpc>
                <a:spcPct val="115000"/>
              </a:lnSpc>
              <a:spcBef>
                <a:spcPts val="0"/>
              </a:spcBef>
              <a:spcAft>
                <a:spcPts val="0"/>
              </a:spcAft>
              <a:buSzPts val="1800"/>
              <a:buNone/>
            </a:pPr>
            <a:endParaRPr>
              <a:solidFill>
                <a:schemeClr val="dk1"/>
              </a:solidFill>
            </a:endParaRPr>
          </a:p>
        </p:txBody>
      </p:sp>
      <p:sp>
        <p:nvSpPr>
          <p:cNvPr id="227" name="Google Shape;227;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Message-level measurement</a:t>
            </a:r>
            <a:endParaRPr/>
          </a:p>
        </p:txBody>
      </p:sp>
      <p:sp>
        <p:nvSpPr>
          <p:cNvPr id="233" name="Google Shape;233;p33"/>
          <p:cNvSpPr/>
          <p:nvPr/>
        </p:nvSpPr>
        <p:spPr>
          <a:xfrm>
            <a:off x="1430215" y="2429022"/>
            <a:ext cx="7010400" cy="361070"/>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4" name="Google Shape;234;p33"/>
          <p:cNvSpPr txBox="1"/>
          <p:nvPr/>
        </p:nvSpPr>
        <p:spPr>
          <a:xfrm>
            <a:off x="365760" y="2455668"/>
            <a:ext cx="9316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IP packet</a:t>
            </a:r>
            <a:endParaRPr sz="1400" b="0" i="0" u="none" strike="noStrike" cap="none">
              <a:solidFill>
                <a:srgbClr val="000000"/>
              </a:solidFill>
              <a:latin typeface="Arial"/>
              <a:ea typeface="Arial"/>
              <a:cs typeface="Arial"/>
              <a:sym typeface="Arial"/>
            </a:endParaRPr>
          </a:p>
        </p:txBody>
      </p:sp>
      <p:sp>
        <p:nvSpPr>
          <p:cNvPr id="235" name="Google Shape;235;p33"/>
          <p:cNvSpPr txBox="1"/>
          <p:nvPr/>
        </p:nvSpPr>
        <p:spPr>
          <a:xfrm>
            <a:off x="5176911" y="2053870"/>
            <a:ext cx="136928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UDP datagram</a:t>
            </a:r>
            <a:endParaRPr sz="1400" b="0" i="0" u="none" strike="noStrike" cap="none">
              <a:solidFill>
                <a:srgbClr val="000000"/>
              </a:solidFill>
              <a:latin typeface="Arial"/>
              <a:ea typeface="Arial"/>
              <a:cs typeface="Arial"/>
              <a:sym typeface="Arial"/>
            </a:endParaRPr>
          </a:p>
        </p:txBody>
      </p:sp>
      <p:sp>
        <p:nvSpPr>
          <p:cNvPr id="236" name="Google Shape;236;p33"/>
          <p:cNvSpPr/>
          <p:nvPr/>
        </p:nvSpPr>
        <p:spPr>
          <a:xfrm>
            <a:off x="3308252" y="2492082"/>
            <a:ext cx="1788942" cy="234948"/>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7" name="Google Shape;237;p33"/>
          <p:cNvSpPr/>
          <p:nvPr/>
        </p:nvSpPr>
        <p:spPr>
          <a:xfrm>
            <a:off x="5176911" y="2492082"/>
            <a:ext cx="3193366" cy="234948"/>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8" name="Google Shape;238;p33"/>
          <p:cNvSpPr/>
          <p:nvPr/>
        </p:nvSpPr>
        <p:spPr>
          <a:xfrm>
            <a:off x="3240257" y="2429022"/>
            <a:ext cx="5200357" cy="361070"/>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39" name="Google Shape;239;p33"/>
          <p:cNvSpPr txBox="1"/>
          <p:nvPr/>
        </p:nvSpPr>
        <p:spPr>
          <a:xfrm>
            <a:off x="3478005" y="2853152"/>
            <a:ext cx="144943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STUN message</a:t>
            </a:r>
            <a:endParaRPr sz="1400" b="0" i="0" u="none" strike="noStrike" cap="none">
              <a:solidFill>
                <a:srgbClr val="000000"/>
              </a:solidFill>
              <a:latin typeface="Arial"/>
              <a:ea typeface="Arial"/>
              <a:cs typeface="Arial"/>
              <a:sym typeface="Arial"/>
            </a:endParaRPr>
          </a:p>
        </p:txBody>
      </p:sp>
      <p:sp>
        <p:nvSpPr>
          <p:cNvPr id="240" name="Google Shape;240;p33"/>
          <p:cNvSpPr txBox="1"/>
          <p:nvPr/>
        </p:nvSpPr>
        <p:spPr>
          <a:xfrm>
            <a:off x="6155152" y="2860675"/>
            <a:ext cx="131959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RTP message</a:t>
            </a:r>
            <a:endParaRPr sz="1400" b="0" i="0" u="none" strike="noStrike" cap="none">
              <a:solidFill>
                <a:srgbClr val="000000"/>
              </a:solidFill>
              <a:latin typeface="Arial"/>
              <a:ea typeface="Arial"/>
              <a:cs typeface="Arial"/>
              <a:sym typeface="Arial"/>
            </a:endParaRPr>
          </a:p>
        </p:txBody>
      </p:sp>
      <p:cxnSp>
        <p:nvCxnSpPr>
          <p:cNvPr id="241" name="Google Shape;241;p33"/>
          <p:cNvCxnSpPr/>
          <p:nvPr/>
        </p:nvCxnSpPr>
        <p:spPr>
          <a:xfrm rot="10800000" flipH="1">
            <a:off x="3240257" y="2288345"/>
            <a:ext cx="454857" cy="140677"/>
          </a:xfrm>
          <a:prstGeom prst="straightConnector1">
            <a:avLst/>
          </a:prstGeom>
          <a:noFill/>
          <a:ln w="9525" cap="flat" cmpd="sng">
            <a:solidFill>
              <a:schemeClr val="dk1"/>
            </a:solidFill>
            <a:prstDash val="solid"/>
            <a:round/>
            <a:headEnd type="none" w="sm" len="sm"/>
            <a:tailEnd type="none" w="sm" len="sm"/>
          </a:ln>
        </p:spPr>
      </p:cxnSp>
      <p:cxnSp>
        <p:nvCxnSpPr>
          <p:cNvPr id="242" name="Google Shape;242;p33"/>
          <p:cNvCxnSpPr/>
          <p:nvPr/>
        </p:nvCxnSpPr>
        <p:spPr>
          <a:xfrm>
            <a:off x="7943557" y="2279341"/>
            <a:ext cx="501746" cy="144992"/>
          </a:xfrm>
          <a:prstGeom prst="straightConnector1">
            <a:avLst/>
          </a:prstGeom>
          <a:noFill/>
          <a:ln w="9525" cap="flat" cmpd="sng">
            <a:solidFill>
              <a:schemeClr val="dk1"/>
            </a:solidFill>
            <a:prstDash val="solid"/>
            <a:round/>
            <a:headEnd type="none" w="sm" len="sm"/>
            <a:tailEnd type="none" w="sm" len="sm"/>
          </a:ln>
        </p:spPr>
      </p:cxnSp>
      <p:sp>
        <p:nvSpPr>
          <p:cNvPr id="243" name="Google Shape;243;p33"/>
          <p:cNvSpPr txBox="1"/>
          <p:nvPr/>
        </p:nvSpPr>
        <p:spPr>
          <a:xfrm>
            <a:off x="726517" y="3645701"/>
            <a:ext cx="726673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Message is a complete application protocol data unit, consisting of a header and payload.</a:t>
            </a:r>
            <a:endParaRPr sz="1400" b="0" i="0" u="none" strike="noStrike" cap="none">
              <a:solidFill>
                <a:srgbClr val="000000"/>
              </a:solidFill>
              <a:latin typeface="Arial"/>
              <a:ea typeface="Arial"/>
              <a:cs typeface="Arial"/>
              <a:sym typeface="Arial"/>
            </a:endParaRPr>
          </a:p>
        </p:txBody>
      </p:sp>
      <p:sp>
        <p:nvSpPr>
          <p:cNvPr id="244" name="Google Shape;244;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4"/>
          <p:cNvSpPr/>
          <p:nvPr/>
        </p:nvSpPr>
        <p:spPr>
          <a:xfrm>
            <a:off x="5266006" y="1636736"/>
            <a:ext cx="3763525" cy="2874304"/>
          </a:xfrm>
          <a:prstGeom prst="roundRect">
            <a:avLst>
              <a:gd name="adj" fmla="val 16667"/>
            </a:avLst>
          </a:prstGeom>
          <a:solidFill>
            <a:schemeClr val="lt2"/>
          </a:solidFill>
          <a:ln w="9525" cap="flat" cmpd="sng">
            <a:solidFill>
              <a:schemeClr val="dk2"/>
            </a:solidFill>
            <a:prstDash val="solid"/>
            <a:round/>
            <a:headEnd type="none" w="sm" len="sm"/>
            <a:tailEnd type="none" w="sm" len="sm"/>
          </a:ln>
          <a:effectLst>
            <a:outerShdw blurRad="57150" dist="19050" dir="5400000" algn="bl" rotWithShape="0">
              <a:schemeClr val="lt1">
                <a:alpha val="31372"/>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3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Determine compliance of a message</a:t>
            </a:r>
            <a:endParaRPr/>
          </a:p>
        </p:txBody>
      </p:sp>
      <p:pic>
        <p:nvPicPr>
          <p:cNvPr id="252" name="Google Shape;252;p34"/>
          <p:cNvPicPr preferRelativeResize="0"/>
          <p:nvPr/>
        </p:nvPicPr>
        <p:blipFill rotWithShape="1">
          <a:blip r:embed="rId3">
            <a:alphaModFix/>
          </a:blip>
          <a:srcRect/>
          <a:stretch/>
        </p:blipFill>
        <p:spPr>
          <a:xfrm>
            <a:off x="7610631" y="1772762"/>
            <a:ext cx="885774" cy="885776"/>
          </a:xfrm>
          <a:prstGeom prst="rect">
            <a:avLst/>
          </a:prstGeom>
          <a:noFill/>
          <a:ln>
            <a:noFill/>
          </a:ln>
        </p:spPr>
      </p:pic>
      <p:sp>
        <p:nvSpPr>
          <p:cNvPr id="253" name="Google Shape;253;p34"/>
          <p:cNvSpPr txBox="1"/>
          <p:nvPr/>
        </p:nvSpPr>
        <p:spPr>
          <a:xfrm>
            <a:off x="5626478" y="2699700"/>
            <a:ext cx="1103705"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chemeClr val="dk2"/>
                </a:solidFill>
                <a:latin typeface="Arial"/>
                <a:ea typeface="Arial"/>
                <a:cs typeface="Arial"/>
                <a:sym typeface="Arial"/>
              </a:rPr>
              <a:t>IETF RFC</a:t>
            </a:r>
            <a:endParaRPr sz="1600" b="0" i="0" u="none" strike="noStrike" cap="none">
              <a:solidFill>
                <a:schemeClr val="dk2"/>
              </a:solidFill>
              <a:latin typeface="Arial"/>
              <a:ea typeface="Arial"/>
              <a:cs typeface="Arial"/>
              <a:sym typeface="Arial"/>
            </a:endParaRPr>
          </a:p>
        </p:txBody>
      </p:sp>
      <p:sp>
        <p:nvSpPr>
          <p:cNvPr id="254" name="Google Shape;254;p34"/>
          <p:cNvSpPr txBox="1"/>
          <p:nvPr/>
        </p:nvSpPr>
        <p:spPr>
          <a:xfrm>
            <a:off x="7205269" y="2699700"/>
            <a:ext cx="1696500" cy="67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dk2"/>
                </a:solidFill>
                <a:latin typeface="Arial"/>
                <a:ea typeface="Arial"/>
                <a:cs typeface="Arial"/>
                <a:sym typeface="Arial"/>
              </a:rPr>
              <a:t>WebRTC documentation</a:t>
            </a:r>
            <a:endParaRPr sz="1600" b="0" i="0" u="none" strike="noStrike" cap="none">
              <a:solidFill>
                <a:schemeClr val="dk2"/>
              </a:solidFill>
              <a:latin typeface="Arial"/>
              <a:ea typeface="Arial"/>
              <a:cs typeface="Arial"/>
              <a:sym typeface="Arial"/>
            </a:endParaRPr>
          </a:p>
        </p:txBody>
      </p:sp>
      <p:sp>
        <p:nvSpPr>
          <p:cNvPr id="255" name="Google Shape;255;p34"/>
          <p:cNvSpPr txBox="1"/>
          <p:nvPr/>
        </p:nvSpPr>
        <p:spPr>
          <a:xfrm>
            <a:off x="5626478" y="1085329"/>
            <a:ext cx="3152523"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Public protocol specifications</a:t>
            </a:r>
            <a:endParaRPr sz="1800" b="0" i="0" u="none" strike="noStrike" cap="none">
              <a:solidFill>
                <a:schemeClr val="dk2"/>
              </a:solidFill>
              <a:latin typeface="Arial"/>
              <a:ea typeface="Arial"/>
              <a:cs typeface="Arial"/>
              <a:sym typeface="Arial"/>
            </a:endParaRPr>
          </a:p>
        </p:txBody>
      </p:sp>
      <p:sp>
        <p:nvSpPr>
          <p:cNvPr id="256" name="Google Shape;256;p34"/>
          <p:cNvSpPr txBox="1"/>
          <p:nvPr/>
        </p:nvSpPr>
        <p:spPr>
          <a:xfrm>
            <a:off x="3584511" y="1762946"/>
            <a:ext cx="1389565" cy="4616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If all follows</a:t>
            </a:r>
            <a:endParaRPr sz="1800" b="0" i="0" u="none" strike="noStrike" cap="none">
              <a:solidFill>
                <a:schemeClr val="dk2"/>
              </a:solidFill>
              <a:latin typeface="Arial"/>
              <a:ea typeface="Arial"/>
              <a:cs typeface="Arial"/>
              <a:sym typeface="Arial"/>
            </a:endParaRPr>
          </a:p>
        </p:txBody>
      </p:sp>
      <p:sp>
        <p:nvSpPr>
          <p:cNvPr id="257" name="Google Shape;257;p34"/>
          <p:cNvSpPr txBox="1"/>
          <p:nvPr/>
        </p:nvSpPr>
        <p:spPr>
          <a:xfrm>
            <a:off x="3333822" y="2938259"/>
            <a:ext cx="1890942" cy="4616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If any not follows</a:t>
            </a:r>
            <a:endParaRPr sz="1800" b="0" i="0" u="none" strike="noStrike" cap="none">
              <a:solidFill>
                <a:schemeClr val="dk2"/>
              </a:solidFill>
              <a:latin typeface="Arial"/>
              <a:ea typeface="Arial"/>
              <a:cs typeface="Arial"/>
              <a:sym typeface="Arial"/>
            </a:endParaRPr>
          </a:p>
        </p:txBody>
      </p:sp>
      <p:sp>
        <p:nvSpPr>
          <p:cNvPr id="258" name="Google Shape;258;p34"/>
          <p:cNvSpPr txBox="1"/>
          <p:nvPr/>
        </p:nvSpPr>
        <p:spPr>
          <a:xfrm>
            <a:off x="394771" y="1301311"/>
            <a:ext cx="2606337" cy="461635"/>
          </a:xfrm>
          <a:prstGeom prst="rect">
            <a:avLst/>
          </a:prstGeom>
          <a:solidFill>
            <a:schemeClr val="accent1">
              <a:alpha val="19215"/>
            </a:schemeClr>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Message type definition</a:t>
            </a:r>
            <a:endParaRPr sz="1800" b="0" i="0" u="none" strike="noStrike" cap="none">
              <a:solidFill>
                <a:schemeClr val="dk2"/>
              </a:solidFill>
              <a:latin typeface="Arial"/>
              <a:ea typeface="Arial"/>
              <a:cs typeface="Arial"/>
              <a:sym typeface="Arial"/>
            </a:endParaRPr>
          </a:p>
        </p:txBody>
      </p:sp>
      <p:sp>
        <p:nvSpPr>
          <p:cNvPr id="259" name="Google Shape;259;p34"/>
          <p:cNvSpPr txBox="1"/>
          <p:nvPr/>
        </p:nvSpPr>
        <p:spPr>
          <a:xfrm>
            <a:off x="394771" y="1955426"/>
            <a:ext cx="2339065" cy="461635"/>
          </a:xfrm>
          <a:prstGeom prst="rect">
            <a:avLst/>
          </a:prstGeom>
          <a:solidFill>
            <a:schemeClr val="accent1">
              <a:alpha val="19215"/>
            </a:schemeClr>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Header Field Validity</a:t>
            </a:r>
            <a:endParaRPr sz="1800" b="0" i="0" u="none" strike="noStrike" cap="none">
              <a:solidFill>
                <a:schemeClr val="dk2"/>
              </a:solidFill>
              <a:latin typeface="Arial"/>
              <a:ea typeface="Arial"/>
              <a:cs typeface="Arial"/>
              <a:sym typeface="Arial"/>
            </a:endParaRPr>
          </a:p>
        </p:txBody>
      </p:sp>
      <p:sp>
        <p:nvSpPr>
          <p:cNvPr id="260" name="Google Shape;260;p34"/>
          <p:cNvSpPr txBox="1"/>
          <p:nvPr/>
        </p:nvSpPr>
        <p:spPr>
          <a:xfrm>
            <a:off x="394775" y="2609550"/>
            <a:ext cx="2503200" cy="461700"/>
          </a:xfrm>
          <a:prstGeom prst="rect">
            <a:avLst/>
          </a:prstGeom>
          <a:solidFill>
            <a:schemeClr val="accent1">
              <a:alpha val="19215"/>
            </a:schemeClr>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Attribute Type Validity</a:t>
            </a:r>
            <a:endParaRPr sz="1800" b="0" i="0" u="none" strike="noStrike" cap="none">
              <a:solidFill>
                <a:schemeClr val="dk2"/>
              </a:solidFill>
              <a:latin typeface="Arial"/>
              <a:ea typeface="Arial"/>
              <a:cs typeface="Arial"/>
              <a:sym typeface="Arial"/>
            </a:endParaRPr>
          </a:p>
        </p:txBody>
      </p:sp>
      <p:sp>
        <p:nvSpPr>
          <p:cNvPr id="261" name="Google Shape;261;p34"/>
          <p:cNvSpPr txBox="1"/>
          <p:nvPr/>
        </p:nvSpPr>
        <p:spPr>
          <a:xfrm>
            <a:off x="394771" y="3263656"/>
            <a:ext cx="2503174" cy="461635"/>
          </a:xfrm>
          <a:prstGeom prst="rect">
            <a:avLst/>
          </a:prstGeom>
          <a:solidFill>
            <a:schemeClr val="accent1">
              <a:alpha val="19215"/>
            </a:schemeClr>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Attribute Value Validity</a:t>
            </a:r>
            <a:endParaRPr sz="1800" b="0" i="0" u="none" strike="noStrike" cap="none">
              <a:solidFill>
                <a:schemeClr val="dk2"/>
              </a:solidFill>
              <a:latin typeface="Arial"/>
              <a:ea typeface="Arial"/>
              <a:cs typeface="Arial"/>
              <a:sym typeface="Arial"/>
            </a:endParaRPr>
          </a:p>
        </p:txBody>
      </p:sp>
      <p:sp>
        <p:nvSpPr>
          <p:cNvPr id="262" name="Google Shape;262;p34"/>
          <p:cNvSpPr txBox="1"/>
          <p:nvPr/>
        </p:nvSpPr>
        <p:spPr>
          <a:xfrm>
            <a:off x="394771" y="3917771"/>
            <a:ext cx="3014300" cy="461635"/>
          </a:xfrm>
          <a:prstGeom prst="rect">
            <a:avLst/>
          </a:prstGeom>
          <a:solidFill>
            <a:schemeClr val="accent1">
              <a:alpha val="19215"/>
            </a:schemeClr>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2"/>
                </a:solidFill>
                <a:latin typeface="Arial"/>
                <a:ea typeface="Arial"/>
                <a:cs typeface="Arial"/>
                <a:sym typeface="Arial"/>
              </a:rPr>
              <a:t>Syntax &amp; Semantic Integrity</a:t>
            </a:r>
            <a:endParaRPr sz="1800" b="0" i="0" u="none" strike="noStrike" cap="none">
              <a:solidFill>
                <a:schemeClr val="dk2"/>
              </a:solidFill>
              <a:latin typeface="Arial"/>
              <a:ea typeface="Arial"/>
              <a:cs typeface="Arial"/>
              <a:sym typeface="Arial"/>
            </a:endParaRPr>
          </a:p>
        </p:txBody>
      </p:sp>
      <p:sp>
        <p:nvSpPr>
          <p:cNvPr id="263" name="Google Shape;263;p34"/>
          <p:cNvSpPr/>
          <p:nvPr/>
        </p:nvSpPr>
        <p:spPr>
          <a:xfrm>
            <a:off x="3638843" y="2224581"/>
            <a:ext cx="1335233" cy="45719"/>
          </a:xfrm>
          <a:prstGeom prst="right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64" name="Google Shape;264;p34"/>
          <p:cNvSpPr/>
          <p:nvPr/>
        </p:nvSpPr>
        <p:spPr>
          <a:xfrm>
            <a:off x="3638843" y="3410415"/>
            <a:ext cx="1335233" cy="45719"/>
          </a:xfrm>
          <a:prstGeom prst="right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65" name="Google Shape;265;p34"/>
          <p:cNvSpPr txBox="1"/>
          <p:nvPr/>
        </p:nvSpPr>
        <p:spPr>
          <a:xfrm>
            <a:off x="3653719" y="2270300"/>
            <a:ext cx="1335188" cy="4616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92D050"/>
                </a:solidFill>
                <a:latin typeface="Arial"/>
                <a:ea typeface="Arial"/>
                <a:cs typeface="Arial"/>
                <a:sym typeface="Arial"/>
              </a:rPr>
              <a:t>Compliant</a:t>
            </a:r>
            <a:endParaRPr sz="1800" b="1" i="0" u="none" strike="noStrike" cap="none">
              <a:solidFill>
                <a:srgbClr val="92D050"/>
              </a:solidFill>
              <a:latin typeface="Arial"/>
              <a:ea typeface="Arial"/>
              <a:cs typeface="Arial"/>
              <a:sym typeface="Arial"/>
            </a:endParaRPr>
          </a:p>
        </p:txBody>
      </p:sp>
      <p:sp>
        <p:nvSpPr>
          <p:cNvPr id="266" name="Google Shape;266;p34"/>
          <p:cNvSpPr txBox="1"/>
          <p:nvPr/>
        </p:nvSpPr>
        <p:spPr>
          <a:xfrm>
            <a:off x="3453375" y="3434317"/>
            <a:ext cx="1771389" cy="4616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FF0000"/>
                </a:solidFill>
                <a:latin typeface="Arial"/>
                <a:ea typeface="Arial"/>
                <a:cs typeface="Arial"/>
                <a:sym typeface="Arial"/>
              </a:rPr>
              <a:t>Noncompliant</a:t>
            </a:r>
            <a:endParaRPr sz="1800" b="1" i="0" u="none" strike="noStrike" cap="none">
              <a:solidFill>
                <a:srgbClr val="FF0000"/>
              </a:solidFill>
              <a:latin typeface="Arial"/>
              <a:ea typeface="Arial"/>
              <a:cs typeface="Arial"/>
              <a:sym typeface="Arial"/>
            </a:endParaRPr>
          </a:p>
        </p:txBody>
      </p:sp>
      <p:pic>
        <p:nvPicPr>
          <p:cNvPr id="267" name="Google Shape;267;p34" descr="IETF | IETF Acronym and Logo"/>
          <p:cNvPicPr preferRelativeResize="0"/>
          <p:nvPr/>
        </p:nvPicPr>
        <p:blipFill rotWithShape="1">
          <a:blip r:embed="rId4">
            <a:alphaModFix/>
          </a:blip>
          <a:srcRect/>
          <a:stretch/>
        </p:blipFill>
        <p:spPr>
          <a:xfrm>
            <a:off x="5562867" y="1919022"/>
            <a:ext cx="1282975" cy="676780"/>
          </a:xfrm>
          <a:prstGeom prst="rect">
            <a:avLst/>
          </a:prstGeom>
          <a:noFill/>
          <a:ln>
            <a:noFill/>
          </a:ln>
        </p:spPr>
      </p:pic>
      <p:sp>
        <p:nvSpPr>
          <p:cNvPr id="268" name="Google Shape;268;p34"/>
          <p:cNvSpPr txBox="1"/>
          <p:nvPr/>
        </p:nvSpPr>
        <p:spPr>
          <a:xfrm>
            <a:off x="5777132" y="4077633"/>
            <a:ext cx="2891496" cy="430857"/>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dirty="0">
                <a:solidFill>
                  <a:schemeClr val="dk2"/>
                </a:solidFill>
                <a:latin typeface="Arial"/>
                <a:ea typeface="Arial"/>
                <a:cs typeface="Arial"/>
                <a:sym typeface="Arial"/>
              </a:rPr>
              <a:t>IANA</a:t>
            </a:r>
            <a:endParaRPr sz="1600" b="0" i="0" u="none" strike="noStrike" cap="none" dirty="0">
              <a:solidFill>
                <a:schemeClr val="dk2"/>
              </a:solidFill>
              <a:latin typeface="Arial"/>
              <a:ea typeface="Arial"/>
              <a:cs typeface="Arial"/>
              <a:sym typeface="Arial"/>
            </a:endParaRPr>
          </a:p>
        </p:txBody>
      </p:sp>
      <p:sp>
        <p:nvSpPr>
          <p:cNvPr id="269" name="Google Shape;26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9</a:t>
            </a:fld>
            <a:endParaRPr/>
          </a:p>
        </p:txBody>
      </p:sp>
      <p:pic>
        <p:nvPicPr>
          <p:cNvPr id="1026" name="Picture 2" descr="IANA Transition - Internet Society">
            <a:extLst>
              <a:ext uri="{FF2B5EF4-FFF2-40B4-BE49-F238E27FC236}">
                <a16:creationId xmlns:a16="http://schemas.microsoft.com/office/drawing/2014/main" id="{245E3FD5-D84A-8E76-4507-4F127EDEA9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8010" y="3388787"/>
            <a:ext cx="1647111" cy="6862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8"/>
                                        </p:tgtEl>
                                        <p:attrNameLst>
                                          <p:attrName>style.visibility</p:attrName>
                                        </p:attrNameLst>
                                      </p:cBhvr>
                                      <p:to>
                                        <p:strVal val="visible"/>
                                      </p:to>
                                    </p:set>
                                    <p:animEffect transition="in" filter="fade">
                                      <p:cBhvr>
                                        <p:cTn id="7" dur="500"/>
                                        <p:tgtEl>
                                          <p:spTgt spid="258"/>
                                        </p:tgtEl>
                                      </p:cBhvr>
                                    </p:animEffect>
                                  </p:childTnLst>
                                </p:cTn>
                              </p:par>
                              <p:par>
                                <p:cTn id="8" presetID="10" presetClass="entr" presetSubtype="0" fill="hold" nodeType="withEffect">
                                  <p:stCondLst>
                                    <p:cond delay="0"/>
                                  </p:stCondLst>
                                  <p:childTnLst>
                                    <p:set>
                                      <p:cBhvr>
                                        <p:cTn id="9" dur="1" fill="hold">
                                          <p:stCondLst>
                                            <p:cond delay="0"/>
                                          </p:stCondLst>
                                        </p:cTn>
                                        <p:tgtEl>
                                          <p:spTgt spid="259"/>
                                        </p:tgtEl>
                                        <p:attrNameLst>
                                          <p:attrName>style.visibility</p:attrName>
                                        </p:attrNameLst>
                                      </p:cBhvr>
                                      <p:to>
                                        <p:strVal val="visible"/>
                                      </p:to>
                                    </p:set>
                                    <p:animEffect transition="in" filter="fade">
                                      <p:cBhvr>
                                        <p:cTn id="10" dur="500"/>
                                        <p:tgtEl>
                                          <p:spTgt spid="259"/>
                                        </p:tgtEl>
                                      </p:cBhvr>
                                    </p:animEffect>
                                  </p:childTnLst>
                                </p:cTn>
                              </p:par>
                              <p:par>
                                <p:cTn id="11" presetID="10" presetClass="entr" presetSubtype="0" fill="hold" nodeType="withEffect">
                                  <p:stCondLst>
                                    <p:cond delay="0"/>
                                  </p:stCondLst>
                                  <p:childTnLst>
                                    <p:set>
                                      <p:cBhvr>
                                        <p:cTn id="12" dur="1" fill="hold">
                                          <p:stCondLst>
                                            <p:cond delay="0"/>
                                          </p:stCondLst>
                                        </p:cTn>
                                        <p:tgtEl>
                                          <p:spTgt spid="260"/>
                                        </p:tgtEl>
                                        <p:attrNameLst>
                                          <p:attrName>style.visibility</p:attrName>
                                        </p:attrNameLst>
                                      </p:cBhvr>
                                      <p:to>
                                        <p:strVal val="visible"/>
                                      </p:to>
                                    </p:set>
                                    <p:animEffect transition="in" filter="fade">
                                      <p:cBhvr>
                                        <p:cTn id="13" dur="500"/>
                                        <p:tgtEl>
                                          <p:spTgt spid="260"/>
                                        </p:tgtEl>
                                      </p:cBhvr>
                                    </p:animEffect>
                                  </p:childTnLst>
                                </p:cTn>
                              </p:par>
                              <p:par>
                                <p:cTn id="14" presetID="10" presetClass="entr" presetSubtype="0" fill="hold" nodeType="withEffect">
                                  <p:stCondLst>
                                    <p:cond delay="0"/>
                                  </p:stCondLst>
                                  <p:childTnLst>
                                    <p:set>
                                      <p:cBhvr>
                                        <p:cTn id="15" dur="1" fill="hold">
                                          <p:stCondLst>
                                            <p:cond delay="0"/>
                                          </p:stCondLst>
                                        </p:cTn>
                                        <p:tgtEl>
                                          <p:spTgt spid="261"/>
                                        </p:tgtEl>
                                        <p:attrNameLst>
                                          <p:attrName>style.visibility</p:attrName>
                                        </p:attrNameLst>
                                      </p:cBhvr>
                                      <p:to>
                                        <p:strVal val="visible"/>
                                      </p:to>
                                    </p:set>
                                    <p:animEffect transition="in" filter="fade">
                                      <p:cBhvr>
                                        <p:cTn id="16" dur="500"/>
                                        <p:tgtEl>
                                          <p:spTgt spid="261"/>
                                        </p:tgtEl>
                                      </p:cBhvr>
                                    </p:animEffect>
                                  </p:childTnLst>
                                </p:cTn>
                              </p:par>
                              <p:par>
                                <p:cTn id="17" presetID="10" presetClass="entr" presetSubtype="0" fill="hold" nodeType="withEffect">
                                  <p:stCondLst>
                                    <p:cond delay="0"/>
                                  </p:stCondLst>
                                  <p:childTnLst>
                                    <p:set>
                                      <p:cBhvr>
                                        <p:cTn id="18" dur="1" fill="hold">
                                          <p:stCondLst>
                                            <p:cond delay="0"/>
                                          </p:stCondLst>
                                        </p:cTn>
                                        <p:tgtEl>
                                          <p:spTgt spid="262"/>
                                        </p:tgtEl>
                                        <p:attrNameLst>
                                          <p:attrName>style.visibility</p:attrName>
                                        </p:attrNameLst>
                                      </p:cBhvr>
                                      <p:to>
                                        <p:strVal val="visible"/>
                                      </p:to>
                                    </p:set>
                                    <p:animEffect transition="in" filter="fade">
                                      <p:cBhvr>
                                        <p:cTn id="19" dur="500"/>
                                        <p:tgtEl>
                                          <p:spTgt spid="26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49"/>
                                        </p:tgtEl>
                                        <p:attrNameLst>
                                          <p:attrName>style.visibility</p:attrName>
                                        </p:attrNameLst>
                                      </p:cBhvr>
                                      <p:to>
                                        <p:strVal val="visible"/>
                                      </p:to>
                                    </p:set>
                                    <p:animEffect transition="in" filter="fade">
                                      <p:cBhvr>
                                        <p:cTn id="24" dur="500"/>
                                        <p:tgtEl>
                                          <p:spTgt spid="249"/>
                                        </p:tgtEl>
                                      </p:cBhvr>
                                    </p:animEffect>
                                  </p:childTnLst>
                                </p:cTn>
                              </p:par>
                              <p:par>
                                <p:cTn id="25" presetID="10" presetClass="entr" presetSubtype="0" fill="hold" nodeType="withEffect">
                                  <p:stCondLst>
                                    <p:cond delay="0"/>
                                  </p:stCondLst>
                                  <p:childTnLst>
                                    <p:set>
                                      <p:cBhvr>
                                        <p:cTn id="26" dur="1" fill="hold">
                                          <p:stCondLst>
                                            <p:cond delay="0"/>
                                          </p:stCondLst>
                                        </p:cTn>
                                        <p:tgtEl>
                                          <p:spTgt spid="252"/>
                                        </p:tgtEl>
                                        <p:attrNameLst>
                                          <p:attrName>style.visibility</p:attrName>
                                        </p:attrNameLst>
                                      </p:cBhvr>
                                      <p:to>
                                        <p:strVal val="visible"/>
                                      </p:to>
                                    </p:set>
                                    <p:animEffect transition="in" filter="fade">
                                      <p:cBhvr>
                                        <p:cTn id="27" dur="500"/>
                                        <p:tgtEl>
                                          <p:spTgt spid="252"/>
                                        </p:tgtEl>
                                      </p:cBhvr>
                                    </p:animEffect>
                                  </p:childTnLst>
                                </p:cTn>
                              </p:par>
                              <p:par>
                                <p:cTn id="28" presetID="10" presetClass="entr" presetSubtype="0" fill="hold" nodeType="withEffect">
                                  <p:stCondLst>
                                    <p:cond delay="0"/>
                                  </p:stCondLst>
                                  <p:childTnLst>
                                    <p:set>
                                      <p:cBhvr>
                                        <p:cTn id="29" dur="1" fill="hold">
                                          <p:stCondLst>
                                            <p:cond delay="0"/>
                                          </p:stCondLst>
                                        </p:cTn>
                                        <p:tgtEl>
                                          <p:spTgt spid="253"/>
                                        </p:tgtEl>
                                        <p:attrNameLst>
                                          <p:attrName>style.visibility</p:attrName>
                                        </p:attrNameLst>
                                      </p:cBhvr>
                                      <p:to>
                                        <p:strVal val="visible"/>
                                      </p:to>
                                    </p:set>
                                    <p:animEffect transition="in" filter="fade">
                                      <p:cBhvr>
                                        <p:cTn id="30" dur="500"/>
                                        <p:tgtEl>
                                          <p:spTgt spid="253"/>
                                        </p:tgtEl>
                                      </p:cBhvr>
                                    </p:animEffect>
                                  </p:childTnLst>
                                </p:cTn>
                              </p:par>
                              <p:par>
                                <p:cTn id="31" presetID="10" presetClass="entr" presetSubtype="0" fill="hold" nodeType="withEffect">
                                  <p:stCondLst>
                                    <p:cond delay="0"/>
                                  </p:stCondLst>
                                  <p:childTnLst>
                                    <p:set>
                                      <p:cBhvr>
                                        <p:cTn id="32" dur="1" fill="hold">
                                          <p:stCondLst>
                                            <p:cond delay="0"/>
                                          </p:stCondLst>
                                        </p:cTn>
                                        <p:tgtEl>
                                          <p:spTgt spid="254"/>
                                        </p:tgtEl>
                                        <p:attrNameLst>
                                          <p:attrName>style.visibility</p:attrName>
                                        </p:attrNameLst>
                                      </p:cBhvr>
                                      <p:to>
                                        <p:strVal val="visible"/>
                                      </p:to>
                                    </p:set>
                                    <p:animEffect transition="in" filter="fade">
                                      <p:cBhvr>
                                        <p:cTn id="33" dur="500"/>
                                        <p:tgtEl>
                                          <p:spTgt spid="254"/>
                                        </p:tgtEl>
                                      </p:cBhvr>
                                    </p:animEffect>
                                  </p:childTnLst>
                                </p:cTn>
                              </p:par>
                              <p:par>
                                <p:cTn id="34" presetID="10" presetClass="entr" presetSubtype="0" fill="hold" nodeType="withEffect">
                                  <p:stCondLst>
                                    <p:cond delay="0"/>
                                  </p:stCondLst>
                                  <p:childTnLst>
                                    <p:set>
                                      <p:cBhvr>
                                        <p:cTn id="35" dur="1" fill="hold">
                                          <p:stCondLst>
                                            <p:cond delay="0"/>
                                          </p:stCondLst>
                                        </p:cTn>
                                        <p:tgtEl>
                                          <p:spTgt spid="255"/>
                                        </p:tgtEl>
                                        <p:attrNameLst>
                                          <p:attrName>style.visibility</p:attrName>
                                        </p:attrNameLst>
                                      </p:cBhvr>
                                      <p:to>
                                        <p:strVal val="visible"/>
                                      </p:to>
                                    </p:set>
                                    <p:animEffect transition="in" filter="fade">
                                      <p:cBhvr>
                                        <p:cTn id="36" dur="500"/>
                                        <p:tgtEl>
                                          <p:spTgt spid="255"/>
                                        </p:tgtEl>
                                      </p:cBhvr>
                                    </p:animEffect>
                                  </p:childTnLst>
                                </p:cTn>
                              </p:par>
                              <p:par>
                                <p:cTn id="37" presetID="10" presetClass="entr" presetSubtype="0" fill="hold" nodeType="withEffect">
                                  <p:stCondLst>
                                    <p:cond delay="0"/>
                                  </p:stCondLst>
                                  <p:childTnLst>
                                    <p:set>
                                      <p:cBhvr>
                                        <p:cTn id="38" dur="1" fill="hold">
                                          <p:stCondLst>
                                            <p:cond delay="0"/>
                                          </p:stCondLst>
                                        </p:cTn>
                                        <p:tgtEl>
                                          <p:spTgt spid="267"/>
                                        </p:tgtEl>
                                        <p:attrNameLst>
                                          <p:attrName>style.visibility</p:attrName>
                                        </p:attrNameLst>
                                      </p:cBhvr>
                                      <p:to>
                                        <p:strVal val="visible"/>
                                      </p:to>
                                    </p:set>
                                    <p:animEffect transition="in" filter="fade">
                                      <p:cBhvr>
                                        <p:cTn id="39" dur="500"/>
                                        <p:tgtEl>
                                          <p:spTgt spid="267"/>
                                        </p:tgtEl>
                                      </p:cBhvr>
                                    </p:animEffect>
                                  </p:childTnLst>
                                </p:cTn>
                              </p:par>
                              <p:par>
                                <p:cTn id="40" presetID="10" presetClass="entr" presetSubtype="0" fill="hold" nodeType="withEffect">
                                  <p:stCondLst>
                                    <p:cond delay="0"/>
                                  </p:stCondLst>
                                  <p:childTnLst>
                                    <p:set>
                                      <p:cBhvr>
                                        <p:cTn id="41" dur="1" fill="hold">
                                          <p:stCondLst>
                                            <p:cond delay="0"/>
                                          </p:stCondLst>
                                        </p:cTn>
                                        <p:tgtEl>
                                          <p:spTgt spid="1026"/>
                                        </p:tgtEl>
                                        <p:attrNameLst>
                                          <p:attrName>style.visibility</p:attrName>
                                        </p:attrNameLst>
                                      </p:cBhvr>
                                      <p:to>
                                        <p:strVal val="visible"/>
                                      </p:to>
                                    </p:set>
                                    <p:animEffect transition="in" filter="fade">
                                      <p:cBhvr>
                                        <p:cTn id="42" dur="500"/>
                                        <p:tgtEl>
                                          <p:spTgt spid="1026"/>
                                        </p:tgtEl>
                                      </p:cBhvr>
                                    </p:animEffect>
                                  </p:childTnLst>
                                </p:cTn>
                              </p:par>
                              <p:par>
                                <p:cTn id="43" presetID="10" presetClass="entr" presetSubtype="0" fill="hold" nodeType="withEffect">
                                  <p:stCondLst>
                                    <p:cond delay="0"/>
                                  </p:stCondLst>
                                  <p:childTnLst>
                                    <p:set>
                                      <p:cBhvr>
                                        <p:cTn id="44" dur="1" fill="hold">
                                          <p:stCondLst>
                                            <p:cond delay="0"/>
                                          </p:stCondLst>
                                        </p:cTn>
                                        <p:tgtEl>
                                          <p:spTgt spid="268"/>
                                        </p:tgtEl>
                                        <p:attrNameLst>
                                          <p:attrName>style.visibility</p:attrName>
                                        </p:attrNameLst>
                                      </p:cBhvr>
                                      <p:to>
                                        <p:strVal val="visible"/>
                                      </p:to>
                                    </p:set>
                                    <p:animEffect transition="in" filter="fade">
                                      <p:cBhvr>
                                        <p:cTn id="45" dur="500"/>
                                        <p:tgtEl>
                                          <p:spTgt spid="26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56"/>
                                        </p:tgtEl>
                                        <p:attrNameLst>
                                          <p:attrName>style.visibility</p:attrName>
                                        </p:attrNameLst>
                                      </p:cBhvr>
                                      <p:to>
                                        <p:strVal val="visible"/>
                                      </p:to>
                                    </p:set>
                                    <p:animEffect transition="in" filter="fade">
                                      <p:cBhvr>
                                        <p:cTn id="50" dur="500"/>
                                        <p:tgtEl>
                                          <p:spTgt spid="256"/>
                                        </p:tgtEl>
                                      </p:cBhvr>
                                    </p:animEffect>
                                  </p:childTnLst>
                                </p:cTn>
                              </p:par>
                              <p:par>
                                <p:cTn id="51" presetID="10" presetClass="entr" presetSubtype="0" fill="hold" nodeType="withEffect">
                                  <p:stCondLst>
                                    <p:cond delay="0"/>
                                  </p:stCondLst>
                                  <p:childTnLst>
                                    <p:set>
                                      <p:cBhvr>
                                        <p:cTn id="52" dur="1" fill="hold">
                                          <p:stCondLst>
                                            <p:cond delay="0"/>
                                          </p:stCondLst>
                                        </p:cTn>
                                        <p:tgtEl>
                                          <p:spTgt spid="263"/>
                                        </p:tgtEl>
                                        <p:attrNameLst>
                                          <p:attrName>style.visibility</p:attrName>
                                        </p:attrNameLst>
                                      </p:cBhvr>
                                      <p:to>
                                        <p:strVal val="visible"/>
                                      </p:to>
                                    </p:set>
                                    <p:animEffect transition="in" filter="fade">
                                      <p:cBhvr>
                                        <p:cTn id="53" dur="500"/>
                                        <p:tgtEl>
                                          <p:spTgt spid="263"/>
                                        </p:tgtEl>
                                      </p:cBhvr>
                                    </p:animEffect>
                                  </p:childTnLst>
                                </p:cTn>
                              </p:par>
                              <p:par>
                                <p:cTn id="54" presetID="10" presetClass="entr" presetSubtype="0" fill="hold" nodeType="withEffect">
                                  <p:stCondLst>
                                    <p:cond delay="0"/>
                                  </p:stCondLst>
                                  <p:childTnLst>
                                    <p:set>
                                      <p:cBhvr>
                                        <p:cTn id="55" dur="1" fill="hold">
                                          <p:stCondLst>
                                            <p:cond delay="0"/>
                                          </p:stCondLst>
                                        </p:cTn>
                                        <p:tgtEl>
                                          <p:spTgt spid="265"/>
                                        </p:tgtEl>
                                        <p:attrNameLst>
                                          <p:attrName>style.visibility</p:attrName>
                                        </p:attrNameLst>
                                      </p:cBhvr>
                                      <p:to>
                                        <p:strVal val="visible"/>
                                      </p:to>
                                    </p:set>
                                    <p:animEffect transition="in" filter="fade">
                                      <p:cBhvr>
                                        <p:cTn id="56" dur="500"/>
                                        <p:tgtEl>
                                          <p:spTgt spid="26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57"/>
                                        </p:tgtEl>
                                        <p:attrNameLst>
                                          <p:attrName>style.visibility</p:attrName>
                                        </p:attrNameLst>
                                      </p:cBhvr>
                                      <p:to>
                                        <p:strVal val="visible"/>
                                      </p:to>
                                    </p:set>
                                    <p:animEffect transition="in" filter="fade">
                                      <p:cBhvr>
                                        <p:cTn id="61" dur="500"/>
                                        <p:tgtEl>
                                          <p:spTgt spid="257"/>
                                        </p:tgtEl>
                                      </p:cBhvr>
                                    </p:animEffect>
                                  </p:childTnLst>
                                </p:cTn>
                              </p:par>
                              <p:par>
                                <p:cTn id="62" presetID="10" presetClass="entr" presetSubtype="0" fill="hold" nodeType="withEffect">
                                  <p:stCondLst>
                                    <p:cond delay="0"/>
                                  </p:stCondLst>
                                  <p:childTnLst>
                                    <p:set>
                                      <p:cBhvr>
                                        <p:cTn id="63" dur="1" fill="hold">
                                          <p:stCondLst>
                                            <p:cond delay="0"/>
                                          </p:stCondLst>
                                        </p:cTn>
                                        <p:tgtEl>
                                          <p:spTgt spid="264"/>
                                        </p:tgtEl>
                                        <p:attrNameLst>
                                          <p:attrName>style.visibility</p:attrName>
                                        </p:attrNameLst>
                                      </p:cBhvr>
                                      <p:to>
                                        <p:strVal val="visible"/>
                                      </p:to>
                                    </p:set>
                                    <p:animEffect transition="in" filter="fade">
                                      <p:cBhvr>
                                        <p:cTn id="64" dur="500"/>
                                        <p:tgtEl>
                                          <p:spTgt spid="264"/>
                                        </p:tgtEl>
                                      </p:cBhvr>
                                    </p:animEffect>
                                  </p:childTnLst>
                                </p:cTn>
                              </p:par>
                              <p:par>
                                <p:cTn id="65" presetID="10" presetClass="entr" presetSubtype="0" fill="hold" nodeType="withEffect">
                                  <p:stCondLst>
                                    <p:cond delay="0"/>
                                  </p:stCondLst>
                                  <p:childTnLst>
                                    <p:set>
                                      <p:cBhvr>
                                        <p:cTn id="66" dur="1" fill="hold">
                                          <p:stCondLst>
                                            <p:cond delay="0"/>
                                          </p:stCondLst>
                                        </p:cTn>
                                        <p:tgtEl>
                                          <p:spTgt spid="266"/>
                                        </p:tgtEl>
                                        <p:attrNameLst>
                                          <p:attrName>style.visibility</p:attrName>
                                        </p:attrNameLst>
                                      </p:cBhvr>
                                      <p:to>
                                        <p:strVal val="visible"/>
                                      </p:to>
                                    </p:set>
                                    <p:animEffect transition="in" filter="fade">
                                      <p:cBhvr>
                                        <p:cTn id="67" dur="500"/>
                                        <p:tgtEl>
                                          <p:spTgt spid="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4098" name="Picture 2" descr="Free Sad Face SVG, PNG Icon, Symbol ...">
            <a:extLst>
              <a:ext uri="{FF2B5EF4-FFF2-40B4-BE49-F238E27FC236}">
                <a16:creationId xmlns:a16="http://schemas.microsoft.com/office/drawing/2014/main" id="{281ADF51-EA94-9C0E-9753-84EE0FC45D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7902" y="4542467"/>
            <a:ext cx="514350" cy="514350"/>
          </a:xfrm>
          <a:prstGeom prst="rect">
            <a:avLst/>
          </a:prstGeom>
          <a:noFill/>
          <a:extLst>
            <a:ext uri="{909E8E84-426E-40DD-AFC4-6F175D3DCCD1}">
              <a14:hiddenFill xmlns:a14="http://schemas.microsoft.com/office/drawing/2010/main">
                <a:solidFill>
                  <a:srgbClr val="FFFFFF"/>
                </a:solidFill>
              </a14:hiddenFill>
            </a:ext>
          </a:extLst>
        </p:spPr>
      </p:pic>
      <p:sp>
        <p:nvSpPr>
          <p:cNvPr id="274" name="Google Shape;274;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2 metrics for compliance of an application</a:t>
            </a:r>
            <a:endParaRPr/>
          </a:p>
        </p:txBody>
      </p:sp>
      <p:sp>
        <p:nvSpPr>
          <p:cNvPr id="275" name="Google Shape;275;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10</a:t>
            </a:fld>
            <a:endParaRPr/>
          </a:p>
        </p:txBody>
      </p:sp>
      <p:grpSp>
        <p:nvGrpSpPr>
          <p:cNvPr id="276" name="Google Shape;276;p35"/>
          <p:cNvGrpSpPr/>
          <p:nvPr/>
        </p:nvGrpSpPr>
        <p:grpSpPr>
          <a:xfrm>
            <a:off x="5080636" y="1581150"/>
            <a:ext cx="3954780" cy="2727326"/>
            <a:chOff x="5080636" y="1581150"/>
            <a:chExt cx="3954780" cy="2727326"/>
          </a:xfrm>
        </p:grpSpPr>
        <p:sp>
          <p:nvSpPr>
            <p:cNvPr id="277" name="Google Shape;277;p35"/>
            <p:cNvSpPr/>
            <p:nvPr/>
          </p:nvSpPr>
          <p:spPr>
            <a:xfrm>
              <a:off x="5080636" y="1581150"/>
              <a:ext cx="3790400" cy="2727326"/>
            </a:xfrm>
            <a:prstGeom prst="roundRect">
              <a:avLst>
                <a:gd name="adj" fmla="val 16667"/>
              </a:avLst>
            </a:prstGeom>
            <a:solidFill>
              <a:schemeClr val="lt2"/>
            </a:solidFill>
            <a:ln w="9525" cap="flat" cmpd="sng">
              <a:solidFill>
                <a:schemeClr val="dk2"/>
              </a:solidFill>
              <a:prstDash val="solid"/>
              <a:round/>
              <a:headEnd type="none" w="sm" len="sm"/>
              <a:tailEnd type="none" w="sm" len="sm"/>
            </a:ln>
            <a:effectLst>
              <a:outerShdw blurRad="57150" dist="19050" dir="5400000" algn="bl" rotWithShape="0">
                <a:schemeClr val="lt1">
                  <a:alpha val="31372"/>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8" name="Google Shape;278;p35"/>
            <p:cNvSpPr/>
            <p:nvPr/>
          </p:nvSpPr>
          <p:spPr>
            <a:xfrm>
              <a:off x="6340873" y="1912429"/>
              <a:ext cx="475365" cy="347330"/>
            </a:xfrm>
            <a:prstGeom prst="roundRect">
              <a:avLst>
                <a:gd name="adj" fmla="val 16667"/>
              </a:avLst>
            </a:prstGeom>
            <a:solidFill>
              <a:schemeClr val="lt1"/>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79" name="Google Shape;279;p35"/>
            <p:cNvSpPr txBox="1"/>
            <p:nvPr/>
          </p:nvSpPr>
          <p:spPr>
            <a:xfrm>
              <a:off x="5734703" y="3533970"/>
              <a:ext cx="2881023"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Noncompliant message type</a:t>
              </a:r>
              <a:endParaRPr sz="1400" b="0" i="0" u="none" strike="noStrike" cap="none">
                <a:solidFill>
                  <a:srgbClr val="000000"/>
                </a:solidFill>
                <a:latin typeface="Arial"/>
                <a:ea typeface="Arial"/>
                <a:cs typeface="Arial"/>
                <a:sym typeface="Arial"/>
              </a:endParaRPr>
            </a:p>
          </p:txBody>
        </p:sp>
        <p:sp>
          <p:nvSpPr>
            <p:cNvPr id="280" name="Google Shape;280;p35"/>
            <p:cNvSpPr txBox="1"/>
            <p:nvPr/>
          </p:nvSpPr>
          <p:spPr>
            <a:xfrm>
              <a:off x="5734991" y="3907400"/>
              <a:ext cx="284047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Compliant message type</a:t>
              </a:r>
              <a:endParaRPr sz="1400" b="0" i="0" u="none" strike="noStrike" cap="none">
                <a:solidFill>
                  <a:srgbClr val="000000"/>
                </a:solidFill>
                <a:latin typeface="Arial"/>
                <a:ea typeface="Arial"/>
                <a:cs typeface="Arial"/>
                <a:sym typeface="Arial"/>
              </a:endParaRPr>
            </a:p>
          </p:txBody>
        </p:sp>
        <p:sp>
          <p:nvSpPr>
            <p:cNvPr id="281" name="Google Shape;281;p35"/>
            <p:cNvSpPr txBox="1"/>
            <p:nvPr/>
          </p:nvSpPr>
          <p:spPr>
            <a:xfrm>
              <a:off x="6194574" y="1646716"/>
              <a:ext cx="171302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STUN/TURN</a:t>
              </a:r>
              <a:endParaRPr sz="1400" b="0" i="0" u="none" strike="noStrike" cap="none">
                <a:solidFill>
                  <a:srgbClr val="000000"/>
                </a:solidFill>
                <a:latin typeface="Arial"/>
                <a:ea typeface="Arial"/>
                <a:cs typeface="Arial"/>
                <a:sym typeface="Arial"/>
              </a:endParaRPr>
            </a:p>
          </p:txBody>
        </p:sp>
        <p:sp>
          <p:nvSpPr>
            <p:cNvPr id="282" name="Google Shape;282;p35"/>
            <p:cNvSpPr txBox="1"/>
            <p:nvPr/>
          </p:nvSpPr>
          <p:spPr>
            <a:xfrm>
              <a:off x="6194573" y="2263598"/>
              <a:ext cx="277191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RTCP</a:t>
              </a:r>
              <a:endParaRPr sz="1400" b="0" i="0" u="none" strike="noStrike" cap="none">
                <a:solidFill>
                  <a:srgbClr val="000000"/>
                </a:solidFill>
                <a:latin typeface="Arial"/>
                <a:ea typeface="Arial"/>
                <a:cs typeface="Arial"/>
                <a:sym typeface="Arial"/>
              </a:endParaRPr>
            </a:p>
          </p:txBody>
        </p:sp>
        <p:sp>
          <p:nvSpPr>
            <p:cNvPr id="283" name="Google Shape;283;p35"/>
            <p:cNvSpPr txBox="1"/>
            <p:nvPr/>
          </p:nvSpPr>
          <p:spPr>
            <a:xfrm>
              <a:off x="6194574" y="2818013"/>
              <a:ext cx="284084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RTP</a:t>
              </a:r>
              <a:endParaRPr sz="1400" b="0" i="0" u="none" strike="noStrike" cap="none">
                <a:solidFill>
                  <a:srgbClr val="000000"/>
                </a:solidFill>
                <a:latin typeface="Arial"/>
                <a:ea typeface="Arial"/>
                <a:cs typeface="Arial"/>
                <a:sym typeface="Arial"/>
              </a:endParaRPr>
            </a:p>
          </p:txBody>
        </p:sp>
        <p:pic>
          <p:nvPicPr>
            <p:cNvPr id="284" name="Google Shape;284;p35" descr="Google Meets - Flat - Wired - Lordicon"/>
            <p:cNvPicPr preferRelativeResize="0"/>
            <p:nvPr/>
          </p:nvPicPr>
          <p:blipFill rotWithShape="1">
            <a:blip r:embed="rId4">
              <a:alphaModFix/>
            </a:blip>
            <a:srcRect/>
            <a:stretch/>
          </p:blipFill>
          <p:spPr>
            <a:xfrm>
              <a:off x="5383559" y="2457833"/>
              <a:ext cx="702287" cy="702287"/>
            </a:xfrm>
            <a:prstGeom prst="rect">
              <a:avLst/>
            </a:prstGeom>
            <a:noFill/>
            <a:ln>
              <a:noFill/>
            </a:ln>
          </p:spPr>
        </p:pic>
        <p:sp>
          <p:nvSpPr>
            <p:cNvPr id="285" name="Google Shape;285;p35"/>
            <p:cNvSpPr txBox="1"/>
            <p:nvPr/>
          </p:nvSpPr>
          <p:spPr>
            <a:xfrm>
              <a:off x="8437520" y="3154382"/>
              <a:ext cx="36420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286" name="Google Shape;286;p35"/>
            <p:cNvSpPr/>
            <p:nvPr/>
          </p:nvSpPr>
          <p:spPr>
            <a:xfrm>
              <a:off x="6412407" y="2016879"/>
              <a:ext cx="135177" cy="135177"/>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7" name="Google Shape;287;p35"/>
            <p:cNvSpPr/>
            <p:nvPr/>
          </p:nvSpPr>
          <p:spPr>
            <a:xfrm>
              <a:off x="6604131" y="2018505"/>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88" name="Google Shape;288;p35"/>
            <p:cNvSpPr txBox="1"/>
            <p:nvPr/>
          </p:nvSpPr>
          <p:spPr>
            <a:xfrm>
              <a:off x="8071981" y="1876146"/>
              <a:ext cx="36420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289" name="Google Shape;289;p35"/>
            <p:cNvSpPr txBox="1"/>
            <p:nvPr/>
          </p:nvSpPr>
          <p:spPr>
            <a:xfrm>
              <a:off x="7658431" y="2512482"/>
              <a:ext cx="36420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290" name="Google Shape;290;p35"/>
            <p:cNvSpPr/>
            <p:nvPr/>
          </p:nvSpPr>
          <p:spPr>
            <a:xfrm>
              <a:off x="6913119" y="1915211"/>
              <a:ext cx="475365" cy="347330"/>
            </a:xfrm>
            <a:prstGeom prst="roundRect">
              <a:avLst>
                <a:gd name="adj" fmla="val 16667"/>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1" name="Google Shape;291;p35"/>
            <p:cNvSpPr/>
            <p:nvPr/>
          </p:nvSpPr>
          <p:spPr>
            <a:xfrm>
              <a:off x="6984653" y="2019661"/>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2" name="Google Shape;292;p35"/>
            <p:cNvSpPr/>
            <p:nvPr/>
          </p:nvSpPr>
          <p:spPr>
            <a:xfrm>
              <a:off x="7176377" y="2021287"/>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3" name="Google Shape;293;p35"/>
            <p:cNvSpPr/>
            <p:nvPr/>
          </p:nvSpPr>
          <p:spPr>
            <a:xfrm>
              <a:off x="6329261" y="2521029"/>
              <a:ext cx="655392" cy="347330"/>
            </a:xfrm>
            <a:prstGeom prst="roundRect">
              <a:avLst>
                <a:gd name="adj" fmla="val 16667"/>
              </a:avLst>
            </a:prstGeom>
            <a:solidFill>
              <a:schemeClr val="lt1"/>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4" name="Google Shape;294;p35"/>
            <p:cNvSpPr/>
            <p:nvPr/>
          </p:nvSpPr>
          <p:spPr>
            <a:xfrm>
              <a:off x="6400795" y="2625479"/>
              <a:ext cx="135177" cy="135177"/>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5" name="Google Shape;295;p35"/>
            <p:cNvSpPr/>
            <p:nvPr/>
          </p:nvSpPr>
          <p:spPr>
            <a:xfrm>
              <a:off x="6592519" y="2627105"/>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6" name="Google Shape;296;p35"/>
            <p:cNvSpPr/>
            <p:nvPr/>
          </p:nvSpPr>
          <p:spPr>
            <a:xfrm>
              <a:off x="6331822" y="3149123"/>
              <a:ext cx="682398" cy="347330"/>
            </a:xfrm>
            <a:prstGeom prst="roundRect">
              <a:avLst>
                <a:gd name="adj" fmla="val 16667"/>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7" name="Google Shape;297;p35"/>
            <p:cNvSpPr/>
            <p:nvPr/>
          </p:nvSpPr>
          <p:spPr>
            <a:xfrm>
              <a:off x="6403356" y="3253573"/>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8" name="Google Shape;298;p35"/>
            <p:cNvSpPr/>
            <p:nvPr/>
          </p:nvSpPr>
          <p:spPr>
            <a:xfrm>
              <a:off x="6595080" y="3255199"/>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99" name="Google Shape;299;p35"/>
            <p:cNvSpPr/>
            <p:nvPr/>
          </p:nvSpPr>
          <p:spPr>
            <a:xfrm>
              <a:off x="6784509" y="3257277"/>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0" name="Google Shape;300;p35"/>
            <p:cNvSpPr/>
            <p:nvPr/>
          </p:nvSpPr>
          <p:spPr>
            <a:xfrm>
              <a:off x="7111338" y="3154382"/>
              <a:ext cx="1053526" cy="347330"/>
            </a:xfrm>
            <a:prstGeom prst="roundRect">
              <a:avLst>
                <a:gd name="adj" fmla="val 16667"/>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1" name="Google Shape;301;p35"/>
            <p:cNvSpPr/>
            <p:nvPr/>
          </p:nvSpPr>
          <p:spPr>
            <a:xfrm>
              <a:off x="7182872" y="3258832"/>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2" name="Google Shape;302;p35"/>
            <p:cNvSpPr/>
            <p:nvPr/>
          </p:nvSpPr>
          <p:spPr>
            <a:xfrm>
              <a:off x="7374596" y="3260458"/>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3" name="Google Shape;303;p35"/>
            <p:cNvSpPr/>
            <p:nvPr/>
          </p:nvSpPr>
          <p:spPr>
            <a:xfrm>
              <a:off x="7564025" y="3262536"/>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5" name="Google Shape;305;p35"/>
            <p:cNvSpPr/>
            <p:nvPr/>
          </p:nvSpPr>
          <p:spPr>
            <a:xfrm>
              <a:off x="7936804" y="3260645"/>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6" name="Google Shape;306;p35"/>
            <p:cNvSpPr/>
            <p:nvPr/>
          </p:nvSpPr>
          <p:spPr>
            <a:xfrm>
              <a:off x="7756294" y="3262271"/>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7" name="Google Shape;307;p35"/>
            <p:cNvSpPr/>
            <p:nvPr/>
          </p:nvSpPr>
          <p:spPr>
            <a:xfrm>
              <a:off x="6786860" y="2627104"/>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8" name="Google Shape;308;p35"/>
            <p:cNvSpPr/>
            <p:nvPr/>
          </p:nvSpPr>
          <p:spPr>
            <a:xfrm>
              <a:off x="5466991" y="3927097"/>
              <a:ext cx="267711" cy="276425"/>
            </a:xfrm>
            <a:prstGeom prst="roundRect">
              <a:avLst>
                <a:gd name="adj" fmla="val 16667"/>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09" name="Google Shape;309;p35"/>
            <p:cNvSpPr/>
            <p:nvPr/>
          </p:nvSpPr>
          <p:spPr>
            <a:xfrm>
              <a:off x="5466990" y="3545798"/>
              <a:ext cx="267712" cy="276426"/>
            </a:xfrm>
            <a:prstGeom prst="roundRect">
              <a:avLst>
                <a:gd name="adj" fmla="val 16667"/>
              </a:avLst>
            </a:prstGeom>
            <a:solidFill>
              <a:schemeClr val="lt1"/>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10" name="Google Shape;310;p35"/>
            <p:cNvSpPr/>
            <p:nvPr/>
          </p:nvSpPr>
          <p:spPr>
            <a:xfrm>
              <a:off x="7100732" y="2525968"/>
              <a:ext cx="463293" cy="347330"/>
            </a:xfrm>
            <a:prstGeom prst="roundRect">
              <a:avLst>
                <a:gd name="adj" fmla="val 16667"/>
              </a:avLst>
            </a:prstGeom>
            <a:solidFill>
              <a:schemeClr val="lt1"/>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11" name="Google Shape;311;p35"/>
            <p:cNvSpPr/>
            <p:nvPr/>
          </p:nvSpPr>
          <p:spPr>
            <a:xfrm>
              <a:off x="7172266" y="2630418"/>
              <a:ext cx="135177" cy="135177"/>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12" name="Google Shape;312;p35"/>
            <p:cNvSpPr/>
            <p:nvPr/>
          </p:nvSpPr>
          <p:spPr>
            <a:xfrm>
              <a:off x="7363990" y="2632044"/>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13" name="Google Shape;313;p35"/>
            <p:cNvSpPr/>
            <p:nvPr/>
          </p:nvSpPr>
          <p:spPr>
            <a:xfrm>
              <a:off x="7487348" y="1918840"/>
              <a:ext cx="475365" cy="347330"/>
            </a:xfrm>
            <a:prstGeom prst="roundRect">
              <a:avLst>
                <a:gd name="adj" fmla="val 16667"/>
              </a:avLst>
            </a:prstGeom>
            <a:solidFill>
              <a:schemeClr val="lt1"/>
            </a:solid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14" name="Google Shape;314;p35"/>
            <p:cNvSpPr/>
            <p:nvPr/>
          </p:nvSpPr>
          <p:spPr>
            <a:xfrm>
              <a:off x="7558882" y="2023290"/>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15" name="Google Shape;315;p35"/>
            <p:cNvSpPr/>
            <p:nvPr/>
          </p:nvSpPr>
          <p:spPr>
            <a:xfrm>
              <a:off x="7750606" y="2024916"/>
              <a:ext cx="135177" cy="135177"/>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grpSp>
        <p:nvGrpSpPr>
          <p:cNvPr id="316" name="Google Shape;316;p35"/>
          <p:cNvGrpSpPr/>
          <p:nvPr/>
        </p:nvGrpSpPr>
        <p:grpSpPr>
          <a:xfrm>
            <a:off x="379860" y="1581150"/>
            <a:ext cx="4063784" cy="2727325"/>
            <a:chOff x="379860" y="1581150"/>
            <a:chExt cx="4063784" cy="2727325"/>
          </a:xfrm>
        </p:grpSpPr>
        <p:sp>
          <p:nvSpPr>
            <p:cNvPr id="317" name="Google Shape;317;p35"/>
            <p:cNvSpPr/>
            <p:nvPr/>
          </p:nvSpPr>
          <p:spPr>
            <a:xfrm>
              <a:off x="379860" y="1581150"/>
              <a:ext cx="3823588" cy="2727325"/>
            </a:xfrm>
            <a:prstGeom prst="roundRect">
              <a:avLst>
                <a:gd name="adj" fmla="val 16667"/>
              </a:avLst>
            </a:prstGeom>
            <a:solidFill>
              <a:schemeClr val="lt2"/>
            </a:solidFill>
            <a:ln w="9525" cap="flat" cmpd="sng">
              <a:solidFill>
                <a:schemeClr val="dk2"/>
              </a:solidFill>
              <a:prstDash val="solid"/>
              <a:round/>
              <a:headEnd type="none" w="sm" len="sm"/>
              <a:tailEnd type="none" w="sm" len="sm"/>
            </a:ln>
            <a:effectLst>
              <a:outerShdw blurRad="57150" dist="19050" dir="5400000" algn="bl" rotWithShape="0">
                <a:schemeClr val="lt1">
                  <a:alpha val="31372"/>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35"/>
            <p:cNvSpPr/>
            <p:nvPr/>
          </p:nvSpPr>
          <p:spPr>
            <a:xfrm>
              <a:off x="734420" y="3667101"/>
              <a:ext cx="187569" cy="18756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19" name="Google Shape;319;p35"/>
            <p:cNvSpPr/>
            <p:nvPr/>
          </p:nvSpPr>
          <p:spPr>
            <a:xfrm>
              <a:off x="734420" y="3964426"/>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0" name="Google Shape;320;p35"/>
            <p:cNvSpPr txBox="1"/>
            <p:nvPr/>
          </p:nvSpPr>
          <p:spPr>
            <a:xfrm>
              <a:off x="1033927" y="3606996"/>
              <a:ext cx="2257810"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Noncompliant message</a:t>
              </a:r>
              <a:endParaRPr sz="1400" b="0" i="0" u="none" strike="noStrike" cap="none">
                <a:solidFill>
                  <a:srgbClr val="000000"/>
                </a:solidFill>
                <a:latin typeface="Arial"/>
                <a:ea typeface="Arial"/>
                <a:cs typeface="Arial"/>
                <a:sym typeface="Arial"/>
              </a:endParaRPr>
            </a:p>
          </p:txBody>
        </p:sp>
        <p:sp>
          <p:nvSpPr>
            <p:cNvPr id="321" name="Google Shape;321;p35"/>
            <p:cNvSpPr txBox="1"/>
            <p:nvPr/>
          </p:nvSpPr>
          <p:spPr>
            <a:xfrm>
              <a:off x="1033927" y="3884798"/>
              <a:ext cx="187147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Compliant message</a:t>
              </a:r>
              <a:endParaRPr sz="1400" b="0" i="0" u="none" strike="noStrike" cap="none">
                <a:solidFill>
                  <a:srgbClr val="000000"/>
                </a:solidFill>
                <a:latin typeface="Arial"/>
                <a:ea typeface="Arial"/>
                <a:cs typeface="Arial"/>
                <a:sym typeface="Arial"/>
              </a:endParaRPr>
            </a:p>
          </p:txBody>
        </p:sp>
        <p:sp>
          <p:nvSpPr>
            <p:cNvPr id="322" name="Google Shape;322;p35"/>
            <p:cNvSpPr txBox="1"/>
            <p:nvPr/>
          </p:nvSpPr>
          <p:spPr>
            <a:xfrm>
              <a:off x="1493798" y="1646717"/>
              <a:ext cx="175983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STUN/TURN</a:t>
              </a:r>
              <a:endParaRPr sz="1400" b="0" i="0" u="none" strike="noStrike" cap="none">
                <a:solidFill>
                  <a:srgbClr val="000000"/>
                </a:solidFill>
                <a:latin typeface="Arial"/>
                <a:ea typeface="Arial"/>
                <a:cs typeface="Arial"/>
                <a:sym typeface="Arial"/>
              </a:endParaRPr>
            </a:p>
          </p:txBody>
        </p:sp>
        <p:sp>
          <p:nvSpPr>
            <p:cNvPr id="323" name="Google Shape;323;p35"/>
            <p:cNvSpPr txBox="1"/>
            <p:nvPr/>
          </p:nvSpPr>
          <p:spPr>
            <a:xfrm>
              <a:off x="1493798" y="2263599"/>
              <a:ext cx="76782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RTCP</a:t>
              </a:r>
              <a:endParaRPr sz="1400" b="0" i="0" u="none" strike="noStrike" cap="none">
                <a:solidFill>
                  <a:srgbClr val="000000"/>
                </a:solidFill>
                <a:latin typeface="Arial"/>
                <a:ea typeface="Arial"/>
                <a:cs typeface="Arial"/>
                <a:sym typeface="Arial"/>
              </a:endParaRPr>
            </a:p>
          </p:txBody>
        </p:sp>
        <p:sp>
          <p:nvSpPr>
            <p:cNvPr id="324" name="Google Shape;324;p35"/>
            <p:cNvSpPr txBox="1"/>
            <p:nvPr/>
          </p:nvSpPr>
          <p:spPr>
            <a:xfrm>
              <a:off x="1493798" y="2818014"/>
              <a:ext cx="294984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RTP</a:t>
              </a:r>
              <a:endParaRPr sz="1400" b="0" i="0" u="none" strike="noStrike" cap="none">
                <a:solidFill>
                  <a:srgbClr val="000000"/>
                </a:solidFill>
                <a:latin typeface="Arial"/>
                <a:ea typeface="Arial"/>
                <a:cs typeface="Arial"/>
                <a:sym typeface="Arial"/>
              </a:endParaRPr>
            </a:p>
          </p:txBody>
        </p:sp>
        <p:sp>
          <p:nvSpPr>
            <p:cNvPr id="325" name="Google Shape;325;p35"/>
            <p:cNvSpPr/>
            <p:nvPr/>
          </p:nvSpPr>
          <p:spPr>
            <a:xfrm>
              <a:off x="1617847" y="2022251"/>
              <a:ext cx="187569" cy="18756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6" name="Google Shape;326;p35"/>
            <p:cNvSpPr/>
            <p:nvPr/>
          </p:nvSpPr>
          <p:spPr>
            <a:xfrm>
              <a:off x="1939735" y="2022250"/>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7" name="Google Shape;327;p35"/>
            <p:cNvSpPr/>
            <p:nvPr/>
          </p:nvSpPr>
          <p:spPr>
            <a:xfrm>
              <a:off x="1939735" y="3139381"/>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8" name="Google Shape;328;p35"/>
            <p:cNvSpPr/>
            <p:nvPr/>
          </p:nvSpPr>
          <p:spPr>
            <a:xfrm>
              <a:off x="1617847" y="3139381"/>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9" name="Google Shape;329;p35"/>
            <p:cNvSpPr/>
            <p:nvPr/>
          </p:nvSpPr>
          <p:spPr>
            <a:xfrm>
              <a:off x="2583511" y="3139381"/>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0" name="Google Shape;330;p35"/>
            <p:cNvSpPr/>
            <p:nvPr/>
          </p:nvSpPr>
          <p:spPr>
            <a:xfrm>
              <a:off x="2261623" y="3139381"/>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1" name="Google Shape;331;p35"/>
            <p:cNvSpPr/>
            <p:nvPr/>
          </p:nvSpPr>
          <p:spPr>
            <a:xfrm>
              <a:off x="3227287" y="3139381"/>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2" name="Google Shape;332;p35"/>
            <p:cNvSpPr/>
            <p:nvPr/>
          </p:nvSpPr>
          <p:spPr>
            <a:xfrm>
              <a:off x="2905399" y="3139381"/>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3" name="Google Shape;333;p35"/>
            <p:cNvSpPr/>
            <p:nvPr/>
          </p:nvSpPr>
          <p:spPr>
            <a:xfrm>
              <a:off x="3549175" y="3139381"/>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4" name="Google Shape;334;p35"/>
            <p:cNvSpPr/>
            <p:nvPr/>
          </p:nvSpPr>
          <p:spPr>
            <a:xfrm>
              <a:off x="1939735" y="3390289"/>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5" name="Google Shape;335;p35"/>
            <p:cNvSpPr/>
            <p:nvPr/>
          </p:nvSpPr>
          <p:spPr>
            <a:xfrm>
              <a:off x="1617847" y="3390289"/>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6" name="Google Shape;336;p35"/>
            <p:cNvSpPr/>
            <p:nvPr/>
          </p:nvSpPr>
          <p:spPr>
            <a:xfrm>
              <a:off x="2583511" y="3390289"/>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7" name="Google Shape;337;p35"/>
            <p:cNvSpPr/>
            <p:nvPr/>
          </p:nvSpPr>
          <p:spPr>
            <a:xfrm>
              <a:off x="2261623" y="3390289"/>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8" name="Google Shape;338;p35"/>
            <p:cNvSpPr/>
            <p:nvPr/>
          </p:nvSpPr>
          <p:spPr>
            <a:xfrm>
              <a:off x="3227287" y="3390289"/>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9" name="Google Shape;339;p35"/>
            <p:cNvSpPr/>
            <p:nvPr/>
          </p:nvSpPr>
          <p:spPr>
            <a:xfrm>
              <a:off x="2905399" y="3390289"/>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0" name="Google Shape;340;p35"/>
            <p:cNvSpPr/>
            <p:nvPr/>
          </p:nvSpPr>
          <p:spPr>
            <a:xfrm>
              <a:off x="3549175" y="3390289"/>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1" name="Google Shape;341;p35"/>
            <p:cNvSpPr/>
            <p:nvPr/>
          </p:nvSpPr>
          <p:spPr>
            <a:xfrm>
              <a:off x="1617847" y="2611390"/>
              <a:ext cx="187569" cy="18756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2" name="Google Shape;342;p35"/>
            <p:cNvSpPr/>
            <p:nvPr/>
          </p:nvSpPr>
          <p:spPr>
            <a:xfrm>
              <a:off x="2261623" y="2022250"/>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3" name="Google Shape;343;p35"/>
            <p:cNvSpPr/>
            <p:nvPr/>
          </p:nvSpPr>
          <p:spPr>
            <a:xfrm>
              <a:off x="2583511" y="2022249"/>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344" name="Google Shape;344;p35" descr="Google Meets - Flat - Wired - Lordicon"/>
            <p:cNvPicPr preferRelativeResize="0"/>
            <p:nvPr/>
          </p:nvPicPr>
          <p:blipFill rotWithShape="1">
            <a:blip r:embed="rId4">
              <a:alphaModFix/>
            </a:blip>
            <a:srcRect/>
            <a:stretch/>
          </p:blipFill>
          <p:spPr>
            <a:xfrm>
              <a:off x="588485" y="2490957"/>
              <a:ext cx="702287" cy="702287"/>
            </a:xfrm>
            <a:prstGeom prst="rect">
              <a:avLst/>
            </a:prstGeom>
            <a:noFill/>
            <a:ln>
              <a:noFill/>
            </a:ln>
          </p:spPr>
        </p:pic>
        <p:sp>
          <p:nvSpPr>
            <p:cNvPr id="345" name="Google Shape;345;p35"/>
            <p:cNvSpPr/>
            <p:nvPr/>
          </p:nvSpPr>
          <p:spPr>
            <a:xfrm>
              <a:off x="1939735" y="2609275"/>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6" name="Google Shape;346;p35"/>
            <p:cNvSpPr/>
            <p:nvPr/>
          </p:nvSpPr>
          <p:spPr>
            <a:xfrm>
              <a:off x="2261623" y="2606001"/>
              <a:ext cx="187569" cy="187569"/>
            </a:xfrm>
            <a:prstGeom prst="rect">
              <a:avLst/>
            </a:prstGeom>
            <a:solidFill>
              <a:srgbClr val="00B05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47" name="Google Shape;347;p35"/>
            <p:cNvSpPr txBox="1"/>
            <p:nvPr/>
          </p:nvSpPr>
          <p:spPr>
            <a:xfrm>
              <a:off x="3688962" y="3151222"/>
              <a:ext cx="36420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348" name="Google Shape;348;p35"/>
            <p:cNvSpPr txBox="1"/>
            <p:nvPr/>
          </p:nvSpPr>
          <p:spPr>
            <a:xfrm>
              <a:off x="2743772" y="1905313"/>
              <a:ext cx="36420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349" name="Google Shape;349;p35"/>
            <p:cNvSpPr txBox="1"/>
            <p:nvPr/>
          </p:nvSpPr>
          <p:spPr>
            <a:xfrm>
              <a:off x="2432165" y="2493613"/>
              <a:ext cx="36420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grpSp>
      <p:sp>
        <p:nvSpPr>
          <p:cNvPr id="350" name="Google Shape;350;p35"/>
          <p:cNvSpPr txBox="1"/>
          <p:nvPr/>
        </p:nvSpPr>
        <p:spPr>
          <a:xfrm>
            <a:off x="402788" y="1148608"/>
            <a:ext cx="2949846"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Compliance by traffic volume</a:t>
            </a:r>
            <a:endParaRPr sz="1400" b="1" i="0" u="none" strike="noStrike" cap="none">
              <a:solidFill>
                <a:srgbClr val="000000"/>
              </a:solidFill>
              <a:latin typeface="Arial"/>
              <a:ea typeface="Arial"/>
              <a:cs typeface="Arial"/>
              <a:sym typeface="Arial"/>
            </a:endParaRPr>
          </a:p>
        </p:txBody>
      </p:sp>
      <p:sp>
        <p:nvSpPr>
          <p:cNvPr id="351" name="Google Shape;351;p35"/>
          <p:cNvSpPr txBox="1"/>
          <p:nvPr/>
        </p:nvSpPr>
        <p:spPr>
          <a:xfrm>
            <a:off x="5012867" y="1151520"/>
            <a:ext cx="2949846"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Arial"/>
                <a:ea typeface="Arial"/>
                <a:cs typeface="Arial"/>
                <a:sym typeface="Arial"/>
              </a:rPr>
              <a:t>Compliance by message type</a:t>
            </a:r>
            <a:endParaRPr sz="1400" b="1" i="0" u="none" strike="noStrike" cap="none" dirty="0">
              <a:solidFill>
                <a:srgbClr val="000000"/>
              </a:solidFill>
              <a:latin typeface="Arial"/>
              <a:ea typeface="Arial"/>
              <a:cs typeface="Arial"/>
              <a:sym typeface="Arial"/>
            </a:endParaRPr>
          </a:p>
        </p:txBody>
      </p:sp>
      <p:sp>
        <p:nvSpPr>
          <p:cNvPr id="352" name="Google Shape;352;p35"/>
          <p:cNvSpPr txBox="1">
            <a:spLocks noGrp="1"/>
          </p:cNvSpPr>
          <p:nvPr>
            <p:ph type="body" idx="1"/>
          </p:nvPr>
        </p:nvSpPr>
        <p:spPr>
          <a:xfrm>
            <a:off x="311700" y="4321019"/>
            <a:ext cx="4091186" cy="914528"/>
          </a:xfrm>
          <a:prstGeom prst="rect">
            <a:avLst/>
          </a:prstGeom>
          <a:noFill/>
          <a:ln>
            <a:noFill/>
          </a:ln>
        </p:spPr>
        <p:txBody>
          <a:bodyPr spcFirstLastPara="1" wrap="square" lIns="91425" tIns="91425" rIns="91425" bIns="91425" anchor="t" anchorCtr="0">
            <a:normAutofit/>
          </a:bodyPr>
          <a:lstStyle/>
          <a:p>
            <a:pPr marL="114300" lvl="0" indent="0" algn="l" rtl="0">
              <a:lnSpc>
                <a:spcPct val="115000"/>
              </a:lnSpc>
              <a:spcBef>
                <a:spcPts val="0"/>
              </a:spcBef>
              <a:spcAft>
                <a:spcPts val="0"/>
              </a:spcAft>
              <a:buSzPts val="1800"/>
              <a:buNone/>
            </a:pPr>
            <a:r>
              <a:rPr lang="en-US" altLang="zh-CN" sz="1200" dirty="0"/>
              <a:t>Straightforward.</a:t>
            </a:r>
          </a:p>
          <a:p>
            <a:pPr marL="114300" lvl="0" indent="0" algn="l" rtl="0">
              <a:lnSpc>
                <a:spcPct val="115000"/>
              </a:lnSpc>
              <a:spcBef>
                <a:spcPts val="0"/>
              </a:spcBef>
              <a:spcAft>
                <a:spcPts val="0"/>
              </a:spcAft>
              <a:buSzPts val="1800"/>
              <a:buNone/>
            </a:pPr>
            <a:r>
              <a:rPr lang="en" sz="1200" dirty="0"/>
              <a:t>Mainly reflects RTP compliance.</a:t>
            </a:r>
            <a:r>
              <a:rPr lang="zh-CN" altLang="en-US" sz="1200" dirty="0"/>
              <a:t> </a:t>
            </a:r>
            <a:r>
              <a:rPr lang="en" sz="1200" dirty="0"/>
              <a:t>Under</a:t>
            </a:r>
            <a:r>
              <a:rPr lang="zh-CN" altLang="en-US" sz="1200" dirty="0"/>
              <a:t> </a:t>
            </a:r>
            <a:r>
              <a:rPr lang="en" sz="1200" dirty="0"/>
              <a:t>represents compliance of other protocols.</a:t>
            </a:r>
            <a:endParaRPr sz="1200" dirty="0"/>
          </a:p>
        </p:txBody>
      </p:sp>
      <p:sp>
        <p:nvSpPr>
          <p:cNvPr id="353" name="Google Shape;353;p35"/>
          <p:cNvSpPr txBox="1"/>
          <p:nvPr/>
        </p:nvSpPr>
        <p:spPr>
          <a:xfrm>
            <a:off x="4920351" y="4407479"/>
            <a:ext cx="4100807" cy="1982549"/>
          </a:xfrm>
          <a:prstGeom prst="rect">
            <a:avLst/>
          </a:prstGeom>
          <a:noFill/>
          <a:ln>
            <a:noFill/>
          </a:ln>
        </p:spPr>
        <p:txBody>
          <a:bodyPr spcFirstLastPara="1" wrap="square" lIns="91425" tIns="91425" rIns="91425" bIns="91425" anchor="t" anchorCtr="0">
            <a:normAutofit/>
          </a:bodyPr>
          <a:lstStyle/>
          <a:p>
            <a:pPr marL="114300" marR="0" lvl="0" indent="0" algn="l" rtl="0">
              <a:lnSpc>
                <a:spcPct val="115000"/>
              </a:lnSpc>
              <a:spcBef>
                <a:spcPts val="0"/>
              </a:spcBef>
              <a:spcAft>
                <a:spcPts val="0"/>
              </a:spcAft>
              <a:buClr>
                <a:schemeClr val="dk2"/>
              </a:buClr>
              <a:buSzPts val="1800"/>
              <a:buFont typeface="Arial"/>
              <a:buNone/>
            </a:pPr>
            <a:r>
              <a:rPr lang="en-US" altLang="zh-CN" sz="1200" b="0" i="0" u="none" strike="noStrike" cap="none" dirty="0">
                <a:solidFill>
                  <a:schemeClr val="dk2"/>
                </a:solidFill>
                <a:latin typeface="Arial"/>
                <a:ea typeface="Arial"/>
                <a:cs typeface="Arial"/>
                <a:sym typeface="Arial"/>
              </a:rPr>
              <a:t>Unbiased</a:t>
            </a:r>
            <a:r>
              <a:rPr lang="zh-CN" altLang="en-US" sz="1200" b="0" i="0" u="none" strike="noStrike" cap="none" dirty="0">
                <a:solidFill>
                  <a:schemeClr val="dk2"/>
                </a:solidFill>
                <a:latin typeface="Arial"/>
                <a:ea typeface="Arial"/>
                <a:cs typeface="Arial"/>
                <a:sym typeface="Arial"/>
              </a:rPr>
              <a:t> </a:t>
            </a:r>
            <a:r>
              <a:rPr lang="en-US" altLang="zh-CN" sz="1200" b="0" i="0" u="none" strike="noStrike" cap="none" dirty="0">
                <a:solidFill>
                  <a:schemeClr val="dk2"/>
                </a:solidFill>
                <a:latin typeface="Arial"/>
                <a:ea typeface="Arial"/>
                <a:cs typeface="Arial"/>
                <a:sym typeface="Arial"/>
              </a:rPr>
              <a:t>r</a:t>
            </a:r>
            <a:r>
              <a:rPr lang="en" sz="1200" b="0" i="0" u="none" strike="noStrike" cap="none" dirty="0" err="1">
                <a:solidFill>
                  <a:schemeClr val="dk2"/>
                </a:solidFill>
                <a:latin typeface="Arial"/>
                <a:ea typeface="Arial"/>
                <a:cs typeface="Arial"/>
                <a:sym typeface="Arial"/>
              </a:rPr>
              <a:t>epresent</a:t>
            </a:r>
            <a:r>
              <a:rPr lang="en-US" altLang="zh-CN" sz="1200" b="0" i="0" u="none" strike="noStrike" cap="none" dirty="0" err="1">
                <a:solidFill>
                  <a:schemeClr val="dk2"/>
                </a:solidFill>
                <a:latin typeface="Arial"/>
                <a:ea typeface="Arial"/>
                <a:cs typeface="Arial"/>
                <a:sym typeface="Arial"/>
              </a:rPr>
              <a:t>ation</a:t>
            </a:r>
            <a:r>
              <a:rPr lang="zh-CN" altLang="en-US" sz="1200" b="0" i="0" u="none" strike="noStrike" cap="none" dirty="0">
                <a:solidFill>
                  <a:schemeClr val="dk2"/>
                </a:solidFill>
                <a:latin typeface="Arial"/>
                <a:ea typeface="Arial"/>
                <a:cs typeface="Arial"/>
                <a:sym typeface="Arial"/>
              </a:rPr>
              <a:t> </a:t>
            </a:r>
            <a:r>
              <a:rPr lang="en-US" altLang="zh-CN" sz="1200" b="0" i="0" u="none" strike="noStrike" cap="none" dirty="0">
                <a:solidFill>
                  <a:schemeClr val="dk2"/>
                </a:solidFill>
                <a:latin typeface="Arial"/>
                <a:ea typeface="Arial"/>
                <a:cs typeface="Arial"/>
                <a:sym typeface="Arial"/>
              </a:rPr>
              <a:t>of</a:t>
            </a:r>
            <a:r>
              <a:rPr lang="en" sz="1200" b="0" i="0" u="none" strike="noStrike" cap="none" dirty="0">
                <a:solidFill>
                  <a:schemeClr val="dk2"/>
                </a:solidFill>
                <a:latin typeface="Arial"/>
                <a:ea typeface="Arial"/>
                <a:cs typeface="Arial"/>
                <a:sym typeface="Arial"/>
              </a:rPr>
              <a:t> </a:t>
            </a:r>
            <a:r>
              <a:rPr lang="en-US" altLang="zh-CN" sz="1200" b="0" i="0" u="none" strike="noStrike" cap="none" dirty="0">
                <a:solidFill>
                  <a:schemeClr val="dk2"/>
                </a:solidFill>
                <a:latin typeface="Arial"/>
                <a:ea typeface="Arial"/>
                <a:cs typeface="Arial"/>
                <a:sym typeface="Arial"/>
              </a:rPr>
              <a:t>all</a:t>
            </a:r>
            <a:r>
              <a:rPr lang="zh-CN" altLang="en-US" sz="1200" b="0" i="0" u="none" strike="noStrike" cap="none" dirty="0">
                <a:solidFill>
                  <a:schemeClr val="dk2"/>
                </a:solidFill>
                <a:latin typeface="Arial"/>
                <a:ea typeface="Arial"/>
                <a:cs typeface="Arial"/>
                <a:sym typeface="Arial"/>
              </a:rPr>
              <a:t> </a:t>
            </a:r>
            <a:r>
              <a:rPr lang="en-US" altLang="zh-CN" sz="1200" b="0" i="0" u="none" strike="noStrike" cap="none" dirty="0">
                <a:solidFill>
                  <a:schemeClr val="dk2"/>
                </a:solidFill>
                <a:latin typeface="Arial"/>
                <a:ea typeface="Arial"/>
                <a:cs typeface="Arial"/>
                <a:sym typeface="Arial"/>
              </a:rPr>
              <a:t>protocols.</a:t>
            </a:r>
            <a:endParaRPr dirty="0"/>
          </a:p>
        </p:txBody>
      </p:sp>
      <p:sp>
        <p:nvSpPr>
          <p:cNvPr id="2" name="Rectangle 1">
            <a:extLst>
              <a:ext uri="{FF2B5EF4-FFF2-40B4-BE49-F238E27FC236}">
                <a16:creationId xmlns:a16="http://schemas.microsoft.com/office/drawing/2014/main" id="{F2FC229A-0138-DCE4-C33B-0D29A530737D}"/>
              </a:ext>
            </a:extLst>
          </p:cNvPr>
          <p:cNvSpPr/>
          <p:nvPr/>
        </p:nvSpPr>
        <p:spPr>
          <a:xfrm>
            <a:off x="153845" y="1017725"/>
            <a:ext cx="4507774" cy="4039092"/>
          </a:xfrm>
          <a:prstGeom prst="rect">
            <a:avLst/>
          </a:prstGeom>
          <a:solidFill>
            <a:schemeClr val="bg1">
              <a:alpha val="8477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500"/>
                                        <p:tgtEl>
                                          <p:spTgt spid="3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2">
                                            <p:txEl>
                                              <p:pRg st="0" end="0"/>
                                            </p:txEl>
                                          </p:spTgt>
                                        </p:tgtEl>
                                        <p:attrNameLst>
                                          <p:attrName>style.visibility</p:attrName>
                                        </p:attrNameLst>
                                      </p:cBhvr>
                                      <p:to>
                                        <p:strVal val="visible"/>
                                      </p:to>
                                    </p:set>
                                    <p:animEffect transition="in" filter="fade">
                                      <p:cBhvr>
                                        <p:cTn id="12" dur="500"/>
                                        <p:tgtEl>
                                          <p:spTgt spid="35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2">
                                            <p:txEl>
                                              <p:pRg st="1" end="1"/>
                                            </p:txEl>
                                          </p:spTgt>
                                        </p:tgtEl>
                                        <p:attrNameLst>
                                          <p:attrName>style.visibility</p:attrName>
                                        </p:attrNameLst>
                                      </p:cBhvr>
                                      <p:to>
                                        <p:strVal val="visible"/>
                                      </p:to>
                                    </p:set>
                                    <p:animEffect transition="in" filter="fade">
                                      <p:cBhvr>
                                        <p:cTn id="17" dur="500"/>
                                        <p:tgtEl>
                                          <p:spTgt spid="352">
                                            <p:txEl>
                                              <p:pRg st="1" end="1"/>
                                            </p:txEl>
                                          </p:spTgt>
                                        </p:tgtEl>
                                      </p:cBhvr>
                                    </p:animEffect>
                                  </p:childTnLst>
                                </p:cTn>
                              </p:par>
                              <p:par>
                                <p:cTn id="18" presetID="1" presetClass="entr" presetSubtype="0" fill="hold" nodeType="withEffect">
                                  <p:stCondLst>
                                    <p:cond delay="0"/>
                                  </p:stCondLst>
                                  <p:childTnLst>
                                    <p:set>
                                      <p:cBhvr>
                                        <p:cTn id="19" dur="1" fill="hold">
                                          <p:stCondLst>
                                            <p:cond delay="0"/>
                                          </p:stCondLst>
                                        </p:cTn>
                                        <p:tgtEl>
                                          <p:spTgt spid="409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76"/>
                                        </p:tgtEl>
                                        <p:attrNameLst>
                                          <p:attrName>style.visibility</p:attrName>
                                        </p:attrNameLst>
                                      </p:cBhvr>
                                      <p:to>
                                        <p:strVal val="visible"/>
                                      </p:to>
                                    </p:set>
                                    <p:animEffect transition="in" filter="fade">
                                      <p:cBhvr>
                                        <p:cTn id="29" dur="500"/>
                                        <p:tgtEl>
                                          <p:spTgt spid="27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53">
                                            <p:txEl>
                                              <p:pRg st="0" end="0"/>
                                            </p:txEl>
                                          </p:spTgt>
                                        </p:tgtEl>
                                        <p:attrNameLst>
                                          <p:attrName>style.visibility</p:attrName>
                                        </p:attrNameLst>
                                      </p:cBhvr>
                                      <p:to>
                                        <p:strVal val="visible"/>
                                      </p:to>
                                    </p:set>
                                    <p:animEffect transition="in" filter="fade">
                                      <p:cBhvr>
                                        <p:cTn id="34" dur="500"/>
                                        <p:tgtEl>
                                          <p:spTgt spid="35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3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Outline</a:t>
            </a:r>
            <a:endParaRPr/>
          </a:p>
        </p:txBody>
      </p:sp>
      <p:sp>
        <p:nvSpPr>
          <p:cNvPr id="359" name="Google Shape;359;p3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rgbClr val="C7C7C7"/>
                </a:solidFill>
              </a:rPr>
              <a:t>Message-level protocol compliance definition</a:t>
            </a:r>
            <a:endParaRPr/>
          </a:p>
          <a:p>
            <a:pPr marL="457200" lvl="0" indent="-228600" algn="l" rtl="0">
              <a:lnSpc>
                <a:spcPct val="115000"/>
              </a:lnSpc>
              <a:spcBef>
                <a:spcPts val="0"/>
              </a:spcBef>
              <a:spcAft>
                <a:spcPts val="0"/>
              </a:spcAft>
              <a:buSzPts val="1800"/>
              <a:buNone/>
            </a:pPr>
            <a:endParaRPr>
              <a:solidFill>
                <a:srgbClr val="C7C7C7"/>
              </a:solidFill>
            </a:endParaRPr>
          </a:p>
          <a:p>
            <a:pPr marL="457200" lvl="0" indent="-342900" algn="l" rtl="0">
              <a:lnSpc>
                <a:spcPct val="115000"/>
              </a:lnSpc>
              <a:spcBef>
                <a:spcPts val="0"/>
              </a:spcBef>
              <a:spcAft>
                <a:spcPts val="0"/>
              </a:spcAft>
              <a:buSzPts val="1800"/>
              <a:buChar char="●"/>
            </a:pPr>
            <a:r>
              <a:rPr lang="en">
                <a:solidFill>
                  <a:schemeClr val="dk1"/>
                </a:solidFill>
              </a:rPr>
              <a:t>RTC calling traffic collection &amp; Message extraction</a:t>
            </a:r>
            <a:endParaRPr>
              <a:solidFill>
                <a:schemeClr val="dk1"/>
              </a:solidFill>
            </a:endParaRPr>
          </a:p>
          <a:p>
            <a:pPr marL="457200" lvl="0" indent="-228600" algn="l" rtl="0">
              <a:lnSpc>
                <a:spcPct val="115000"/>
              </a:lnSpc>
              <a:spcBef>
                <a:spcPts val="0"/>
              </a:spcBef>
              <a:spcAft>
                <a:spcPts val="0"/>
              </a:spcAft>
              <a:buSzPts val="1800"/>
              <a:buFont typeface="Arial"/>
              <a:buNone/>
            </a:pPr>
            <a:endParaRPr>
              <a:solidFill>
                <a:schemeClr val="dk1"/>
              </a:solidFill>
            </a:endParaRPr>
          </a:p>
          <a:p>
            <a:pPr marL="457200" lvl="0" indent="-342900" algn="l" rtl="0">
              <a:lnSpc>
                <a:spcPct val="115000"/>
              </a:lnSpc>
              <a:spcBef>
                <a:spcPts val="0"/>
              </a:spcBef>
              <a:spcAft>
                <a:spcPts val="0"/>
              </a:spcAft>
              <a:buSzPts val="1800"/>
              <a:buFont typeface="Arial"/>
              <a:buChar char="●"/>
            </a:pPr>
            <a:r>
              <a:rPr lang="en">
                <a:solidFill>
                  <a:srgbClr val="C7C7C7"/>
                </a:solidFill>
              </a:rPr>
              <a:t>Quantitative analysis results on collected traffic</a:t>
            </a:r>
            <a:endParaRPr/>
          </a:p>
          <a:p>
            <a:pPr marL="457200" lvl="0" indent="-228600" algn="l" rtl="0">
              <a:lnSpc>
                <a:spcPct val="115000"/>
              </a:lnSpc>
              <a:spcBef>
                <a:spcPts val="0"/>
              </a:spcBef>
              <a:spcAft>
                <a:spcPts val="0"/>
              </a:spcAft>
              <a:buSzPts val="1800"/>
              <a:buNone/>
            </a:pPr>
            <a:endParaRPr>
              <a:solidFill>
                <a:srgbClr val="C7C7C7"/>
              </a:solidFill>
            </a:endParaRPr>
          </a:p>
          <a:p>
            <a:pPr marL="457200" lvl="0" indent="-342900" algn="l" rtl="0">
              <a:lnSpc>
                <a:spcPct val="115000"/>
              </a:lnSpc>
              <a:spcBef>
                <a:spcPts val="0"/>
              </a:spcBef>
              <a:spcAft>
                <a:spcPts val="0"/>
              </a:spcAft>
              <a:buSzPts val="1800"/>
              <a:buChar char="●"/>
            </a:pPr>
            <a:r>
              <a:rPr lang="en">
                <a:solidFill>
                  <a:srgbClr val="C7C7C7"/>
                </a:solidFill>
              </a:rPr>
              <a:t>Case studies</a:t>
            </a:r>
            <a:endParaRPr/>
          </a:p>
          <a:p>
            <a:pPr marL="457200" lvl="0" indent="-228600" algn="l" rtl="0">
              <a:lnSpc>
                <a:spcPct val="115000"/>
              </a:lnSpc>
              <a:spcBef>
                <a:spcPts val="0"/>
              </a:spcBef>
              <a:spcAft>
                <a:spcPts val="0"/>
              </a:spcAft>
              <a:buSzPts val="1800"/>
              <a:buNone/>
            </a:pPr>
            <a:endParaRPr>
              <a:solidFill>
                <a:schemeClr val="dk1"/>
              </a:solidFill>
            </a:endParaRPr>
          </a:p>
        </p:txBody>
      </p:sp>
      <p:sp>
        <p:nvSpPr>
          <p:cNvPr id="360" name="Google Shape;360;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Experiment setup</a:t>
            </a:r>
            <a:endParaRPr/>
          </a:p>
        </p:txBody>
      </p:sp>
      <p:pic>
        <p:nvPicPr>
          <p:cNvPr id="366" name="Google Shape;366;p37" descr="Iphone Generic outline icon | Freepik"/>
          <p:cNvPicPr preferRelativeResize="0"/>
          <p:nvPr/>
        </p:nvPicPr>
        <p:blipFill rotWithShape="1">
          <a:blip r:embed="rId3">
            <a:alphaModFix/>
          </a:blip>
          <a:srcRect/>
          <a:stretch/>
        </p:blipFill>
        <p:spPr>
          <a:xfrm>
            <a:off x="1495073" y="1828331"/>
            <a:ext cx="539848" cy="539848"/>
          </a:xfrm>
          <a:prstGeom prst="rect">
            <a:avLst/>
          </a:prstGeom>
          <a:noFill/>
          <a:ln>
            <a:noFill/>
          </a:ln>
        </p:spPr>
      </p:pic>
      <p:pic>
        <p:nvPicPr>
          <p:cNvPr id="367" name="Google Shape;367;p37" descr="Iphone Generic outline icon | Freepik"/>
          <p:cNvPicPr preferRelativeResize="0"/>
          <p:nvPr/>
        </p:nvPicPr>
        <p:blipFill rotWithShape="1">
          <a:blip r:embed="rId3">
            <a:alphaModFix/>
          </a:blip>
          <a:srcRect/>
          <a:stretch/>
        </p:blipFill>
        <p:spPr>
          <a:xfrm>
            <a:off x="4370351" y="1828330"/>
            <a:ext cx="539848" cy="539848"/>
          </a:xfrm>
          <a:prstGeom prst="rect">
            <a:avLst/>
          </a:prstGeom>
          <a:noFill/>
          <a:ln>
            <a:noFill/>
          </a:ln>
        </p:spPr>
      </p:pic>
      <p:pic>
        <p:nvPicPr>
          <p:cNvPr id="368" name="Google Shape;368;p37" descr="Macbook Icons - Free SVG &amp; PNG Macbook ..."/>
          <p:cNvPicPr preferRelativeResize="0"/>
          <p:nvPr/>
        </p:nvPicPr>
        <p:blipFill rotWithShape="1">
          <a:blip r:embed="rId4">
            <a:alphaModFix/>
          </a:blip>
          <a:srcRect/>
          <a:stretch/>
        </p:blipFill>
        <p:spPr>
          <a:xfrm>
            <a:off x="2717749" y="2638103"/>
            <a:ext cx="1074545" cy="1074545"/>
          </a:xfrm>
          <a:prstGeom prst="rect">
            <a:avLst/>
          </a:prstGeom>
          <a:noFill/>
          <a:ln>
            <a:noFill/>
          </a:ln>
        </p:spPr>
      </p:pic>
      <p:cxnSp>
        <p:nvCxnSpPr>
          <p:cNvPr id="369" name="Google Shape;369;p37"/>
          <p:cNvCxnSpPr>
            <a:stCxn id="366" idx="2"/>
            <a:endCxn id="368" idx="1"/>
          </p:cNvCxnSpPr>
          <p:nvPr/>
        </p:nvCxnSpPr>
        <p:spPr>
          <a:xfrm>
            <a:off x="1764997" y="2368179"/>
            <a:ext cx="952800" cy="807300"/>
          </a:xfrm>
          <a:prstGeom prst="straightConnector1">
            <a:avLst/>
          </a:prstGeom>
          <a:noFill/>
          <a:ln w="9525" cap="flat" cmpd="sng">
            <a:solidFill>
              <a:srgbClr val="3B7FF2"/>
            </a:solidFill>
            <a:prstDash val="solid"/>
            <a:round/>
            <a:headEnd type="none" w="sm" len="sm"/>
            <a:tailEnd type="none" w="sm" len="sm"/>
          </a:ln>
        </p:spPr>
      </p:cxnSp>
      <p:cxnSp>
        <p:nvCxnSpPr>
          <p:cNvPr id="370" name="Google Shape;370;p37"/>
          <p:cNvCxnSpPr>
            <a:stCxn id="368" idx="3"/>
            <a:endCxn id="367" idx="2"/>
          </p:cNvCxnSpPr>
          <p:nvPr/>
        </p:nvCxnSpPr>
        <p:spPr>
          <a:xfrm rot="10800000" flipH="1">
            <a:off x="3792294" y="2368076"/>
            <a:ext cx="848100" cy="807300"/>
          </a:xfrm>
          <a:prstGeom prst="straightConnector1">
            <a:avLst/>
          </a:prstGeom>
          <a:noFill/>
          <a:ln w="9525" cap="flat" cmpd="sng">
            <a:solidFill>
              <a:srgbClr val="3B7FF2"/>
            </a:solidFill>
            <a:prstDash val="solid"/>
            <a:round/>
            <a:headEnd type="none" w="sm" len="sm"/>
            <a:tailEnd type="none" w="sm" len="sm"/>
          </a:ln>
        </p:spPr>
      </p:cxnSp>
      <p:sp>
        <p:nvSpPr>
          <p:cNvPr id="371" name="Google Shape;371;p37"/>
          <p:cNvSpPr txBox="1"/>
          <p:nvPr/>
        </p:nvSpPr>
        <p:spPr>
          <a:xfrm>
            <a:off x="699850" y="2744488"/>
            <a:ext cx="1795683"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 sz="1050" b="0" i="0" u="none" strike="noStrike" cap="none">
                <a:solidFill>
                  <a:srgbClr val="0C5ADB"/>
                </a:solidFill>
                <a:latin typeface="Arial"/>
                <a:ea typeface="Arial"/>
                <a:cs typeface="Arial"/>
                <a:sym typeface="Arial"/>
              </a:rPr>
              <a:t>RVI</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050"/>
              <a:buFont typeface="Arial"/>
              <a:buNone/>
            </a:pPr>
            <a:r>
              <a:rPr lang="en" sz="1050" b="0" i="0" u="none" strike="noStrike" cap="none">
                <a:solidFill>
                  <a:srgbClr val="0C5ADB"/>
                </a:solidFill>
                <a:latin typeface="Arial"/>
                <a:ea typeface="Arial"/>
                <a:cs typeface="Arial"/>
                <a:sym typeface="Arial"/>
              </a:rPr>
              <a:t>(Remote Virtual Interface)</a:t>
            </a:r>
            <a:endParaRPr sz="1050" b="0" i="0" u="none" strike="noStrike" cap="none">
              <a:solidFill>
                <a:srgbClr val="0C5ADB"/>
              </a:solidFill>
              <a:latin typeface="Arial"/>
              <a:ea typeface="Arial"/>
              <a:cs typeface="Arial"/>
              <a:sym typeface="Arial"/>
            </a:endParaRPr>
          </a:p>
        </p:txBody>
      </p:sp>
      <p:sp>
        <p:nvSpPr>
          <p:cNvPr id="372" name="Google Shape;372;p37"/>
          <p:cNvSpPr txBox="1"/>
          <p:nvPr/>
        </p:nvSpPr>
        <p:spPr>
          <a:xfrm>
            <a:off x="4231189" y="2832973"/>
            <a:ext cx="409086" cy="25391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 sz="1050" b="0" i="0" u="none" strike="noStrike" cap="none">
                <a:solidFill>
                  <a:srgbClr val="0C5ADB"/>
                </a:solidFill>
                <a:latin typeface="Arial"/>
                <a:ea typeface="Arial"/>
                <a:cs typeface="Arial"/>
                <a:sym typeface="Arial"/>
              </a:rPr>
              <a:t>RVI</a:t>
            </a:r>
            <a:endParaRPr sz="1400" b="0" i="0" u="none" strike="noStrike" cap="none">
              <a:solidFill>
                <a:srgbClr val="000000"/>
              </a:solidFill>
              <a:latin typeface="Arial"/>
              <a:ea typeface="Arial"/>
              <a:cs typeface="Arial"/>
              <a:sym typeface="Arial"/>
            </a:endParaRPr>
          </a:p>
        </p:txBody>
      </p:sp>
      <p:sp>
        <p:nvSpPr>
          <p:cNvPr id="373" name="Google Shape;373;p37"/>
          <p:cNvSpPr txBox="1"/>
          <p:nvPr/>
        </p:nvSpPr>
        <p:spPr>
          <a:xfrm>
            <a:off x="2555951" y="3519618"/>
            <a:ext cx="139814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Traffic collector</a:t>
            </a:r>
            <a:endParaRPr sz="1400" b="0" i="0" u="none" strike="noStrike" cap="none">
              <a:solidFill>
                <a:srgbClr val="000000"/>
              </a:solidFill>
              <a:latin typeface="Arial"/>
              <a:ea typeface="Arial"/>
              <a:cs typeface="Arial"/>
              <a:sym typeface="Arial"/>
            </a:endParaRPr>
          </a:p>
        </p:txBody>
      </p:sp>
      <p:sp>
        <p:nvSpPr>
          <p:cNvPr id="374" name="Google Shape;374;p37"/>
          <p:cNvSpPr txBox="1"/>
          <p:nvPr/>
        </p:nvSpPr>
        <p:spPr>
          <a:xfrm>
            <a:off x="812245" y="1906512"/>
            <a:ext cx="65274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Caller</a:t>
            </a:r>
            <a:endParaRPr sz="1400" b="0" i="0" u="none" strike="noStrike" cap="none">
              <a:solidFill>
                <a:srgbClr val="000000"/>
              </a:solidFill>
              <a:latin typeface="Arial"/>
              <a:ea typeface="Arial"/>
              <a:cs typeface="Arial"/>
              <a:sym typeface="Arial"/>
            </a:endParaRPr>
          </a:p>
        </p:txBody>
      </p:sp>
      <p:sp>
        <p:nvSpPr>
          <p:cNvPr id="375" name="Google Shape;375;p37"/>
          <p:cNvSpPr txBox="1"/>
          <p:nvPr/>
        </p:nvSpPr>
        <p:spPr>
          <a:xfrm>
            <a:off x="4910199" y="1906512"/>
            <a:ext cx="6928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Callee</a:t>
            </a:r>
            <a:endParaRPr sz="1400" b="0" i="0" u="none" strike="noStrike" cap="none">
              <a:solidFill>
                <a:srgbClr val="000000"/>
              </a:solidFill>
              <a:latin typeface="Arial"/>
              <a:ea typeface="Arial"/>
              <a:cs typeface="Arial"/>
              <a:sym typeface="Arial"/>
            </a:endParaRPr>
          </a:p>
        </p:txBody>
      </p:sp>
      <p:sp>
        <p:nvSpPr>
          <p:cNvPr id="376" name="Google Shape;376;p37"/>
          <p:cNvSpPr/>
          <p:nvPr/>
        </p:nvSpPr>
        <p:spPr>
          <a:xfrm>
            <a:off x="2181187" y="1948785"/>
            <a:ext cx="2147668" cy="75151"/>
          </a:xfrm>
          <a:prstGeom prst="leftRightArrow">
            <a:avLst>
              <a:gd name="adj1" fmla="val 50000"/>
              <a:gd name="adj2" fmla="val 92395"/>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77" name="Google Shape;377;p37"/>
          <p:cNvSpPr txBox="1"/>
          <p:nvPr/>
        </p:nvSpPr>
        <p:spPr>
          <a:xfrm>
            <a:off x="2313625" y="1195735"/>
            <a:ext cx="1767698" cy="7386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50"/>
              <a:buFont typeface="Arial"/>
              <a:buNone/>
            </a:pPr>
            <a:r>
              <a:rPr lang="en" sz="1050" b="0" i="0" u="none" strike="noStrike" cap="none">
                <a:solidFill>
                  <a:srgbClr val="0C5ADB"/>
                </a:solidFill>
                <a:latin typeface="Arial"/>
                <a:ea typeface="Arial"/>
                <a:cs typeface="Arial"/>
                <a:sym typeface="Arial"/>
              </a:rPr>
              <a:t>Network:</a:t>
            </a:r>
            <a:endParaRPr sz="1400" b="0" i="0" u="none" strike="noStrike" cap="none">
              <a:solidFill>
                <a:srgbClr val="000000"/>
              </a:solidFill>
              <a:latin typeface="Arial"/>
              <a:ea typeface="Arial"/>
              <a:cs typeface="Arial"/>
              <a:sym typeface="Arial"/>
            </a:endParaRPr>
          </a:p>
          <a:p>
            <a:pPr marL="228600" marR="0" lvl="0" indent="-228600" algn="ctr" rtl="0">
              <a:lnSpc>
                <a:spcPct val="100000"/>
              </a:lnSpc>
              <a:spcBef>
                <a:spcPts val="0"/>
              </a:spcBef>
              <a:spcAft>
                <a:spcPts val="0"/>
              </a:spcAft>
              <a:buClr>
                <a:srgbClr val="000000"/>
              </a:buClr>
              <a:buSzPts val="1050"/>
              <a:buFont typeface="Arial"/>
              <a:buAutoNum type="arabicPeriod"/>
            </a:pPr>
            <a:r>
              <a:rPr lang="en" sz="1050" b="0" i="0" u="none" strike="noStrike" cap="none">
                <a:solidFill>
                  <a:srgbClr val="0C5ADB"/>
                </a:solidFill>
                <a:latin typeface="Arial"/>
                <a:ea typeface="Arial"/>
                <a:cs typeface="Arial"/>
                <a:sym typeface="Arial"/>
              </a:rPr>
              <a:t>Wi-Fi (P2P enabled)</a:t>
            </a:r>
            <a:endParaRPr sz="1400" b="0" i="0" u="none" strike="noStrike" cap="none">
              <a:solidFill>
                <a:srgbClr val="000000"/>
              </a:solidFill>
              <a:latin typeface="Arial"/>
              <a:ea typeface="Arial"/>
              <a:cs typeface="Arial"/>
              <a:sym typeface="Arial"/>
            </a:endParaRPr>
          </a:p>
          <a:p>
            <a:pPr marL="228600" marR="0" lvl="0" indent="-228600" algn="ctr" rtl="0">
              <a:lnSpc>
                <a:spcPct val="100000"/>
              </a:lnSpc>
              <a:spcBef>
                <a:spcPts val="0"/>
              </a:spcBef>
              <a:spcAft>
                <a:spcPts val="0"/>
              </a:spcAft>
              <a:buClr>
                <a:srgbClr val="000000"/>
              </a:buClr>
              <a:buSzPts val="1050"/>
              <a:buFont typeface="Arial"/>
              <a:buAutoNum type="arabicPeriod"/>
            </a:pPr>
            <a:r>
              <a:rPr lang="en" sz="1050" b="0" i="0" u="none" strike="noStrike" cap="none">
                <a:solidFill>
                  <a:srgbClr val="0C5ADB"/>
                </a:solidFill>
                <a:latin typeface="Arial"/>
                <a:ea typeface="Arial"/>
                <a:cs typeface="Arial"/>
                <a:sym typeface="Arial"/>
              </a:rPr>
              <a:t>Wi-Fi (relay mode)</a:t>
            </a:r>
            <a:endParaRPr sz="1400" b="0" i="0" u="none" strike="noStrike" cap="none">
              <a:solidFill>
                <a:srgbClr val="000000"/>
              </a:solidFill>
              <a:latin typeface="Arial"/>
              <a:ea typeface="Arial"/>
              <a:cs typeface="Arial"/>
              <a:sym typeface="Arial"/>
            </a:endParaRPr>
          </a:p>
          <a:p>
            <a:pPr marL="228600" marR="0" lvl="0" indent="-228600" algn="ctr" rtl="0">
              <a:lnSpc>
                <a:spcPct val="100000"/>
              </a:lnSpc>
              <a:spcBef>
                <a:spcPts val="0"/>
              </a:spcBef>
              <a:spcAft>
                <a:spcPts val="0"/>
              </a:spcAft>
              <a:buClr>
                <a:srgbClr val="000000"/>
              </a:buClr>
              <a:buSzPts val="1050"/>
              <a:buFont typeface="Arial"/>
              <a:buAutoNum type="arabicPeriod"/>
            </a:pPr>
            <a:r>
              <a:rPr lang="en" sz="1050" b="0" i="0" u="none" strike="noStrike" cap="none">
                <a:solidFill>
                  <a:srgbClr val="0C5ADB"/>
                </a:solidFill>
                <a:latin typeface="Arial"/>
                <a:ea typeface="Arial"/>
                <a:cs typeface="Arial"/>
                <a:sym typeface="Arial"/>
              </a:rPr>
              <a:t>Cellular</a:t>
            </a:r>
            <a:endParaRPr sz="1400" b="0" i="0" u="none" strike="noStrike" cap="none">
              <a:solidFill>
                <a:srgbClr val="000000"/>
              </a:solidFill>
              <a:latin typeface="Arial"/>
              <a:ea typeface="Arial"/>
              <a:cs typeface="Arial"/>
              <a:sym typeface="Arial"/>
            </a:endParaRPr>
          </a:p>
        </p:txBody>
      </p:sp>
      <p:sp>
        <p:nvSpPr>
          <p:cNvPr id="378" name="Google Shape;378;p37"/>
          <p:cNvSpPr txBox="1"/>
          <p:nvPr/>
        </p:nvSpPr>
        <p:spPr>
          <a:xfrm>
            <a:off x="6328025" y="1740751"/>
            <a:ext cx="2363147" cy="18158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Traffic summary:</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90 1-on-1 calls across 6 RTC applications, ~10 hours in length</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dirty="0">
                <a:solidFill>
                  <a:srgbClr val="000000"/>
                </a:solidFill>
                <a:latin typeface="Arial"/>
                <a:ea typeface="Arial"/>
                <a:cs typeface="Arial"/>
                <a:sym typeface="Arial"/>
              </a:rPr>
              <a:t>6 million UDP datagrams</a:t>
            </a:r>
          </a:p>
          <a:p>
            <a:pPr marL="285750" marR="0" lvl="0" indent="-285750" algn="l" rtl="0">
              <a:lnSpc>
                <a:spcPct val="100000"/>
              </a:lnSpc>
              <a:spcBef>
                <a:spcPts val="0"/>
              </a:spcBef>
              <a:spcAft>
                <a:spcPts val="0"/>
              </a:spcAft>
              <a:buClr>
                <a:srgbClr val="000000"/>
              </a:buClr>
              <a:buSzPts val="1400"/>
              <a:buFont typeface="Arial"/>
              <a:buChar char="•"/>
            </a:pPr>
            <a:r>
              <a:rPr lang="en-US" altLang="zh-CN" dirty="0"/>
              <a:t>Traffic</a:t>
            </a:r>
            <a:r>
              <a:rPr lang="zh-CN" altLang="en-US" dirty="0"/>
              <a:t> </a:t>
            </a:r>
            <a:r>
              <a:rPr lang="en-US" altLang="zh-CN" dirty="0"/>
              <a:t>collected</a:t>
            </a:r>
            <a:r>
              <a:rPr lang="zh-CN" altLang="en-US" dirty="0"/>
              <a:t> </a:t>
            </a:r>
            <a:r>
              <a:rPr lang="en-US" altLang="zh-CN" dirty="0"/>
              <a:t>between</a:t>
            </a:r>
            <a:r>
              <a:rPr lang="zh-CN" altLang="en-US" dirty="0"/>
              <a:t> </a:t>
            </a:r>
            <a:r>
              <a:rPr lang="en-US" altLang="zh-CN" dirty="0"/>
              <a:t>Feb-Sep</a:t>
            </a:r>
            <a:r>
              <a:rPr lang="zh-CN" altLang="en-US" dirty="0"/>
              <a:t> </a:t>
            </a:r>
            <a:r>
              <a:rPr lang="en-US" altLang="zh-CN" dirty="0"/>
              <a:t>2025</a:t>
            </a:r>
            <a:endParaRPr sz="1400" b="0" i="0" u="none" strike="noStrike" cap="none" dirty="0">
              <a:solidFill>
                <a:srgbClr val="000000"/>
              </a:solidFill>
              <a:latin typeface="Arial"/>
              <a:ea typeface="Arial"/>
              <a:cs typeface="Arial"/>
              <a:sym typeface="Arial"/>
            </a:endParaRPr>
          </a:p>
        </p:txBody>
      </p:sp>
      <p:pic>
        <p:nvPicPr>
          <p:cNvPr id="379" name="Google Shape;379;p37" descr="Messenger Logo Icon 21495949 PNG"/>
          <p:cNvPicPr preferRelativeResize="0"/>
          <p:nvPr/>
        </p:nvPicPr>
        <p:blipFill rotWithShape="1">
          <a:blip r:embed="rId5">
            <a:alphaModFix/>
          </a:blip>
          <a:srcRect/>
          <a:stretch/>
        </p:blipFill>
        <p:spPr>
          <a:xfrm>
            <a:off x="2213831" y="4158891"/>
            <a:ext cx="741734" cy="745045"/>
          </a:xfrm>
          <a:prstGeom prst="rect">
            <a:avLst/>
          </a:prstGeom>
          <a:noFill/>
          <a:ln>
            <a:noFill/>
          </a:ln>
        </p:spPr>
      </p:pic>
      <p:pic>
        <p:nvPicPr>
          <p:cNvPr id="380" name="Google Shape;380;p37"/>
          <p:cNvPicPr preferRelativeResize="0"/>
          <p:nvPr/>
        </p:nvPicPr>
        <p:blipFill rotWithShape="1">
          <a:blip r:embed="rId6">
            <a:alphaModFix/>
          </a:blip>
          <a:srcRect/>
          <a:stretch/>
        </p:blipFill>
        <p:spPr>
          <a:xfrm>
            <a:off x="2883222" y="4254639"/>
            <a:ext cx="551086" cy="553547"/>
          </a:xfrm>
          <a:prstGeom prst="rect">
            <a:avLst/>
          </a:prstGeom>
          <a:noFill/>
          <a:ln>
            <a:noFill/>
          </a:ln>
        </p:spPr>
      </p:pic>
      <p:pic>
        <p:nvPicPr>
          <p:cNvPr id="381" name="Google Shape;381;p37"/>
          <p:cNvPicPr preferRelativeResize="0"/>
          <p:nvPr/>
        </p:nvPicPr>
        <p:blipFill rotWithShape="1">
          <a:blip r:embed="rId7">
            <a:alphaModFix/>
          </a:blip>
          <a:srcRect/>
          <a:stretch/>
        </p:blipFill>
        <p:spPr>
          <a:xfrm>
            <a:off x="3538781" y="4312377"/>
            <a:ext cx="438069" cy="438069"/>
          </a:xfrm>
          <a:prstGeom prst="rect">
            <a:avLst/>
          </a:prstGeom>
          <a:noFill/>
          <a:ln>
            <a:noFill/>
          </a:ln>
        </p:spPr>
      </p:pic>
      <p:pic>
        <p:nvPicPr>
          <p:cNvPr id="382" name="Google Shape;382;p37" descr="Discord logo, Discord icon, Discord ..."/>
          <p:cNvPicPr preferRelativeResize="0"/>
          <p:nvPr/>
        </p:nvPicPr>
        <p:blipFill rotWithShape="1">
          <a:blip r:embed="rId8">
            <a:alphaModFix/>
          </a:blip>
          <a:srcRect/>
          <a:stretch/>
        </p:blipFill>
        <p:spPr>
          <a:xfrm>
            <a:off x="1643276" y="4204468"/>
            <a:ext cx="680714" cy="680714"/>
          </a:xfrm>
          <a:prstGeom prst="rect">
            <a:avLst/>
          </a:prstGeom>
          <a:noFill/>
          <a:ln>
            <a:noFill/>
          </a:ln>
        </p:spPr>
      </p:pic>
      <p:pic>
        <p:nvPicPr>
          <p:cNvPr id="383" name="Google Shape;383;p37" descr="Google Meets - Flat - Wired - Lordicon"/>
          <p:cNvPicPr preferRelativeResize="0"/>
          <p:nvPr/>
        </p:nvPicPr>
        <p:blipFill rotWithShape="1">
          <a:blip r:embed="rId9">
            <a:alphaModFix/>
          </a:blip>
          <a:srcRect/>
          <a:stretch/>
        </p:blipFill>
        <p:spPr>
          <a:xfrm>
            <a:off x="1148684" y="4259437"/>
            <a:ext cx="570776" cy="570776"/>
          </a:xfrm>
          <a:prstGeom prst="rect">
            <a:avLst/>
          </a:prstGeom>
          <a:noFill/>
          <a:ln>
            <a:noFill/>
          </a:ln>
        </p:spPr>
      </p:pic>
      <p:pic>
        <p:nvPicPr>
          <p:cNvPr id="384" name="Google Shape;384;p37" descr="Zoom Logo and symbol, meaning, history, PNG"/>
          <p:cNvPicPr preferRelativeResize="0"/>
          <p:nvPr/>
        </p:nvPicPr>
        <p:blipFill rotWithShape="1">
          <a:blip r:embed="rId10">
            <a:alphaModFix/>
          </a:blip>
          <a:srcRect l="18712" r="22136"/>
          <a:stretch/>
        </p:blipFill>
        <p:spPr>
          <a:xfrm>
            <a:off x="4081323" y="4284350"/>
            <a:ext cx="490677" cy="466096"/>
          </a:xfrm>
          <a:prstGeom prst="rect">
            <a:avLst/>
          </a:prstGeom>
          <a:noFill/>
          <a:ln>
            <a:noFill/>
          </a:ln>
        </p:spPr>
      </p:pic>
      <p:sp>
        <p:nvSpPr>
          <p:cNvPr id="385" name="Google Shape;385;p37"/>
          <p:cNvSpPr txBox="1"/>
          <p:nvPr/>
        </p:nvSpPr>
        <p:spPr>
          <a:xfrm>
            <a:off x="4910199" y="4380503"/>
            <a:ext cx="236314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6 popular RTC mobile apps</a:t>
            </a:r>
            <a:endParaRPr sz="1400" b="0" i="0" u="none" strike="noStrike" cap="none" dirty="0">
              <a:solidFill>
                <a:srgbClr val="000000"/>
              </a:solidFill>
              <a:latin typeface="Arial"/>
              <a:ea typeface="Arial"/>
              <a:cs typeface="Arial"/>
              <a:sym typeface="Arial"/>
            </a:endParaRPr>
          </a:p>
        </p:txBody>
      </p:sp>
      <p:sp>
        <p:nvSpPr>
          <p:cNvPr id="386" name="Google Shape;386;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6"/>
                                        </p:tgtEl>
                                        <p:attrNameLst>
                                          <p:attrName>style.visibility</p:attrName>
                                        </p:attrNameLst>
                                      </p:cBhvr>
                                      <p:to>
                                        <p:strVal val="visible"/>
                                      </p:to>
                                    </p:set>
                                    <p:animEffect transition="in" filter="fade">
                                      <p:cBhvr>
                                        <p:cTn id="7" dur="500"/>
                                        <p:tgtEl>
                                          <p:spTgt spid="376"/>
                                        </p:tgtEl>
                                      </p:cBhvr>
                                    </p:animEffect>
                                  </p:childTnLst>
                                </p:cTn>
                              </p:par>
                              <p:par>
                                <p:cTn id="8" presetID="10" presetClass="entr" presetSubtype="0" fill="hold" nodeType="withEffect">
                                  <p:stCondLst>
                                    <p:cond delay="0"/>
                                  </p:stCondLst>
                                  <p:childTnLst>
                                    <p:set>
                                      <p:cBhvr>
                                        <p:cTn id="9" dur="1" fill="hold">
                                          <p:stCondLst>
                                            <p:cond delay="0"/>
                                          </p:stCondLst>
                                        </p:cTn>
                                        <p:tgtEl>
                                          <p:spTgt spid="377"/>
                                        </p:tgtEl>
                                        <p:attrNameLst>
                                          <p:attrName>style.visibility</p:attrName>
                                        </p:attrNameLst>
                                      </p:cBhvr>
                                      <p:to>
                                        <p:strVal val="visible"/>
                                      </p:to>
                                    </p:set>
                                    <p:animEffect transition="in" filter="fade">
                                      <p:cBhvr>
                                        <p:cTn id="10" dur="500"/>
                                        <p:tgtEl>
                                          <p:spTgt spid="37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79"/>
                                        </p:tgtEl>
                                        <p:attrNameLst>
                                          <p:attrName>style.visibility</p:attrName>
                                        </p:attrNameLst>
                                      </p:cBhvr>
                                      <p:to>
                                        <p:strVal val="visible"/>
                                      </p:to>
                                    </p:set>
                                    <p:animEffect transition="in" filter="fade">
                                      <p:cBhvr>
                                        <p:cTn id="15" dur="500"/>
                                        <p:tgtEl>
                                          <p:spTgt spid="379"/>
                                        </p:tgtEl>
                                      </p:cBhvr>
                                    </p:animEffect>
                                  </p:childTnLst>
                                </p:cTn>
                              </p:par>
                              <p:par>
                                <p:cTn id="16" presetID="10" presetClass="entr" presetSubtype="0" fill="hold" nodeType="withEffect">
                                  <p:stCondLst>
                                    <p:cond delay="0"/>
                                  </p:stCondLst>
                                  <p:childTnLst>
                                    <p:set>
                                      <p:cBhvr>
                                        <p:cTn id="17" dur="1" fill="hold">
                                          <p:stCondLst>
                                            <p:cond delay="0"/>
                                          </p:stCondLst>
                                        </p:cTn>
                                        <p:tgtEl>
                                          <p:spTgt spid="380"/>
                                        </p:tgtEl>
                                        <p:attrNameLst>
                                          <p:attrName>style.visibility</p:attrName>
                                        </p:attrNameLst>
                                      </p:cBhvr>
                                      <p:to>
                                        <p:strVal val="visible"/>
                                      </p:to>
                                    </p:set>
                                    <p:animEffect transition="in" filter="fade">
                                      <p:cBhvr>
                                        <p:cTn id="18" dur="500"/>
                                        <p:tgtEl>
                                          <p:spTgt spid="380"/>
                                        </p:tgtEl>
                                      </p:cBhvr>
                                    </p:animEffect>
                                  </p:childTnLst>
                                </p:cTn>
                              </p:par>
                              <p:par>
                                <p:cTn id="19" presetID="10" presetClass="entr" presetSubtype="0" fill="hold" nodeType="withEffect">
                                  <p:stCondLst>
                                    <p:cond delay="0"/>
                                  </p:stCondLst>
                                  <p:childTnLst>
                                    <p:set>
                                      <p:cBhvr>
                                        <p:cTn id="20" dur="1" fill="hold">
                                          <p:stCondLst>
                                            <p:cond delay="0"/>
                                          </p:stCondLst>
                                        </p:cTn>
                                        <p:tgtEl>
                                          <p:spTgt spid="381"/>
                                        </p:tgtEl>
                                        <p:attrNameLst>
                                          <p:attrName>style.visibility</p:attrName>
                                        </p:attrNameLst>
                                      </p:cBhvr>
                                      <p:to>
                                        <p:strVal val="visible"/>
                                      </p:to>
                                    </p:set>
                                    <p:animEffect transition="in" filter="fade">
                                      <p:cBhvr>
                                        <p:cTn id="21" dur="500"/>
                                        <p:tgtEl>
                                          <p:spTgt spid="381"/>
                                        </p:tgtEl>
                                      </p:cBhvr>
                                    </p:animEffect>
                                  </p:childTnLst>
                                </p:cTn>
                              </p:par>
                              <p:par>
                                <p:cTn id="22" presetID="10" presetClass="entr" presetSubtype="0" fill="hold" nodeType="withEffect">
                                  <p:stCondLst>
                                    <p:cond delay="0"/>
                                  </p:stCondLst>
                                  <p:childTnLst>
                                    <p:set>
                                      <p:cBhvr>
                                        <p:cTn id="23" dur="1" fill="hold">
                                          <p:stCondLst>
                                            <p:cond delay="0"/>
                                          </p:stCondLst>
                                        </p:cTn>
                                        <p:tgtEl>
                                          <p:spTgt spid="382"/>
                                        </p:tgtEl>
                                        <p:attrNameLst>
                                          <p:attrName>style.visibility</p:attrName>
                                        </p:attrNameLst>
                                      </p:cBhvr>
                                      <p:to>
                                        <p:strVal val="visible"/>
                                      </p:to>
                                    </p:set>
                                    <p:animEffect transition="in" filter="fade">
                                      <p:cBhvr>
                                        <p:cTn id="24" dur="500"/>
                                        <p:tgtEl>
                                          <p:spTgt spid="382"/>
                                        </p:tgtEl>
                                      </p:cBhvr>
                                    </p:animEffect>
                                  </p:childTnLst>
                                </p:cTn>
                              </p:par>
                              <p:par>
                                <p:cTn id="25" presetID="10" presetClass="entr" presetSubtype="0" fill="hold" nodeType="withEffect">
                                  <p:stCondLst>
                                    <p:cond delay="0"/>
                                  </p:stCondLst>
                                  <p:childTnLst>
                                    <p:set>
                                      <p:cBhvr>
                                        <p:cTn id="26" dur="1" fill="hold">
                                          <p:stCondLst>
                                            <p:cond delay="0"/>
                                          </p:stCondLst>
                                        </p:cTn>
                                        <p:tgtEl>
                                          <p:spTgt spid="383"/>
                                        </p:tgtEl>
                                        <p:attrNameLst>
                                          <p:attrName>style.visibility</p:attrName>
                                        </p:attrNameLst>
                                      </p:cBhvr>
                                      <p:to>
                                        <p:strVal val="visible"/>
                                      </p:to>
                                    </p:set>
                                    <p:animEffect transition="in" filter="fade">
                                      <p:cBhvr>
                                        <p:cTn id="27" dur="500"/>
                                        <p:tgtEl>
                                          <p:spTgt spid="383"/>
                                        </p:tgtEl>
                                      </p:cBhvr>
                                    </p:animEffect>
                                  </p:childTnLst>
                                </p:cTn>
                              </p:par>
                              <p:par>
                                <p:cTn id="28" presetID="10" presetClass="entr" presetSubtype="0" fill="hold" nodeType="withEffect">
                                  <p:stCondLst>
                                    <p:cond delay="0"/>
                                  </p:stCondLst>
                                  <p:childTnLst>
                                    <p:set>
                                      <p:cBhvr>
                                        <p:cTn id="29" dur="1" fill="hold">
                                          <p:stCondLst>
                                            <p:cond delay="0"/>
                                          </p:stCondLst>
                                        </p:cTn>
                                        <p:tgtEl>
                                          <p:spTgt spid="384"/>
                                        </p:tgtEl>
                                        <p:attrNameLst>
                                          <p:attrName>style.visibility</p:attrName>
                                        </p:attrNameLst>
                                      </p:cBhvr>
                                      <p:to>
                                        <p:strVal val="visible"/>
                                      </p:to>
                                    </p:set>
                                    <p:animEffect transition="in" filter="fade">
                                      <p:cBhvr>
                                        <p:cTn id="30" dur="500"/>
                                        <p:tgtEl>
                                          <p:spTgt spid="384"/>
                                        </p:tgtEl>
                                      </p:cBhvr>
                                    </p:animEffect>
                                  </p:childTnLst>
                                </p:cTn>
                              </p:par>
                              <p:par>
                                <p:cTn id="31" presetID="10" presetClass="entr" presetSubtype="0" fill="hold" nodeType="withEffect">
                                  <p:stCondLst>
                                    <p:cond delay="0"/>
                                  </p:stCondLst>
                                  <p:childTnLst>
                                    <p:set>
                                      <p:cBhvr>
                                        <p:cTn id="32" dur="1" fill="hold">
                                          <p:stCondLst>
                                            <p:cond delay="0"/>
                                          </p:stCondLst>
                                        </p:cTn>
                                        <p:tgtEl>
                                          <p:spTgt spid="385"/>
                                        </p:tgtEl>
                                        <p:attrNameLst>
                                          <p:attrName>style.visibility</p:attrName>
                                        </p:attrNameLst>
                                      </p:cBhvr>
                                      <p:to>
                                        <p:strVal val="visible"/>
                                      </p:to>
                                    </p:set>
                                    <p:animEffect transition="in" filter="fade">
                                      <p:cBhvr>
                                        <p:cTn id="33" dur="500"/>
                                        <p:tgtEl>
                                          <p:spTgt spid="38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78"/>
                                        </p:tgtEl>
                                        <p:attrNameLst>
                                          <p:attrName>style.visibility</p:attrName>
                                        </p:attrNameLst>
                                      </p:cBhvr>
                                      <p:to>
                                        <p:strVal val="visible"/>
                                      </p:to>
                                    </p:set>
                                    <p:animEffect transition="in" filter="fade">
                                      <p:cBhvr>
                                        <p:cTn id="38" dur="500"/>
                                        <p:tgtEl>
                                          <p:spTgt spid="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Extract Messages from UDP datagrams</a:t>
            </a:r>
            <a:endParaRPr/>
          </a:p>
        </p:txBody>
      </p:sp>
      <p:sp>
        <p:nvSpPr>
          <p:cNvPr id="392" name="Google Shape;392;p38"/>
          <p:cNvSpPr txBox="1"/>
          <p:nvPr/>
        </p:nvSpPr>
        <p:spPr>
          <a:xfrm>
            <a:off x="484439" y="1355979"/>
            <a:ext cx="7506009" cy="1169511"/>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Arial"/>
                <a:ea typeface="Arial"/>
                <a:cs typeface="Arial"/>
                <a:sym typeface="Arial"/>
              </a:rPr>
              <a:t>Challenge: Datagram may contain </a:t>
            </a:r>
            <a:r>
              <a:rPr lang="en" sz="1400" b="1" i="0" u="none" strike="noStrike" cap="none">
                <a:solidFill>
                  <a:srgbClr val="000000"/>
                </a:solidFill>
                <a:latin typeface="Arial"/>
                <a:ea typeface="Arial"/>
                <a:cs typeface="Arial"/>
                <a:sym typeface="Arial"/>
              </a:rPr>
              <a:t>proprietary protocol headers</a:t>
            </a:r>
            <a:r>
              <a:rPr lang="en" sz="1400" b="0" i="0" u="none" strike="noStrike" cap="none">
                <a:solidFill>
                  <a:srgbClr val="000000"/>
                </a:solidFill>
                <a:latin typeface="Arial"/>
                <a:ea typeface="Arial"/>
                <a:cs typeface="Arial"/>
                <a:sym typeface="Arial"/>
              </a:rPr>
              <a:t> with unknown length</a:t>
            </a:r>
            <a:endParaRPr sz="1400" b="0" i="0" u="none" strike="noStrike" cap="none">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400"/>
              <a:buFont typeface="Arial"/>
              <a:buChar char="•"/>
            </a:pPr>
            <a:r>
              <a:rPr lang="en" sz="1400" b="0" i="0" u="none" strike="noStrike" cap="none">
                <a:solidFill>
                  <a:srgbClr val="000000"/>
                </a:solidFill>
                <a:latin typeface="Arial"/>
                <a:ea typeface="Arial"/>
                <a:cs typeface="Arial"/>
                <a:sym typeface="Arial"/>
              </a:rPr>
              <a:t>Solution: design our custom DPI (Deep Packet Inspection) that can locate RTC messages in any position in a UDP datagram</a:t>
            </a:r>
            <a:endParaRPr sz="1400" b="0" i="0" u="none" strike="noStrike" cap="none">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38"/>
          <p:cNvSpPr txBox="1"/>
          <p:nvPr/>
        </p:nvSpPr>
        <p:spPr>
          <a:xfrm>
            <a:off x="1198423" y="2944931"/>
            <a:ext cx="136928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UDP datagram</a:t>
            </a:r>
            <a:endParaRPr sz="1400" b="0" i="0" u="none" strike="noStrike" cap="none" dirty="0">
              <a:solidFill>
                <a:srgbClr val="000000"/>
              </a:solidFill>
              <a:latin typeface="Arial"/>
              <a:ea typeface="Arial"/>
              <a:cs typeface="Arial"/>
              <a:sym typeface="Arial"/>
            </a:endParaRPr>
          </a:p>
        </p:txBody>
      </p:sp>
      <p:sp>
        <p:nvSpPr>
          <p:cNvPr id="394" name="Google Shape;394;p38"/>
          <p:cNvSpPr/>
          <p:nvPr/>
        </p:nvSpPr>
        <p:spPr>
          <a:xfrm>
            <a:off x="379694" y="3372295"/>
            <a:ext cx="1054784" cy="234948"/>
          </a:xfrm>
          <a:prstGeom prst="rect">
            <a:avLst/>
          </a:prstGeom>
          <a:solidFill>
            <a:srgbClr val="D6D6D6"/>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95" name="Google Shape;395;p38"/>
          <p:cNvSpPr/>
          <p:nvPr/>
        </p:nvSpPr>
        <p:spPr>
          <a:xfrm>
            <a:off x="1517779" y="3372295"/>
            <a:ext cx="730574" cy="234948"/>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96" name="Google Shape;396;p38"/>
          <p:cNvSpPr/>
          <p:nvPr/>
        </p:nvSpPr>
        <p:spPr>
          <a:xfrm>
            <a:off x="311700" y="3309235"/>
            <a:ext cx="3042944" cy="361070"/>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97" name="Google Shape;397;p38"/>
          <p:cNvSpPr txBox="1"/>
          <p:nvPr/>
        </p:nvSpPr>
        <p:spPr>
          <a:xfrm>
            <a:off x="84149" y="3702706"/>
            <a:ext cx="1534658"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Proprietary protocol header</a:t>
            </a:r>
            <a:endParaRPr sz="1400" b="0" i="0" u="none" strike="noStrike" cap="none" dirty="0">
              <a:solidFill>
                <a:srgbClr val="000000"/>
              </a:solidFill>
              <a:latin typeface="Arial"/>
              <a:ea typeface="Arial"/>
              <a:cs typeface="Arial"/>
              <a:sym typeface="Arial"/>
            </a:endParaRPr>
          </a:p>
        </p:txBody>
      </p:sp>
      <p:sp>
        <p:nvSpPr>
          <p:cNvPr id="398" name="Google Shape;398;p38"/>
          <p:cNvSpPr txBox="1"/>
          <p:nvPr/>
        </p:nvSpPr>
        <p:spPr>
          <a:xfrm>
            <a:off x="2340255" y="3702706"/>
            <a:ext cx="965614"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RTP message</a:t>
            </a:r>
            <a:endParaRPr sz="1400" b="0" i="0" u="none" strike="noStrike" cap="none" dirty="0">
              <a:solidFill>
                <a:srgbClr val="000000"/>
              </a:solidFill>
              <a:latin typeface="Arial"/>
              <a:ea typeface="Arial"/>
              <a:cs typeface="Arial"/>
              <a:sym typeface="Arial"/>
            </a:endParaRPr>
          </a:p>
        </p:txBody>
      </p:sp>
      <p:sp>
        <p:nvSpPr>
          <p:cNvPr id="402" name="Google Shape;402;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13</a:t>
            </a:fld>
            <a:endParaRPr/>
          </a:p>
        </p:txBody>
      </p:sp>
      <p:sp>
        <p:nvSpPr>
          <p:cNvPr id="2" name="Google Shape;395;p38">
            <a:extLst>
              <a:ext uri="{FF2B5EF4-FFF2-40B4-BE49-F238E27FC236}">
                <a16:creationId xmlns:a16="http://schemas.microsoft.com/office/drawing/2014/main" id="{01E7348E-7F6A-840C-CDAC-60B4AD3AD941}"/>
              </a:ext>
            </a:extLst>
          </p:cNvPr>
          <p:cNvSpPr/>
          <p:nvPr/>
        </p:nvSpPr>
        <p:spPr>
          <a:xfrm>
            <a:off x="2331654" y="3371788"/>
            <a:ext cx="939689" cy="234948"/>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 name="Google Shape;398;p38">
            <a:extLst>
              <a:ext uri="{FF2B5EF4-FFF2-40B4-BE49-F238E27FC236}">
                <a16:creationId xmlns:a16="http://schemas.microsoft.com/office/drawing/2014/main" id="{289ED9CF-CC10-AEA9-F239-A8A41C2AEDDB}"/>
              </a:ext>
            </a:extLst>
          </p:cNvPr>
          <p:cNvSpPr txBox="1"/>
          <p:nvPr/>
        </p:nvSpPr>
        <p:spPr>
          <a:xfrm>
            <a:off x="1443823" y="3695005"/>
            <a:ext cx="965614"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altLang="zh-CN" sz="1400" b="0" i="0" u="none" strike="noStrike" cap="none" dirty="0">
                <a:solidFill>
                  <a:srgbClr val="000000"/>
                </a:solidFill>
                <a:latin typeface="Arial"/>
                <a:ea typeface="Arial"/>
                <a:cs typeface="Arial"/>
                <a:sym typeface="Arial"/>
              </a:rPr>
              <a:t>STUN</a:t>
            </a:r>
            <a:r>
              <a:rPr lang="en" sz="1400" b="0" i="0" u="none" strike="noStrike" cap="none" dirty="0">
                <a:solidFill>
                  <a:srgbClr val="000000"/>
                </a:solidFill>
                <a:latin typeface="Arial"/>
                <a:ea typeface="Arial"/>
                <a:cs typeface="Arial"/>
                <a:sym typeface="Arial"/>
              </a:rPr>
              <a:t> message</a:t>
            </a:r>
            <a:endParaRPr sz="1400" b="0" i="0" u="none" strike="noStrike" cap="none" dirty="0">
              <a:solidFill>
                <a:srgbClr val="000000"/>
              </a:solidFill>
              <a:latin typeface="Arial"/>
              <a:ea typeface="Arial"/>
              <a:cs typeface="Arial"/>
              <a:sym typeface="Arial"/>
            </a:endParaRPr>
          </a:p>
        </p:txBody>
      </p:sp>
      <p:sp>
        <p:nvSpPr>
          <p:cNvPr id="4" name="Google Shape;249;p34">
            <a:extLst>
              <a:ext uri="{FF2B5EF4-FFF2-40B4-BE49-F238E27FC236}">
                <a16:creationId xmlns:a16="http://schemas.microsoft.com/office/drawing/2014/main" id="{A16E1979-9DF6-EEAB-2261-669A3F690562}"/>
              </a:ext>
            </a:extLst>
          </p:cNvPr>
          <p:cNvSpPr/>
          <p:nvPr/>
        </p:nvSpPr>
        <p:spPr>
          <a:xfrm>
            <a:off x="3725282" y="2788739"/>
            <a:ext cx="1534658" cy="1296413"/>
          </a:xfrm>
          <a:prstGeom prst="roundRect">
            <a:avLst>
              <a:gd name="adj" fmla="val 16667"/>
            </a:avLst>
          </a:prstGeom>
          <a:solidFill>
            <a:schemeClr val="accent1">
              <a:lumMod val="40000"/>
              <a:lumOff val="60000"/>
            </a:schemeClr>
          </a:solidFill>
          <a:ln w="9525" cap="flat" cmpd="sng">
            <a:solidFill>
              <a:schemeClr val="dk2"/>
            </a:solidFill>
            <a:prstDash val="solid"/>
            <a:round/>
            <a:headEnd type="none" w="sm" len="sm"/>
            <a:tailEnd type="none" w="sm" len="sm"/>
          </a:ln>
          <a:effectLst>
            <a:outerShdw blurRad="57150" dist="19050" dir="5400000" algn="bl" rotWithShape="0">
              <a:schemeClr val="lt1">
                <a:alpha val="31372"/>
              </a:scheme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altLang="zh-CN" sz="1600" b="0" i="0" u="none" strike="noStrike" cap="none" dirty="0">
                <a:solidFill>
                  <a:srgbClr val="000000"/>
                </a:solidFill>
                <a:latin typeface="Arial"/>
                <a:ea typeface="Arial"/>
                <a:cs typeface="Arial"/>
                <a:sym typeface="Arial"/>
              </a:rPr>
              <a:t>Our</a:t>
            </a:r>
            <a:r>
              <a:rPr lang="zh-CN" altLang="en-US" sz="1600" b="0" i="0" u="none" strike="noStrike" cap="none" dirty="0">
                <a:solidFill>
                  <a:srgbClr val="000000"/>
                </a:solidFill>
                <a:latin typeface="Arial"/>
                <a:ea typeface="Arial"/>
                <a:cs typeface="Arial"/>
                <a:sym typeface="Arial"/>
              </a:rPr>
              <a:t> </a:t>
            </a:r>
            <a:r>
              <a:rPr lang="en-US" altLang="zh-CN" sz="1600" b="0" i="0" u="none" strike="noStrike" cap="none" dirty="0">
                <a:solidFill>
                  <a:srgbClr val="000000"/>
                </a:solidFill>
                <a:latin typeface="Arial"/>
                <a:ea typeface="Arial"/>
                <a:cs typeface="Arial"/>
                <a:sym typeface="Arial"/>
              </a:rPr>
              <a:t>Custom</a:t>
            </a:r>
            <a:r>
              <a:rPr lang="zh-CN" altLang="en-US" sz="1600" b="0" i="0" u="none" strike="noStrike" cap="none" dirty="0">
                <a:solidFill>
                  <a:srgbClr val="000000"/>
                </a:solidFill>
                <a:latin typeface="Arial"/>
                <a:ea typeface="Arial"/>
                <a:cs typeface="Arial"/>
                <a:sym typeface="Arial"/>
              </a:rPr>
              <a:t> </a:t>
            </a:r>
            <a:r>
              <a:rPr lang="en-US" altLang="zh-CN" sz="1600" b="0" i="0" u="none" strike="noStrike" cap="none" dirty="0">
                <a:solidFill>
                  <a:srgbClr val="000000"/>
                </a:solidFill>
                <a:latin typeface="Arial"/>
                <a:ea typeface="Arial"/>
                <a:cs typeface="Arial"/>
                <a:sym typeface="Arial"/>
              </a:rPr>
              <a:t>DPI</a:t>
            </a:r>
            <a:endParaRPr sz="1600" b="0" i="0" u="none" strike="noStrike" cap="none" dirty="0">
              <a:solidFill>
                <a:srgbClr val="000000"/>
              </a:solidFill>
              <a:latin typeface="Arial"/>
              <a:ea typeface="Arial"/>
              <a:cs typeface="Arial"/>
              <a:sym typeface="Arial"/>
            </a:endParaRPr>
          </a:p>
        </p:txBody>
      </p:sp>
      <p:sp>
        <p:nvSpPr>
          <p:cNvPr id="5" name="Google Shape;394;p38">
            <a:extLst>
              <a:ext uri="{FF2B5EF4-FFF2-40B4-BE49-F238E27FC236}">
                <a16:creationId xmlns:a16="http://schemas.microsoft.com/office/drawing/2014/main" id="{E3B55099-1D56-70C0-C7F5-02EB4C2B9293}"/>
              </a:ext>
            </a:extLst>
          </p:cNvPr>
          <p:cNvSpPr/>
          <p:nvPr/>
        </p:nvSpPr>
        <p:spPr>
          <a:xfrm>
            <a:off x="5625842" y="2863744"/>
            <a:ext cx="1054784" cy="234948"/>
          </a:xfrm>
          <a:prstGeom prst="rect">
            <a:avLst/>
          </a:prstGeom>
          <a:solidFill>
            <a:srgbClr val="D6D6D6"/>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 name="Google Shape;395;p38">
            <a:extLst>
              <a:ext uri="{FF2B5EF4-FFF2-40B4-BE49-F238E27FC236}">
                <a16:creationId xmlns:a16="http://schemas.microsoft.com/office/drawing/2014/main" id="{DB497928-0B0B-4E17-3E44-EFAAB9FDFE75}"/>
              </a:ext>
            </a:extLst>
          </p:cNvPr>
          <p:cNvSpPr/>
          <p:nvPr/>
        </p:nvSpPr>
        <p:spPr>
          <a:xfrm>
            <a:off x="5625842" y="3319472"/>
            <a:ext cx="730574" cy="234948"/>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8" name="Google Shape;397;p38">
            <a:extLst>
              <a:ext uri="{FF2B5EF4-FFF2-40B4-BE49-F238E27FC236}">
                <a16:creationId xmlns:a16="http://schemas.microsoft.com/office/drawing/2014/main" id="{15E0C081-823F-7D23-AE8A-86DC4331B933}"/>
              </a:ext>
            </a:extLst>
          </p:cNvPr>
          <p:cNvSpPr txBox="1"/>
          <p:nvPr/>
        </p:nvSpPr>
        <p:spPr>
          <a:xfrm>
            <a:off x="6785175" y="2810364"/>
            <a:ext cx="2410545"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Proprietary protocol header</a:t>
            </a:r>
            <a:endParaRPr sz="1400" b="0" i="0" u="none" strike="noStrike" cap="none" dirty="0">
              <a:solidFill>
                <a:srgbClr val="000000"/>
              </a:solidFill>
              <a:latin typeface="Arial"/>
              <a:ea typeface="Arial"/>
              <a:cs typeface="Arial"/>
              <a:sym typeface="Arial"/>
            </a:endParaRPr>
          </a:p>
        </p:txBody>
      </p:sp>
      <p:sp>
        <p:nvSpPr>
          <p:cNvPr id="9" name="Google Shape;398;p38">
            <a:extLst>
              <a:ext uri="{FF2B5EF4-FFF2-40B4-BE49-F238E27FC236}">
                <a16:creationId xmlns:a16="http://schemas.microsoft.com/office/drawing/2014/main" id="{5B353B9B-ECC6-DF18-2A8C-D997238BB18C}"/>
              </a:ext>
            </a:extLst>
          </p:cNvPr>
          <p:cNvSpPr txBox="1"/>
          <p:nvPr/>
        </p:nvSpPr>
        <p:spPr>
          <a:xfrm>
            <a:off x="6694200" y="3695005"/>
            <a:ext cx="1570487"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RTP message</a:t>
            </a:r>
            <a:endParaRPr sz="1400" b="0" i="0" u="none" strike="noStrike" cap="none" dirty="0">
              <a:solidFill>
                <a:srgbClr val="000000"/>
              </a:solidFill>
              <a:latin typeface="Arial"/>
              <a:ea typeface="Arial"/>
              <a:cs typeface="Arial"/>
              <a:sym typeface="Arial"/>
            </a:endParaRPr>
          </a:p>
        </p:txBody>
      </p:sp>
      <p:sp>
        <p:nvSpPr>
          <p:cNvPr id="10" name="Google Shape;395;p38">
            <a:extLst>
              <a:ext uri="{FF2B5EF4-FFF2-40B4-BE49-F238E27FC236}">
                <a16:creationId xmlns:a16="http://schemas.microsoft.com/office/drawing/2014/main" id="{FEF96ADC-77B7-A521-8344-D95445C7D390}"/>
              </a:ext>
            </a:extLst>
          </p:cNvPr>
          <p:cNvSpPr/>
          <p:nvPr/>
        </p:nvSpPr>
        <p:spPr>
          <a:xfrm>
            <a:off x="5625842" y="3750852"/>
            <a:ext cx="939689" cy="234948"/>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 name="Google Shape;398;p38">
            <a:extLst>
              <a:ext uri="{FF2B5EF4-FFF2-40B4-BE49-F238E27FC236}">
                <a16:creationId xmlns:a16="http://schemas.microsoft.com/office/drawing/2014/main" id="{B8A70446-8105-37FE-0844-73932F0DF0C4}"/>
              </a:ext>
            </a:extLst>
          </p:cNvPr>
          <p:cNvSpPr txBox="1"/>
          <p:nvPr/>
        </p:nvSpPr>
        <p:spPr>
          <a:xfrm>
            <a:off x="6432922" y="3275809"/>
            <a:ext cx="1691482"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altLang="zh-CN" sz="1400" b="0" i="0" u="none" strike="noStrike" cap="none" dirty="0">
                <a:solidFill>
                  <a:srgbClr val="000000"/>
                </a:solidFill>
                <a:latin typeface="Arial"/>
                <a:ea typeface="Arial"/>
                <a:cs typeface="Arial"/>
                <a:sym typeface="Arial"/>
              </a:rPr>
              <a:t>STUN</a:t>
            </a:r>
            <a:r>
              <a:rPr lang="en" sz="1400" b="0" i="0" u="none" strike="noStrike" cap="none" dirty="0">
                <a:solidFill>
                  <a:srgbClr val="000000"/>
                </a:solidFill>
                <a:latin typeface="Arial"/>
                <a:ea typeface="Arial"/>
                <a:cs typeface="Arial"/>
                <a:sym typeface="Arial"/>
              </a:rPr>
              <a:t> message</a:t>
            </a:r>
            <a:endParaRPr sz="1400" b="0" i="0" u="none" strike="noStrike" cap="none" dirty="0">
              <a:solidFill>
                <a:srgbClr val="000000"/>
              </a:solidFill>
              <a:latin typeface="Arial"/>
              <a:ea typeface="Arial"/>
              <a:cs typeface="Arial"/>
              <a:sym typeface="Arial"/>
            </a:endParaRPr>
          </a:p>
        </p:txBody>
      </p:sp>
      <p:sp>
        <p:nvSpPr>
          <p:cNvPr id="12" name="Right Arrow 11">
            <a:extLst>
              <a:ext uri="{FF2B5EF4-FFF2-40B4-BE49-F238E27FC236}">
                <a16:creationId xmlns:a16="http://schemas.microsoft.com/office/drawing/2014/main" id="{AD1C8A4E-BFAF-5514-7A06-8F6461FC8B65}"/>
              </a:ext>
            </a:extLst>
          </p:cNvPr>
          <p:cNvSpPr/>
          <p:nvPr/>
        </p:nvSpPr>
        <p:spPr>
          <a:xfrm>
            <a:off x="3431023" y="3429677"/>
            <a:ext cx="234669" cy="1538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FC99389E-DFE7-47C1-BD4C-3D94AE5A517D}"/>
              </a:ext>
            </a:extLst>
          </p:cNvPr>
          <p:cNvSpPr/>
          <p:nvPr/>
        </p:nvSpPr>
        <p:spPr>
          <a:xfrm>
            <a:off x="5314667" y="3390290"/>
            <a:ext cx="234669" cy="1538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394"/>
                                        </p:tgtEl>
                                        <p:attrNameLst>
                                          <p:attrName>style.color</p:attrName>
                                        </p:attrNameLst>
                                      </p:cBhvr>
                                      <p:to>
                                        <a:schemeClr val="bg1"/>
                                      </p:to>
                                    </p:animClr>
                                    <p:animClr clrSpc="rgb" dir="cw">
                                      <p:cBhvr>
                                        <p:cTn id="7" dur="250" autoRev="1" fill="remove"/>
                                        <p:tgtEl>
                                          <p:spTgt spid="394"/>
                                        </p:tgtEl>
                                        <p:attrNameLst>
                                          <p:attrName>fillcolor</p:attrName>
                                        </p:attrNameLst>
                                      </p:cBhvr>
                                      <p:to>
                                        <a:schemeClr val="bg1"/>
                                      </p:to>
                                    </p:animClr>
                                    <p:set>
                                      <p:cBhvr>
                                        <p:cTn id="8" dur="250" autoRev="1" fill="remove"/>
                                        <p:tgtEl>
                                          <p:spTgt spid="394"/>
                                        </p:tgtEl>
                                        <p:attrNameLst>
                                          <p:attrName>fill.type</p:attrName>
                                        </p:attrNameLst>
                                      </p:cBhvr>
                                      <p:to>
                                        <p:strVal val="solid"/>
                                      </p:to>
                                    </p:set>
                                    <p:set>
                                      <p:cBhvr>
                                        <p:cTn id="9" dur="250" autoRev="1" fill="remove"/>
                                        <p:tgtEl>
                                          <p:spTgt spid="394"/>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linds(horizontal)">
                                      <p:cBhvr>
                                        <p:cTn id="28" dur="500"/>
                                        <p:tgtEl>
                                          <p:spTgt spid="8"/>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linds(horizontal)">
                                      <p:cBhvr>
                                        <p:cTn id="31" dur="500"/>
                                        <p:tgtEl>
                                          <p:spTgt spid="9"/>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linds(horizontal)">
                                      <p:cBhvr>
                                        <p:cTn id="34" dur="500"/>
                                        <p:tgtEl>
                                          <p:spTgt spid="10"/>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linds(horizontal)">
                                      <p:cBhvr>
                                        <p:cTn id="37" dur="500"/>
                                        <p:tgtEl>
                                          <p:spTgt spid="11"/>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linds(horizontal)">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 grpId="0" animBg="1"/>
      <p:bldP spid="4" grpId="0" animBg="1"/>
      <p:bldP spid="5" grpId="0" animBg="1"/>
      <p:bldP spid="6" grpId="0" animBg="1"/>
      <p:bldP spid="8" grpId="0"/>
      <p:bldP spid="9" grpId="0"/>
      <p:bldP spid="10" grpId="0" animBg="1"/>
      <p:bldP spid="11" grpId="0"/>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4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Outline</a:t>
            </a:r>
            <a:endParaRPr/>
          </a:p>
        </p:txBody>
      </p:sp>
      <p:sp>
        <p:nvSpPr>
          <p:cNvPr id="640" name="Google Shape;640;p4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rgbClr val="C7C7C7"/>
                </a:solidFill>
              </a:rPr>
              <a:t>Message-level protocol compliance definition</a:t>
            </a:r>
            <a:endParaRPr/>
          </a:p>
          <a:p>
            <a:pPr marL="457200" lvl="0" indent="-228600" algn="l" rtl="0">
              <a:lnSpc>
                <a:spcPct val="115000"/>
              </a:lnSpc>
              <a:spcBef>
                <a:spcPts val="0"/>
              </a:spcBef>
              <a:spcAft>
                <a:spcPts val="0"/>
              </a:spcAft>
              <a:buSzPts val="1800"/>
              <a:buNone/>
            </a:pPr>
            <a:endParaRPr>
              <a:solidFill>
                <a:srgbClr val="C7C7C7"/>
              </a:solidFill>
            </a:endParaRPr>
          </a:p>
          <a:p>
            <a:pPr marL="457200" lvl="0" indent="-342900" algn="l" rtl="0">
              <a:lnSpc>
                <a:spcPct val="115000"/>
              </a:lnSpc>
              <a:spcBef>
                <a:spcPts val="0"/>
              </a:spcBef>
              <a:spcAft>
                <a:spcPts val="0"/>
              </a:spcAft>
              <a:buSzPts val="1800"/>
              <a:buChar char="●"/>
            </a:pPr>
            <a:r>
              <a:rPr lang="en">
                <a:solidFill>
                  <a:srgbClr val="C7C7C7"/>
                </a:solidFill>
              </a:rPr>
              <a:t>RTC calling traffic collection &amp; Message extraction</a:t>
            </a:r>
            <a:endParaRPr/>
          </a:p>
          <a:p>
            <a:pPr marL="457200" lvl="0" indent="-228600" algn="l" rtl="0">
              <a:lnSpc>
                <a:spcPct val="115000"/>
              </a:lnSpc>
              <a:spcBef>
                <a:spcPts val="0"/>
              </a:spcBef>
              <a:spcAft>
                <a:spcPts val="0"/>
              </a:spcAft>
              <a:buSzPts val="1800"/>
              <a:buFont typeface="Arial"/>
              <a:buNone/>
            </a:pPr>
            <a:endParaRPr>
              <a:solidFill>
                <a:srgbClr val="C7C7C7"/>
              </a:solidFill>
            </a:endParaRPr>
          </a:p>
          <a:p>
            <a:pPr marL="457200" lvl="0" indent="-342900" algn="l" rtl="0">
              <a:lnSpc>
                <a:spcPct val="115000"/>
              </a:lnSpc>
              <a:spcBef>
                <a:spcPts val="0"/>
              </a:spcBef>
              <a:spcAft>
                <a:spcPts val="0"/>
              </a:spcAft>
              <a:buSzPts val="1800"/>
              <a:buFont typeface="Arial"/>
              <a:buChar char="●"/>
            </a:pPr>
            <a:r>
              <a:rPr lang="en">
                <a:solidFill>
                  <a:schemeClr val="dk1"/>
                </a:solidFill>
              </a:rPr>
              <a:t>Quantitative analysis results on collected traffic</a:t>
            </a:r>
            <a:endParaRPr/>
          </a:p>
          <a:p>
            <a:pPr marL="457200" lvl="0" indent="-228600" algn="l" rtl="0">
              <a:lnSpc>
                <a:spcPct val="115000"/>
              </a:lnSpc>
              <a:spcBef>
                <a:spcPts val="0"/>
              </a:spcBef>
              <a:spcAft>
                <a:spcPts val="0"/>
              </a:spcAft>
              <a:buSzPts val="1800"/>
              <a:buNone/>
            </a:pPr>
            <a:endParaRPr>
              <a:solidFill>
                <a:srgbClr val="C7C7C7"/>
              </a:solidFill>
            </a:endParaRPr>
          </a:p>
          <a:p>
            <a:pPr marL="457200" lvl="0" indent="-342900" algn="l" rtl="0">
              <a:lnSpc>
                <a:spcPct val="115000"/>
              </a:lnSpc>
              <a:spcBef>
                <a:spcPts val="0"/>
              </a:spcBef>
              <a:spcAft>
                <a:spcPts val="0"/>
              </a:spcAft>
              <a:buSzPts val="1800"/>
              <a:buChar char="●"/>
            </a:pPr>
            <a:r>
              <a:rPr lang="en">
                <a:solidFill>
                  <a:srgbClr val="C7C7C7"/>
                </a:solidFill>
              </a:rPr>
              <a:t>Case studies</a:t>
            </a:r>
            <a:endParaRPr/>
          </a:p>
          <a:p>
            <a:pPr marL="457200" lvl="0" indent="-228600" algn="l" rtl="0">
              <a:lnSpc>
                <a:spcPct val="115000"/>
              </a:lnSpc>
              <a:spcBef>
                <a:spcPts val="0"/>
              </a:spcBef>
              <a:spcAft>
                <a:spcPts val="0"/>
              </a:spcAft>
              <a:buSzPts val="1800"/>
              <a:buNone/>
            </a:pPr>
            <a:endParaRPr>
              <a:solidFill>
                <a:schemeClr val="dk1"/>
              </a:solidFill>
            </a:endParaRPr>
          </a:p>
        </p:txBody>
      </p:sp>
      <p:sp>
        <p:nvSpPr>
          <p:cNvPr id="641" name="Google Shape;641;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4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Results: Compliance ratio by traffic volume</a:t>
            </a:r>
            <a:endParaRPr/>
          </a:p>
        </p:txBody>
      </p:sp>
      <p:pic>
        <p:nvPicPr>
          <p:cNvPr id="647" name="Google Shape;647;p49"/>
          <p:cNvPicPr preferRelativeResize="0"/>
          <p:nvPr/>
        </p:nvPicPr>
        <p:blipFill rotWithShape="1">
          <a:blip r:embed="rId3">
            <a:alphaModFix/>
          </a:blip>
          <a:srcRect/>
          <a:stretch/>
        </p:blipFill>
        <p:spPr>
          <a:xfrm>
            <a:off x="1498502" y="1373945"/>
            <a:ext cx="2484999" cy="2484999"/>
          </a:xfrm>
          <a:prstGeom prst="rect">
            <a:avLst/>
          </a:prstGeom>
          <a:noFill/>
          <a:ln>
            <a:noFill/>
          </a:ln>
        </p:spPr>
      </p:pic>
      <p:pic>
        <p:nvPicPr>
          <p:cNvPr id="648" name="Google Shape;648;p49"/>
          <p:cNvPicPr preferRelativeResize="0"/>
          <p:nvPr/>
        </p:nvPicPr>
        <p:blipFill rotWithShape="1">
          <a:blip r:embed="rId4">
            <a:alphaModFix/>
          </a:blip>
          <a:srcRect/>
          <a:stretch/>
        </p:blipFill>
        <p:spPr>
          <a:xfrm>
            <a:off x="4893506" y="1373946"/>
            <a:ext cx="2484998" cy="2484998"/>
          </a:xfrm>
          <a:prstGeom prst="rect">
            <a:avLst/>
          </a:prstGeom>
          <a:noFill/>
          <a:ln>
            <a:noFill/>
          </a:ln>
        </p:spPr>
      </p:pic>
      <p:pic>
        <p:nvPicPr>
          <p:cNvPr id="649" name="Google Shape;649;p49"/>
          <p:cNvPicPr preferRelativeResize="0"/>
          <p:nvPr/>
        </p:nvPicPr>
        <p:blipFill rotWithShape="1">
          <a:blip r:embed="rId5">
            <a:alphaModFix/>
          </a:blip>
          <a:srcRect/>
          <a:stretch/>
        </p:blipFill>
        <p:spPr>
          <a:xfrm>
            <a:off x="1790700" y="1135575"/>
            <a:ext cx="5562600" cy="368300"/>
          </a:xfrm>
          <a:prstGeom prst="rect">
            <a:avLst/>
          </a:prstGeom>
          <a:noFill/>
          <a:ln>
            <a:noFill/>
          </a:ln>
        </p:spPr>
      </p:pic>
      <p:sp>
        <p:nvSpPr>
          <p:cNvPr id="650" name="Google Shape;650;p49"/>
          <p:cNvSpPr txBox="1"/>
          <p:nvPr/>
        </p:nvSpPr>
        <p:spPr>
          <a:xfrm>
            <a:off x="829994" y="4007925"/>
            <a:ext cx="7346883"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By traffic volume: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Zoom, WhatsApp, Messenger, and Google Meet are the most compliant RTC applications.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QUIC and STUN are the most compliant RTC protocols.</a:t>
            </a:r>
            <a:endParaRPr sz="1400" b="0" i="0" u="none" strike="noStrike" cap="none">
              <a:solidFill>
                <a:srgbClr val="000000"/>
              </a:solidFill>
              <a:latin typeface="Arial"/>
              <a:ea typeface="Arial"/>
              <a:cs typeface="Arial"/>
              <a:sym typeface="Arial"/>
            </a:endParaRPr>
          </a:p>
        </p:txBody>
      </p:sp>
      <p:sp>
        <p:nvSpPr>
          <p:cNvPr id="651" name="Google Shape;651;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15</a:t>
            </a:fld>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6987647-019D-79E7-27F9-449E99DD90C4}"/>
                  </a:ext>
                </a:extLst>
              </p:cNvPr>
              <p:cNvSpPr txBox="1"/>
              <p:nvPr/>
            </p:nvSpPr>
            <p:spPr>
              <a:xfrm>
                <a:off x="6547870" y="461814"/>
                <a:ext cx="2653385" cy="539122"/>
              </a:xfrm>
              <a:prstGeom prst="rect">
                <a:avLst/>
              </a:prstGeom>
              <a:noFill/>
            </p:spPr>
            <p:txBody>
              <a:bodyPr wrap="square">
                <a:spAutoFit/>
              </a:bodyPr>
              <a:lstStyle/>
              <a:p>
                <a:pPr marL="114300" indent="0">
                  <a:buFont typeface="Arial"/>
                  <a:buNone/>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𝑐𝑜𝑚𝑝𝑙𝑖𝑎𝑛𝑡</m:t>
                          </m:r>
                          <m:r>
                            <a:rPr lang="zh-CN" altLang="en-US" b="0" i="1" smtClean="0">
                              <a:latin typeface="Cambria Math" panose="02040503050406030204" pitchFamily="18" charset="0"/>
                            </a:rPr>
                            <m:t> </m:t>
                          </m:r>
                          <m:r>
                            <a:rPr lang="en-US" altLang="zh-CN" b="0" i="1" smtClean="0">
                              <a:latin typeface="Cambria Math" panose="02040503050406030204" pitchFamily="18" charset="0"/>
                            </a:rPr>
                            <m:t>𝑚𝑠𝑔𝑠</m:t>
                          </m:r>
                        </m:num>
                        <m:den>
                          <m:r>
                            <a:rPr lang="en-US" altLang="zh-CN" b="0" i="1" smtClean="0">
                              <a:latin typeface="Cambria Math" panose="02040503050406030204" pitchFamily="18" charset="0"/>
                            </a:rPr>
                            <m:t>𝑡𝑜𝑡𝑎𝑙</m:t>
                          </m:r>
                          <m:r>
                            <a:rPr lang="zh-CN" altLang="en-US" b="0" i="1" smtClean="0">
                              <a:latin typeface="Cambria Math" panose="02040503050406030204" pitchFamily="18" charset="0"/>
                            </a:rPr>
                            <m:t> </m:t>
                          </m:r>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𝑜𝑓</m:t>
                          </m:r>
                          <m:r>
                            <a:rPr lang="zh-CN" altLang="en-US" b="0" i="1" smtClean="0">
                              <a:latin typeface="Cambria Math" panose="02040503050406030204" pitchFamily="18" charset="0"/>
                            </a:rPr>
                            <m:t> </m:t>
                          </m:r>
                          <m:r>
                            <a:rPr lang="en-US" altLang="zh-CN" b="0" i="1" smtClean="0">
                              <a:latin typeface="Cambria Math" panose="02040503050406030204" pitchFamily="18" charset="0"/>
                            </a:rPr>
                            <m:t>𝑚𝑠𝑔𝑠</m:t>
                          </m:r>
                        </m:den>
                      </m:f>
                    </m:oMath>
                  </m:oMathPara>
                </a14:m>
                <a:endParaRPr lang="en-US" dirty="0"/>
              </a:p>
            </p:txBody>
          </p:sp>
        </mc:Choice>
        <mc:Fallback>
          <p:sp>
            <p:nvSpPr>
              <p:cNvPr id="5" name="TextBox 4">
                <a:extLst>
                  <a:ext uri="{FF2B5EF4-FFF2-40B4-BE49-F238E27FC236}">
                    <a16:creationId xmlns:a16="http://schemas.microsoft.com/office/drawing/2014/main" id="{76987647-019D-79E7-27F9-449E99DD90C4}"/>
                  </a:ext>
                </a:extLst>
              </p:cNvPr>
              <p:cNvSpPr txBox="1">
                <a:spLocks noRot="1" noChangeAspect="1" noMove="1" noResize="1" noEditPoints="1" noAdjustHandles="1" noChangeArrowheads="1" noChangeShapeType="1" noTextEdit="1"/>
              </p:cNvSpPr>
              <p:nvPr/>
            </p:nvSpPr>
            <p:spPr>
              <a:xfrm>
                <a:off x="6547870" y="461814"/>
                <a:ext cx="2653385" cy="539122"/>
              </a:xfrm>
              <a:prstGeom prst="rect">
                <a:avLst/>
              </a:prstGeom>
              <a:blipFill>
                <a:blip r:embed="rId6"/>
                <a:stretch>
                  <a:fillRect b="-6977"/>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0"/>
                                        </p:tgtEl>
                                        <p:attrNameLst>
                                          <p:attrName>style.visibility</p:attrName>
                                        </p:attrNameLst>
                                      </p:cBhvr>
                                      <p:to>
                                        <p:strVal val="visible"/>
                                      </p:to>
                                    </p:set>
                                    <p:animEffect transition="in" filter="fade">
                                      <p:cBhvr>
                                        <p:cTn id="7" dur="500"/>
                                        <p:tgtEl>
                                          <p:spTgt spid="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Results: Compliance ratio by message type</a:t>
            </a:r>
            <a:endParaRPr/>
          </a:p>
        </p:txBody>
      </p:sp>
      <p:pic>
        <p:nvPicPr>
          <p:cNvPr id="657" name="Google Shape;657;p50"/>
          <p:cNvPicPr preferRelativeResize="0"/>
          <p:nvPr/>
        </p:nvPicPr>
        <p:blipFill rotWithShape="1">
          <a:blip r:embed="rId3">
            <a:alphaModFix/>
          </a:blip>
          <a:srcRect/>
          <a:stretch/>
        </p:blipFill>
        <p:spPr>
          <a:xfrm>
            <a:off x="1747230" y="1455107"/>
            <a:ext cx="2726789" cy="2726789"/>
          </a:xfrm>
          <a:prstGeom prst="rect">
            <a:avLst/>
          </a:prstGeom>
          <a:noFill/>
          <a:ln>
            <a:noFill/>
          </a:ln>
        </p:spPr>
      </p:pic>
      <p:pic>
        <p:nvPicPr>
          <p:cNvPr id="658" name="Google Shape;658;p50"/>
          <p:cNvPicPr preferRelativeResize="0"/>
          <p:nvPr/>
        </p:nvPicPr>
        <p:blipFill rotWithShape="1">
          <a:blip r:embed="rId4">
            <a:alphaModFix/>
          </a:blip>
          <a:srcRect/>
          <a:stretch/>
        </p:blipFill>
        <p:spPr>
          <a:xfrm>
            <a:off x="4376719" y="1455108"/>
            <a:ext cx="2726788" cy="2726788"/>
          </a:xfrm>
          <a:prstGeom prst="rect">
            <a:avLst/>
          </a:prstGeom>
          <a:noFill/>
          <a:ln>
            <a:noFill/>
          </a:ln>
        </p:spPr>
      </p:pic>
      <p:pic>
        <p:nvPicPr>
          <p:cNvPr id="659" name="Google Shape;659;p50"/>
          <p:cNvPicPr preferRelativeResize="0"/>
          <p:nvPr/>
        </p:nvPicPr>
        <p:blipFill rotWithShape="1">
          <a:blip r:embed="rId5">
            <a:alphaModFix/>
          </a:blip>
          <a:srcRect/>
          <a:stretch/>
        </p:blipFill>
        <p:spPr>
          <a:xfrm>
            <a:off x="1540907" y="1211707"/>
            <a:ext cx="5562600" cy="368300"/>
          </a:xfrm>
          <a:prstGeom prst="rect">
            <a:avLst/>
          </a:prstGeom>
          <a:noFill/>
          <a:ln>
            <a:noFill/>
          </a:ln>
        </p:spPr>
      </p:pic>
      <p:sp>
        <p:nvSpPr>
          <p:cNvPr id="661" name="Google Shape;661;p50"/>
          <p:cNvSpPr txBox="1"/>
          <p:nvPr/>
        </p:nvSpPr>
        <p:spPr>
          <a:xfrm>
            <a:off x="1922419" y="4088845"/>
            <a:ext cx="4493538"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By message type</a:t>
            </a:r>
            <a:r>
              <a:rPr lang="en-US" altLang="zh-CN" sz="1400" b="0" i="0" u="none" strike="noStrike" cap="none" dirty="0">
                <a:solidFill>
                  <a:srgbClr val="000000"/>
                </a:solidFill>
                <a:latin typeface="Arial"/>
                <a:ea typeface="Arial"/>
                <a:cs typeface="Arial"/>
                <a:sym typeface="Arial"/>
              </a:rPr>
              <a:t>,</a:t>
            </a:r>
            <a:r>
              <a:rPr lang="zh-CN" altLang="en-US" sz="1400" b="0" i="0" u="none" strike="noStrike" cap="none" dirty="0">
                <a:solidFill>
                  <a:srgbClr val="000000"/>
                </a:solidFill>
                <a:latin typeface="Arial"/>
                <a:ea typeface="Arial"/>
                <a:cs typeface="Arial"/>
                <a:sym typeface="Arial"/>
              </a:rPr>
              <a:t> </a:t>
            </a:r>
            <a:r>
              <a:rPr lang="en-US" altLang="zh-CN" sz="1400" b="0" i="0" u="none" strike="noStrike" cap="none" dirty="0">
                <a:solidFill>
                  <a:srgbClr val="000000"/>
                </a:solidFill>
                <a:latin typeface="Arial"/>
                <a:ea typeface="Arial"/>
                <a:cs typeface="Arial"/>
                <a:sym typeface="Arial"/>
              </a:rPr>
              <a:t>we</a:t>
            </a:r>
            <a:r>
              <a:rPr lang="zh-CN" altLang="en-US" sz="1400" b="0" i="0" u="none" strike="noStrike" cap="none" dirty="0">
                <a:solidFill>
                  <a:srgbClr val="000000"/>
                </a:solidFill>
                <a:latin typeface="Arial"/>
                <a:ea typeface="Arial"/>
                <a:cs typeface="Arial"/>
                <a:sym typeface="Arial"/>
              </a:rPr>
              <a:t> </a:t>
            </a:r>
            <a:r>
              <a:rPr lang="en-US" altLang="zh-CN" sz="1400" b="0" i="0" u="none" strike="noStrike" cap="none" dirty="0">
                <a:solidFill>
                  <a:srgbClr val="000000"/>
                </a:solidFill>
                <a:latin typeface="Arial"/>
                <a:ea typeface="Arial"/>
                <a:cs typeface="Arial"/>
                <a:sym typeface="Arial"/>
              </a:rPr>
              <a:t>have</a:t>
            </a:r>
            <a:r>
              <a:rPr lang="zh-CN" altLang="en-US" sz="1400" b="0" i="0" u="none" strike="noStrike" cap="none" dirty="0">
                <a:solidFill>
                  <a:srgbClr val="000000"/>
                </a:solidFill>
                <a:latin typeface="Arial"/>
                <a:ea typeface="Arial"/>
                <a:cs typeface="Arial"/>
                <a:sym typeface="Arial"/>
              </a:rPr>
              <a:t> </a:t>
            </a:r>
            <a:r>
              <a:rPr lang="en-US" altLang="zh-CN" sz="1400" b="0" i="0" u="none" strike="noStrike" cap="none" dirty="0">
                <a:solidFill>
                  <a:srgbClr val="000000"/>
                </a:solidFill>
                <a:latin typeface="Arial"/>
                <a:ea typeface="Arial"/>
                <a:cs typeface="Arial"/>
                <a:sym typeface="Arial"/>
              </a:rPr>
              <a:t>a</a:t>
            </a:r>
            <a:r>
              <a:rPr lang="zh-CN" altLang="en-US" sz="1400" b="0" i="0" u="none" strike="noStrike" cap="none" dirty="0">
                <a:solidFill>
                  <a:srgbClr val="000000"/>
                </a:solidFill>
                <a:latin typeface="Arial"/>
                <a:ea typeface="Arial"/>
                <a:cs typeface="Arial"/>
                <a:sym typeface="Arial"/>
              </a:rPr>
              <a:t> </a:t>
            </a:r>
            <a:r>
              <a:rPr lang="en-US" altLang="zh-CN" sz="1400" b="0" i="0" u="sng" strike="noStrike" cap="none" dirty="0">
                <a:solidFill>
                  <a:srgbClr val="000000"/>
                </a:solidFill>
                <a:latin typeface="Arial"/>
                <a:ea typeface="Arial"/>
                <a:cs typeface="Arial"/>
                <a:sym typeface="Arial"/>
              </a:rPr>
              <a:t>different</a:t>
            </a:r>
            <a:r>
              <a:rPr lang="zh-CN" altLang="en-US" sz="1400" b="0" i="0" u="sng" strike="noStrike" cap="none" dirty="0">
                <a:solidFill>
                  <a:srgbClr val="000000"/>
                </a:solidFill>
                <a:latin typeface="Arial"/>
                <a:ea typeface="Arial"/>
                <a:cs typeface="Arial"/>
                <a:sym typeface="Arial"/>
              </a:rPr>
              <a:t> </a:t>
            </a:r>
            <a:r>
              <a:rPr lang="en-US" altLang="zh-CN" sz="1400" b="0" i="0" u="sng" strike="noStrike" cap="none" dirty="0">
                <a:solidFill>
                  <a:srgbClr val="000000"/>
                </a:solidFill>
                <a:latin typeface="Arial"/>
                <a:ea typeface="Arial"/>
                <a:cs typeface="Arial"/>
                <a:sym typeface="Arial"/>
              </a:rPr>
              <a:t>result</a:t>
            </a:r>
            <a:r>
              <a:rPr lang="en-US" altLang="zh-CN" sz="1400" b="0" i="0" u="none" strike="noStrike" cap="none" dirty="0">
                <a:solidFill>
                  <a:srgbClr val="00000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Zoom is the most compliant RTC application.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QUIC and RTP are the most compliant RTC protocols.</a:t>
            </a:r>
            <a:endParaRPr sz="1400" b="0" i="0" u="none" strike="noStrike" cap="none" dirty="0">
              <a:solidFill>
                <a:srgbClr val="000000"/>
              </a:solidFill>
              <a:latin typeface="Arial"/>
              <a:ea typeface="Arial"/>
              <a:cs typeface="Arial"/>
              <a:sym typeface="Arial"/>
            </a:endParaRPr>
          </a:p>
        </p:txBody>
      </p:sp>
      <p:sp>
        <p:nvSpPr>
          <p:cNvPr id="662" name="Google Shape;662;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16</a:t>
            </a:fld>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473FB2B-D055-0CEC-A0C7-6733BE8842D8}"/>
                  </a:ext>
                </a:extLst>
              </p:cNvPr>
              <p:cNvSpPr txBox="1"/>
              <p:nvPr/>
            </p:nvSpPr>
            <p:spPr>
              <a:xfrm>
                <a:off x="6317672" y="479618"/>
                <a:ext cx="3256603" cy="539122"/>
              </a:xfrm>
              <a:prstGeom prst="rect">
                <a:avLst/>
              </a:prstGeom>
              <a:noFill/>
            </p:spPr>
            <p:txBody>
              <a:bodyPr wrap="square">
                <a:spAutoFit/>
              </a:bodyPr>
              <a:lstStyle/>
              <a:p>
                <a:pPr marL="114300" indent="0">
                  <a:buFont typeface="Arial"/>
                  <a:buNone/>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𝑐𝑜𝑚𝑝𝑙𝑖𝑎𝑛𝑡</m:t>
                          </m:r>
                          <m:r>
                            <a:rPr lang="zh-CN" altLang="en-US" b="0" i="1" smtClean="0">
                              <a:latin typeface="Cambria Math" panose="02040503050406030204" pitchFamily="18" charset="0"/>
                            </a:rPr>
                            <m:t> </m:t>
                          </m:r>
                          <m:r>
                            <a:rPr lang="en-US" altLang="zh-CN" b="0" i="1" smtClean="0">
                              <a:latin typeface="Cambria Math" panose="02040503050406030204" pitchFamily="18" charset="0"/>
                            </a:rPr>
                            <m:t>𝑚𝑠𝑔</m:t>
                          </m:r>
                          <m:r>
                            <a:rPr lang="zh-CN" altLang="en-US" b="0" i="1" smtClean="0">
                              <a:latin typeface="Cambria Math" panose="02040503050406030204" pitchFamily="18" charset="0"/>
                            </a:rPr>
                            <m:t> </m:t>
                          </m:r>
                          <m:r>
                            <a:rPr lang="en-US" altLang="zh-CN" b="1" i="1" smtClean="0">
                              <a:latin typeface="Cambria Math" panose="02040503050406030204" pitchFamily="18" charset="0"/>
                            </a:rPr>
                            <m:t>𝒕𝒚𝒑𝒆𝒔</m:t>
                          </m:r>
                          <m:r>
                            <a:rPr lang="zh-CN" altLang="en-US" b="0" i="1" smtClean="0">
                              <a:latin typeface="Cambria Math" panose="02040503050406030204" pitchFamily="18" charset="0"/>
                            </a:rPr>
                            <m:t> </m:t>
                          </m:r>
                        </m:num>
                        <m:den>
                          <m:r>
                            <a:rPr lang="en-US" altLang="zh-CN" b="0" i="1" smtClean="0">
                              <a:latin typeface="Cambria Math" panose="02040503050406030204" pitchFamily="18" charset="0"/>
                            </a:rPr>
                            <m:t>𝑡𝑜𝑡𝑎𝑙</m:t>
                          </m:r>
                          <m:r>
                            <a:rPr lang="zh-CN" altLang="en-US" b="0" i="1" smtClean="0">
                              <a:latin typeface="Cambria Math" panose="02040503050406030204" pitchFamily="18" charset="0"/>
                            </a:rPr>
                            <m:t> </m:t>
                          </m:r>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𝑜𝑓</m:t>
                          </m:r>
                          <m:r>
                            <a:rPr lang="zh-CN" altLang="en-US" b="0" i="1" smtClean="0">
                              <a:latin typeface="Cambria Math" panose="02040503050406030204" pitchFamily="18" charset="0"/>
                            </a:rPr>
                            <m:t> </m:t>
                          </m:r>
                          <m:r>
                            <a:rPr lang="en-US" altLang="zh-CN" b="0" i="1" smtClean="0">
                              <a:latin typeface="Cambria Math" panose="02040503050406030204" pitchFamily="18" charset="0"/>
                            </a:rPr>
                            <m:t>𝑚𝑠𝑔</m:t>
                          </m:r>
                          <m:r>
                            <a:rPr lang="zh-CN" altLang="en-US" b="0" i="1" smtClean="0">
                              <a:latin typeface="Cambria Math" panose="02040503050406030204" pitchFamily="18" charset="0"/>
                            </a:rPr>
                            <m:t> </m:t>
                          </m:r>
                          <m:r>
                            <a:rPr lang="en-US" altLang="zh-CN" b="1" i="1" smtClean="0">
                              <a:latin typeface="Cambria Math" panose="02040503050406030204" pitchFamily="18" charset="0"/>
                            </a:rPr>
                            <m:t>𝒕𝒚𝒑𝒆𝒔</m:t>
                          </m:r>
                          <m:r>
                            <a:rPr lang="zh-CN" altLang="en-US" b="0" i="1" smtClean="0">
                              <a:latin typeface="Cambria Math" panose="02040503050406030204" pitchFamily="18" charset="0"/>
                            </a:rPr>
                            <m:t> </m:t>
                          </m:r>
                        </m:den>
                      </m:f>
                    </m:oMath>
                  </m:oMathPara>
                </a14:m>
                <a:endParaRPr lang="en-US" dirty="0"/>
              </a:p>
            </p:txBody>
          </p:sp>
        </mc:Choice>
        <mc:Fallback>
          <p:sp>
            <p:nvSpPr>
              <p:cNvPr id="3" name="TextBox 2">
                <a:extLst>
                  <a:ext uri="{FF2B5EF4-FFF2-40B4-BE49-F238E27FC236}">
                    <a16:creationId xmlns:a16="http://schemas.microsoft.com/office/drawing/2014/main" id="{E473FB2B-D055-0CEC-A0C7-6733BE8842D8}"/>
                  </a:ext>
                </a:extLst>
              </p:cNvPr>
              <p:cNvSpPr txBox="1">
                <a:spLocks noRot="1" noChangeAspect="1" noMove="1" noResize="1" noEditPoints="1" noAdjustHandles="1" noChangeArrowheads="1" noChangeShapeType="1" noTextEdit="1"/>
              </p:cNvSpPr>
              <p:nvPr/>
            </p:nvSpPr>
            <p:spPr>
              <a:xfrm>
                <a:off x="6317672" y="479618"/>
                <a:ext cx="3256603" cy="539122"/>
              </a:xfrm>
              <a:prstGeom prst="rect">
                <a:avLst/>
              </a:prstGeom>
              <a:blipFill>
                <a:blip r:embed="rId6"/>
                <a:stretch>
                  <a:fillRect b="-6818"/>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1"/>
                                        </p:tgtEl>
                                        <p:attrNameLst>
                                          <p:attrName>style.visibility</p:attrName>
                                        </p:attrNameLst>
                                      </p:cBhvr>
                                      <p:to>
                                        <p:strVal val="visible"/>
                                      </p:to>
                                    </p:set>
                                    <p:animEffect transition="in" filter="fade">
                                      <p:cBhvr>
                                        <p:cTn id="7" dur="500"/>
                                        <p:tgtEl>
                                          <p:spTgt spid="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5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Outline</a:t>
            </a:r>
            <a:endParaRPr/>
          </a:p>
        </p:txBody>
      </p:sp>
      <p:sp>
        <p:nvSpPr>
          <p:cNvPr id="668" name="Google Shape;668;p5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rgbClr val="C7C7C7"/>
                </a:solidFill>
              </a:rPr>
              <a:t>Message-level protocol compliance definition</a:t>
            </a:r>
            <a:endParaRPr/>
          </a:p>
          <a:p>
            <a:pPr marL="457200" lvl="0" indent="-228600" algn="l" rtl="0">
              <a:lnSpc>
                <a:spcPct val="115000"/>
              </a:lnSpc>
              <a:spcBef>
                <a:spcPts val="0"/>
              </a:spcBef>
              <a:spcAft>
                <a:spcPts val="0"/>
              </a:spcAft>
              <a:buSzPts val="1800"/>
              <a:buNone/>
            </a:pPr>
            <a:endParaRPr>
              <a:solidFill>
                <a:srgbClr val="C7C7C7"/>
              </a:solidFill>
            </a:endParaRPr>
          </a:p>
          <a:p>
            <a:pPr marL="457200" lvl="0" indent="-342900" algn="l" rtl="0">
              <a:lnSpc>
                <a:spcPct val="115000"/>
              </a:lnSpc>
              <a:spcBef>
                <a:spcPts val="0"/>
              </a:spcBef>
              <a:spcAft>
                <a:spcPts val="0"/>
              </a:spcAft>
              <a:buSzPts val="1800"/>
              <a:buChar char="●"/>
            </a:pPr>
            <a:r>
              <a:rPr lang="en">
                <a:solidFill>
                  <a:srgbClr val="C7C7C7"/>
                </a:solidFill>
              </a:rPr>
              <a:t>RTC calling traffic collection &amp; Message extraction</a:t>
            </a:r>
            <a:endParaRPr/>
          </a:p>
          <a:p>
            <a:pPr marL="457200" lvl="0" indent="-228600" algn="l" rtl="0">
              <a:lnSpc>
                <a:spcPct val="115000"/>
              </a:lnSpc>
              <a:spcBef>
                <a:spcPts val="0"/>
              </a:spcBef>
              <a:spcAft>
                <a:spcPts val="0"/>
              </a:spcAft>
              <a:buSzPts val="1800"/>
              <a:buFont typeface="Arial"/>
              <a:buNone/>
            </a:pPr>
            <a:endParaRPr>
              <a:solidFill>
                <a:srgbClr val="C7C7C7"/>
              </a:solidFill>
            </a:endParaRPr>
          </a:p>
          <a:p>
            <a:pPr marL="457200" lvl="0" indent="-342900" algn="l" rtl="0">
              <a:lnSpc>
                <a:spcPct val="115000"/>
              </a:lnSpc>
              <a:spcBef>
                <a:spcPts val="0"/>
              </a:spcBef>
              <a:spcAft>
                <a:spcPts val="0"/>
              </a:spcAft>
              <a:buSzPts val="1800"/>
              <a:buFont typeface="Arial"/>
              <a:buChar char="●"/>
            </a:pPr>
            <a:r>
              <a:rPr lang="en">
                <a:solidFill>
                  <a:srgbClr val="C7C7C7"/>
                </a:solidFill>
              </a:rPr>
              <a:t>Quantitative analysis results on collected traffic</a:t>
            </a:r>
            <a:endParaRPr/>
          </a:p>
          <a:p>
            <a:pPr marL="457200" lvl="0" indent="-228600" algn="l" rtl="0">
              <a:lnSpc>
                <a:spcPct val="115000"/>
              </a:lnSpc>
              <a:spcBef>
                <a:spcPts val="0"/>
              </a:spcBef>
              <a:spcAft>
                <a:spcPts val="0"/>
              </a:spcAft>
              <a:buSzPts val="1800"/>
              <a:buNone/>
            </a:pPr>
            <a:endParaRPr>
              <a:solidFill>
                <a:srgbClr val="C7C7C7"/>
              </a:solidFill>
            </a:endParaRPr>
          </a:p>
          <a:p>
            <a:pPr marL="457200" lvl="0" indent="-342900" algn="l" rtl="0">
              <a:lnSpc>
                <a:spcPct val="115000"/>
              </a:lnSpc>
              <a:spcBef>
                <a:spcPts val="0"/>
              </a:spcBef>
              <a:spcAft>
                <a:spcPts val="0"/>
              </a:spcAft>
              <a:buSzPts val="1800"/>
              <a:buChar char="●"/>
            </a:pPr>
            <a:r>
              <a:rPr lang="en">
                <a:solidFill>
                  <a:schemeClr val="dk1"/>
                </a:solidFill>
              </a:rPr>
              <a:t>Case studies</a:t>
            </a:r>
            <a:endParaRPr/>
          </a:p>
          <a:p>
            <a:pPr marL="457200" lvl="0" indent="-228600" algn="l" rtl="0">
              <a:lnSpc>
                <a:spcPct val="115000"/>
              </a:lnSpc>
              <a:spcBef>
                <a:spcPts val="0"/>
              </a:spcBef>
              <a:spcAft>
                <a:spcPts val="0"/>
              </a:spcAft>
              <a:buSzPts val="1800"/>
              <a:buNone/>
            </a:pPr>
            <a:endParaRPr>
              <a:solidFill>
                <a:schemeClr val="dk1"/>
              </a:solidFill>
            </a:endParaRPr>
          </a:p>
        </p:txBody>
      </p:sp>
      <p:sp>
        <p:nvSpPr>
          <p:cNvPr id="669" name="Google Shape;669;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Discord uses reserved identifier in RTP header extension</a:t>
            </a:r>
            <a:endParaRPr/>
          </a:p>
        </p:txBody>
      </p:sp>
      <p:sp>
        <p:nvSpPr>
          <p:cNvPr id="675" name="Google Shape;675;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18</a:t>
            </a:fld>
            <a:endParaRPr/>
          </a:p>
        </p:txBody>
      </p:sp>
      <p:sp>
        <p:nvSpPr>
          <p:cNvPr id="676" name="Google Shape;676;p52"/>
          <p:cNvSpPr txBox="1"/>
          <p:nvPr/>
        </p:nvSpPr>
        <p:spPr>
          <a:xfrm>
            <a:off x="581306" y="2786634"/>
            <a:ext cx="306222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212529"/>
                </a:solidFill>
                <a:latin typeface="Arial"/>
                <a:ea typeface="Arial"/>
                <a:cs typeface="Arial"/>
                <a:sym typeface="Arial"/>
              </a:rPr>
              <a:t>RFC 8285 – RTP header extensions</a:t>
            </a:r>
            <a:endParaRPr/>
          </a:p>
        </p:txBody>
      </p:sp>
      <p:sp>
        <p:nvSpPr>
          <p:cNvPr id="677" name="Google Shape;677;p52"/>
          <p:cNvSpPr/>
          <p:nvPr/>
        </p:nvSpPr>
        <p:spPr>
          <a:xfrm>
            <a:off x="581306" y="3133656"/>
            <a:ext cx="3240978" cy="1726361"/>
          </a:xfrm>
          <a:prstGeom prst="verticalScroll">
            <a:avLst>
              <a:gd name="adj" fmla="val 7437"/>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 sz="1200" b="0" i="0" u="none" strike="noStrike" cap="none">
                <a:solidFill>
                  <a:schemeClr val="lt1"/>
                </a:solidFill>
                <a:latin typeface="Arial"/>
                <a:ea typeface="Arial"/>
                <a:cs typeface="Arial"/>
                <a:sym typeface="Arial"/>
              </a:rPr>
              <a:t>Each distinct extension MUST have a unique ID. </a:t>
            </a:r>
            <a:r>
              <a:rPr lang="en" sz="1200" b="1" i="0" u="none" strike="noStrike" cap="none">
                <a:solidFill>
                  <a:schemeClr val="lt1"/>
                </a:solidFill>
                <a:latin typeface="Arial"/>
                <a:ea typeface="Arial"/>
                <a:cs typeface="Arial"/>
                <a:sym typeface="Arial"/>
              </a:rPr>
              <a:t>The ID value 0 is reserved for padding </a:t>
            </a:r>
            <a:r>
              <a:rPr lang="en" sz="1200" b="0" i="0" u="none" strike="noStrike" cap="none">
                <a:solidFill>
                  <a:schemeClr val="lt1"/>
                </a:solidFill>
                <a:latin typeface="Arial"/>
                <a:ea typeface="Arial"/>
                <a:cs typeface="Arial"/>
                <a:sym typeface="Arial"/>
              </a:rPr>
              <a:t>and MUST NOT be used as a local identifier. </a:t>
            </a:r>
            <a:endParaRPr/>
          </a:p>
          <a:p>
            <a:pPr marL="0" marR="0" lvl="0" indent="0" algn="l" rtl="0">
              <a:lnSpc>
                <a:spcPct val="100000"/>
              </a:lnSpc>
              <a:spcBef>
                <a:spcPts val="0"/>
              </a:spcBef>
              <a:spcAft>
                <a:spcPts val="0"/>
              </a:spcAft>
              <a:buNone/>
            </a:pPr>
            <a:r>
              <a:rPr lang="en" sz="1200" b="0" i="0" u="none" strike="noStrike" cap="none">
                <a:solidFill>
                  <a:schemeClr val="lt1"/>
                </a:solidFill>
                <a:latin typeface="Arial"/>
                <a:ea typeface="Arial"/>
                <a:cs typeface="Arial"/>
                <a:sym typeface="Arial"/>
              </a:rPr>
              <a:t>An extension element with an ID value equal to 0 </a:t>
            </a:r>
            <a:r>
              <a:rPr lang="en" sz="1200" b="1" i="0" u="none" strike="noStrike" cap="none">
                <a:solidFill>
                  <a:schemeClr val="lt1"/>
                </a:solidFill>
                <a:latin typeface="Arial"/>
                <a:ea typeface="Arial"/>
                <a:cs typeface="Arial"/>
                <a:sym typeface="Arial"/>
              </a:rPr>
              <a:t>must not </a:t>
            </a:r>
            <a:r>
              <a:rPr lang="en" sz="1200" b="0" i="0" u="none" strike="noStrike" cap="none">
                <a:solidFill>
                  <a:schemeClr val="lt1"/>
                </a:solidFill>
                <a:latin typeface="Arial"/>
                <a:ea typeface="Arial"/>
                <a:cs typeface="Arial"/>
                <a:sym typeface="Arial"/>
              </a:rPr>
              <a:t>have an associated length field greater than 0</a:t>
            </a:r>
            <a:endParaRPr sz="1400" b="0" i="0" u="none" strike="noStrike" cap="none">
              <a:solidFill>
                <a:schemeClr val="lt1"/>
              </a:solidFill>
              <a:latin typeface="Arial"/>
              <a:ea typeface="Arial"/>
              <a:cs typeface="Arial"/>
              <a:sym typeface="Arial"/>
            </a:endParaRPr>
          </a:p>
        </p:txBody>
      </p:sp>
      <p:pic>
        <p:nvPicPr>
          <p:cNvPr id="678" name="Google Shape;678;p52"/>
          <p:cNvPicPr preferRelativeResize="0"/>
          <p:nvPr/>
        </p:nvPicPr>
        <p:blipFill rotWithShape="1">
          <a:blip r:embed="rId3">
            <a:alphaModFix/>
          </a:blip>
          <a:srcRect/>
          <a:stretch/>
        </p:blipFill>
        <p:spPr>
          <a:xfrm>
            <a:off x="4972466" y="1745234"/>
            <a:ext cx="3727450" cy="1041400"/>
          </a:xfrm>
          <a:prstGeom prst="rect">
            <a:avLst/>
          </a:prstGeom>
          <a:noFill/>
          <a:ln>
            <a:noFill/>
          </a:ln>
        </p:spPr>
      </p:pic>
      <p:sp>
        <p:nvSpPr>
          <p:cNvPr id="679" name="Google Shape;679;p52"/>
          <p:cNvSpPr txBox="1"/>
          <p:nvPr/>
        </p:nvSpPr>
        <p:spPr>
          <a:xfrm>
            <a:off x="384357" y="1295377"/>
            <a:ext cx="4046965"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200" b="0" i="0" u="none" strike="noStrike" cap="none">
                <a:solidFill>
                  <a:srgbClr val="000000"/>
                </a:solidFill>
                <a:latin typeface="Arial"/>
                <a:ea typeface="Arial"/>
                <a:cs typeface="Arial"/>
                <a:sym typeface="Arial"/>
              </a:rPr>
              <a:t>An </a:t>
            </a:r>
            <a:r>
              <a:rPr lang="en" sz="1200" b="1" i="0" u="none" strike="noStrike" cap="none">
                <a:solidFill>
                  <a:srgbClr val="000000"/>
                </a:solidFill>
                <a:latin typeface="Arial"/>
                <a:ea typeface="Arial"/>
                <a:cs typeface="Arial"/>
                <a:sym typeface="Arial"/>
              </a:rPr>
              <a:t>RTP header extension</a:t>
            </a:r>
            <a:r>
              <a:rPr lang="en" sz="1200" b="0" i="0" u="none" strike="noStrike" cap="none">
                <a:solidFill>
                  <a:srgbClr val="000000"/>
                </a:solidFill>
                <a:latin typeface="Arial"/>
                <a:ea typeface="Arial"/>
                <a:cs typeface="Arial"/>
                <a:sym typeface="Arial"/>
              </a:rPr>
              <a:t> allows adding extra metadata (e.g., audio level, frame markers) to RTP packets beyond the standard header.</a:t>
            </a:r>
            <a:br>
              <a:rPr lang="en" sz="1200" b="0" i="0" u="none" strike="noStrike" cap="none">
                <a:solidFill>
                  <a:srgbClr val="000000"/>
                </a:solidFill>
                <a:latin typeface="Arial"/>
                <a:ea typeface="Arial"/>
                <a:cs typeface="Arial"/>
                <a:sym typeface="Arial"/>
              </a:rPr>
            </a:br>
            <a:r>
              <a:rPr lang="en" sz="1200" b="0" i="0" u="none" strike="noStrike" cap="none">
                <a:solidFill>
                  <a:srgbClr val="000000"/>
                </a:solidFill>
                <a:latin typeface="Arial"/>
                <a:ea typeface="Arial"/>
                <a:cs typeface="Arial"/>
                <a:sym typeface="Arial"/>
              </a:rPr>
              <a:t>The </a:t>
            </a:r>
            <a:r>
              <a:rPr lang="en" sz="1200" b="1" i="0" u="none" strike="noStrike" cap="none">
                <a:solidFill>
                  <a:srgbClr val="000000"/>
                </a:solidFill>
                <a:latin typeface="Arial"/>
                <a:ea typeface="Arial"/>
                <a:cs typeface="Arial"/>
                <a:sym typeface="Arial"/>
              </a:rPr>
              <a:t>identifier (ID)</a:t>
            </a:r>
            <a:r>
              <a:rPr lang="en" sz="1200" b="0" i="0" u="none" strike="noStrike" cap="none">
                <a:solidFill>
                  <a:srgbClr val="000000"/>
                </a:solidFill>
                <a:latin typeface="Arial"/>
                <a:ea typeface="Arial"/>
                <a:cs typeface="Arial"/>
                <a:sym typeface="Arial"/>
              </a:rPr>
              <a:t> specifies which type of extension it is, so the receiver knows how to interpret the extension data.</a:t>
            </a:r>
            <a:endParaRPr/>
          </a:p>
        </p:txBody>
      </p:sp>
      <p:sp>
        <p:nvSpPr>
          <p:cNvPr id="680" name="Google Shape;680;p52"/>
          <p:cNvSpPr/>
          <p:nvPr/>
        </p:nvSpPr>
        <p:spPr>
          <a:xfrm>
            <a:off x="5290564" y="2409052"/>
            <a:ext cx="869999" cy="122979"/>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81" name="Google Shape;681;p52"/>
          <p:cNvSpPr/>
          <p:nvPr/>
        </p:nvSpPr>
        <p:spPr>
          <a:xfrm>
            <a:off x="5299943" y="2649588"/>
            <a:ext cx="3275575" cy="122979"/>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82" name="Google Shape;682;p52"/>
          <p:cNvSpPr/>
          <p:nvPr/>
        </p:nvSpPr>
        <p:spPr>
          <a:xfrm>
            <a:off x="6099604" y="3045052"/>
            <a:ext cx="2424331" cy="694006"/>
          </a:xfrm>
          <a:prstGeom prst="wedgeRoundRectCallout">
            <a:avLst>
              <a:gd name="adj1" fmla="val 1604"/>
              <a:gd name="adj2" fmla="val -82095"/>
              <a:gd name="adj3"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A standard parser will ignore this extension data.</a:t>
            </a:r>
            <a:endParaRPr sz="1400" b="0" i="0" u="none" strike="noStrike" cap="none">
              <a:solidFill>
                <a:schemeClr val="lt1"/>
              </a:solidFill>
              <a:latin typeface="Arial"/>
              <a:ea typeface="Arial"/>
              <a:cs typeface="Arial"/>
              <a:sym typeface="Arial"/>
            </a:endParaRPr>
          </a:p>
        </p:txBody>
      </p:sp>
      <p:sp>
        <p:nvSpPr>
          <p:cNvPr id="683" name="Google Shape;683;p52"/>
          <p:cNvSpPr txBox="1"/>
          <p:nvPr/>
        </p:nvSpPr>
        <p:spPr>
          <a:xfrm>
            <a:off x="5299943" y="1403685"/>
            <a:ext cx="2919205"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212529"/>
                </a:solidFill>
                <a:latin typeface="Arial"/>
                <a:ea typeface="Arial"/>
                <a:cs typeface="Arial"/>
                <a:sym typeface="Arial"/>
              </a:rPr>
              <a:t>Discord RTP header extension example</a:t>
            </a:r>
            <a:endParaRPr/>
          </a:p>
        </p:txBody>
      </p:sp>
      <p:sp>
        <p:nvSpPr>
          <p:cNvPr id="684" name="Google Shape;684;p52"/>
          <p:cNvSpPr txBox="1"/>
          <p:nvPr/>
        </p:nvSpPr>
        <p:spPr>
          <a:xfrm>
            <a:off x="4883242" y="4324703"/>
            <a:ext cx="3440143" cy="338514"/>
          </a:xfrm>
          <a:prstGeom prst="rect">
            <a:avLst/>
          </a:prstGeom>
          <a:solidFill>
            <a:srgbClr val="FFDDB2"/>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Repurposing reserved field values</a:t>
            </a:r>
            <a:endParaRPr sz="16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8"/>
                                        </p:tgtEl>
                                        <p:attrNameLst>
                                          <p:attrName>style.visibility</p:attrName>
                                        </p:attrNameLst>
                                      </p:cBhvr>
                                      <p:to>
                                        <p:strVal val="visible"/>
                                      </p:to>
                                    </p:set>
                                    <p:animEffect transition="in" filter="fade">
                                      <p:cBhvr>
                                        <p:cTn id="7" dur="500"/>
                                        <p:tgtEl>
                                          <p:spTgt spid="678"/>
                                        </p:tgtEl>
                                      </p:cBhvr>
                                    </p:animEffect>
                                  </p:childTnLst>
                                </p:cTn>
                              </p:par>
                              <p:par>
                                <p:cTn id="8" presetID="10" presetClass="entr" presetSubtype="0" fill="hold" nodeType="withEffect">
                                  <p:stCondLst>
                                    <p:cond delay="0"/>
                                  </p:stCondLst>
                                  <p:childTnLst>
                                    <p:set>
                                      <p:cBhvr>
                                        <p:cTn id="9" dur="1" fill="hold">
                                          <p:stCondLst>
                                            <p:cond delay="0"/>
                                          </p:stCondLst>
                                        </p:cTn>
                                        <p:tgtEl>
                                          <p:spTgt spid="680"/>
                                        </p:tgtEl>
                                        <p:attrNameLst>
                                          <p:attrName>style.visibility</p:attrName>
                                        </p:attrNameLst>
                                      </p:cBhvr>
                                      <p:to>
                                        <p:strVal val="visible"/>
                                      </p:to>
                                    </p:set>
                                    <p:animEffect transition="in" filter="fade">
                                      <p:cBhvr>
                                        <p:cTn id="10" dur="500"/>
                                        <p:tgtEl>
                                          <p:spTgt spid="680"/>
                                        </p:tgtEl>
                                      </p:cBhvr>
                                    </p:animEffect>
                                  </p:childTnLst>
                                </p:cTn>
                              </p:par>
                              <p:par>
                                <p:cTn id="11" presetID="10" presetClass="entr" presetSubtype="0" fill="hold" nodeType="withEffect">
                                  <p:stCondLst>
                                    <p:cond delay="0"/>
                                  </p:stCondLst>
                                  <p:childTnLst>
                                    <p:set>
                                      <p:cBhvr>
                                        <p:cTn id="12" dur="1" fill="hold">
                                          <p:stCondLst>
                                            <p:cond delay="0"/>
                                          </p:stCondLst>
                                        </p:cTn>
                                        <p:tgtEl>
                                          <p:spTgt spid="681"/>
                                        </p:tgtEl>
                                        <p:attrNameLst>
                                          <p:attrName>style.visibility</p:attrName>
                                        </p:attrNameLst>
                                      </p:cBhvr>
                                      <p:to>
                                        <p:strVal val="visible"/>
                                      </p:to>
                                    </p:set>
                                    <p:animEffect transition="in" filter="fade">
                                      <p:cBhvr>
                                        <p:cTn id="13" dur="500"/>
                                        <p:tgtEl>
                                          <p:spTgt spid="681"/>
                                        </p:tgtEl>
                                      </p:cBhvr>
                                    </p:animEffect>
                                  </p:childTnLst>
                                </p:cTn>
                              </p:par>
                              <p:par>
                                <p:cTn id="14" presetID="10" presetClass="entr" presetSubtype="0" fill="hold" nodeType="withEffect">
                                  <p:stCondLst>
                                    <p:cond delay="0"/>
                                  </p:stCondLst>
                                  <p:childTnLst>
                                    <p:set>
                                      <p:cBhvr>
                                        <p:cTn id="15" dur="1" fill="hold">
                                          <p:stCondLst>
                                            <p:cond delay="0"/>
                                          </p:stCondLst>
                                        </p:cTn>
                                        <p:tgtEl>
                                          <p:spTgt spid="682"/>
                                        </p:tgtEl>
                                        <p:attrNameLst>
                                          <p:attrName>style.visibility</p:attrName>
                                        </p:attrNameLst>
                                      </p:cBhvr>
                                      <p:to>
                                        <p:strVal val="visible"/>
                                      </p:to>
                                    </p:set>
                                    <p:animEffect transition="in" filter="fade">
                                      <p:cBhvr>
                                        <p:cTn id="16" dur="500"/>
                                        <p:tgtEl>
                                          <p:spTgt spid="682"/>
                                        </p:tgtEl>
                                      </p:cBhvr>
                                    </p:animEffect>
                                  </p:childTnLst>
                                </p:cTn>
                              </p:par>
                              <p:par>
                                <p:cTn id="17" presetID="10" presetClass="entr" presetSubtype="0" fill="hold" nodeType="withEffect">
                                  <p:stCondLst>
                                    <p:cond delay="0"/>
                                  </p:stCondLst>
                                  <p:childTnLst>
                                    <p:set>
                                      <p:cBhvr>
                                        <p:cTn id="18" dur="1" fill="hold">
                                          <p:stCondLst>
                                            <p:cond delay="0"/>
                                          </p:stCondLst>
                                        </p:cTn>
                                        <p:tgtEl>
                                          <p:spTgt spid="683"/>
                                        </p:tgtEl>
                                        <p:attrNameLst>
                                          <p:attrName>style.visibility</p:attrName>
                                        </p:attrNameLst>
                                      </p:cBhvr>
                                      <p:to>
                                        <p:strVal val="visible"/>
                                      </p:to>
                                    </p:set>
                                    <p:animEffect transition="in" filter="fade">
                                      <p:cBhvr>
                                        <p:cTn id="19" dur="500"/>
                                        <p:tgtEl>
                                          <p:spTgt spid="68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84"/>
                                        </p:tgtEl>
                                        <p:attrNameLst>
                                          <p:attrName>style.visibility</p:attrName>
                                        </p:attrNameLst>
                                      </p:cBhvr>
                                      <p:to>
                                        <p:strVal val="visible"/>
                                      </p:to>
                                    </p:set>
                                    <p:animEffect transition="in" filter="fade">
                                      <p:cBhvr>
                                        <p:cTn id="24" dur="500"/>
                                        <p:tgtEl>
                                          <p:spTgt spid="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FaceTime introduces undefined </a:t>
            </a:r>
            <a:r>
              <a:rPr lang="en-US" altLang="zh-CN" dirty="0"/>
              <a:t>profile</a:t>
            </a:r>
            <a:r>
              <a:rPr lang="zh-CN" altLang="en-US" dirty="0"/>
              <a:t> </a:t>
            </a:r>
            <a:r>
              <a:rPr lang="en-US" altLang="zh-CN" dirty="0"/>
              <a:t>identifier</a:t>
            </a:r>
            <a:r>
              <a:rPr lang="zh-CN" altLang="en-US" dirty="0"/>
              <a:t> </a:t>
            </a:r>
            <a:r>
              <a:rPr lang="en-US" altLang="zh-CN" dirty="0"/>
              <a:t>for</a:t>
            </a:r>
            <a:r>
              <a:rPr lang="zh-CN" altLang="en-US" dirty="0"/>
              <a:t> </a:t>
            </a:r>
            <a:r>
              <a:rPr lang="en" dirty="0"/>
              <a:t>RTP header extensions</a:t>
            </a:r>
            <a:endParaRPr dirty="0"/>
          </a:p>
        </p:txBody>
      </p:sp>
      <p:sp>
        <p:nvSpPr>
          <p:cNvPr id="690" name="Google Shape;690;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19</a:t>
            </a:fld>
            <a:endParaRPr/>
          </a:p>
        </p:txBody>
      </p:sp>
      <p:pic>
        <p:nvPicPr>
          <p:cNvPr id="691" name="Google Shape;691;p53"/>
          <p:cNvPicPr preferRelativeResize="0"/>
          <p:nvPr/>
        </p:nvPicPr>
        <p:blipFill rotWithShape="1">
          <a:blip r:embed="rId3">
            <a:alphaModFix/>
          </a:blip>
          <a:srcRect/>
          <a:stretch/>
        </p:blipFill>
        <p:spPr>
          <a:xfrm>
            <a:off x="5687018" y="1974429"/>
            <a:ext cx="2443715" cy="866042"/>
          </a:xfrm>
          <a:prstGeom prst="rect">
            <a:avLst/>
          </a:prstGeom>
          <a:noFill/>
          <a:ln>
            <a:noFill/>
          </a:ln>
        </p:spPr>
      </p:pic>
      <p:sp>
        <p:nvSpPr>
          <p:cNvPr id="692" name="Google Shape;692;p53"/>
          <p:cNvSpPr txBox="1"/>
          <p:nvPr/>
        </p:nvSpPr>
        <p:spPr>
          <a:xfrm>
            <a:off x="5618811" y="1628880"/>
            <a:ext cx="2919205"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212529"/>
                </a:solidFill>
                <a:latin typeface="Arial"/>
                <a:ea typeface="Arial"/>
                <a:cs typeface="Arial"/>
                <a:sym typeface="Arial"/>
              </a:rPr>
              <a:t>FaceTime header extension example</a:t>
            </a:r>
            <a:endParaRPr/>
          </a:p>
        </p:txBody>
      </p:sp>
      <p:sp>
        <p:nvSpPr>
          <p:cNvPr id="693" name="Google Shape;693;p53"/>
          <p:cNvSpPr/>
          <p:nvPr/>
        </p:nvSpPr>
        <p:spPr>
          <a:xfrm>
            <a:off x="6099604" y="3045052"/>
            <a:ext cx="2424331" cy="694006"/>
          </a:xfrm>
          <a:prstGeom prst="wedgeRoundRectCallout">
            <a:avLst>
              <a:gd name="adj1" fmla="val 1604"/>
              <a:gd name="adj2" fmla="val -82095"/>
              <a:gd name="adj3" fmla="val 16667"/>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lt1"/>
                </a:solidFill>
                <a:latin typeface="Arial"/>
                <a:ea typeface="Arial"/>
                <a:cs typeface="Arial"/>
                <a:sym typeface="Arial"/>
              </a:rPr>
              <a:t>A standard parser cannot parse these header extensions.</a:t>
            </a:r>
            <a:endParaRPr sz="1400" b="0" i="0" u="none" strike="noStrike" cap="none">
              <a:solidFill>
                <a:schemeClr val="lt1"/>
              </a:solidFill>
              <a:latin typeface="Arial"/>
              <a:ea typeface="Arial"/>
              <a:cs typeface="Arial"/>
              <a:sym typeface="Arial"/>
            </a:endParaRPr>
          </a:p>
        </p:txBody>
      </p:sp>
      <p:sp>
        <p:nvSpPr>
          <p:cNvPr id="694" name="Google Shape;694;p53"/>
          <p:cNvSpPr/>
          <p:nvPr/>
        </p:nvSpPr>
        <p:spPr>
          <a:xfrm>
            <a:off x="5815758" y="1987481"/>
            <a:ext cx="1968365" cy="122979"/>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95" name="Google Shape;695;p53"/>
          <p:cNvSpPr/>
          <p:nvPr/>
        </p:nvSpPr>
        <p:spPr>
          <a:xfrm>
            <a:off x="5815758" y="2244979"/>
            <a:ext cx="2314975" cy="595492"/>
          </a:xfrm>
          <a:prstGeom prst="roundRect">
            <a:avLst>
              <a:gd name="adj" fmla="val 16667"/>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96" name="Google Shape;696;p53"/>
          <p:cNvSpPr txBox="1"/>
          <p:nvPr/>
        </p:nvSpPr>
        <p:spPr>
          <a:xfrm>
            <a:off x="471267" y="2101807"/>
            <a:ext cx="4386775"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The </a:t>
            </a:r>
            <a:r>
              <a:rPr lang="en" sz="1400" b="1" i="0" u="none" strike="noStrike" cap="none">
                <a:solidFill>
                  <a:srgbClr val="000000"/>
                </a:solidFill>
                <a:latin typeface="Arial"/>
                <a:ea typeface="Arial"/>
                <a:cs typeface="Arial"/>
                <a:sym typeface="Arial"/>
              </a:rPr>
              <a:t>profile identifier</a:t>
            </a:r>
            <a:r>
              <a:rPr lang="en" sz="1400" b="0" i="0" u="none" strike="noStrike" cap="none">
                <a:solidFill>
                  <a:srgbClr val="000000"/>
                </a:solidFill>
                <a:latin typeface="Arial"/>
                <a:ea typeface="Arial"/>
                <a:cs typeface="Arial"/>
                <a:sym typeface="Arial"/>
              </a:rPr>
              <a:t> specifies which format or set of rules defines how the RTP header extension should be interpreted.</a:t>
            </a:r>
            <a:endParaRPr/>
          </a:p>
        </p:txBody>
      </p:sp>
      <p:sp>
        <p:nvSpPr>
          <p:cNvPr id="697" name="Google Shape;697;p53"/>
          <p:cNvSpPr txBox="1"/>
          <p:nvPr/>
        </p:nvSpPr>
        <p:spPr>
          <a:xfrm>
            <a:off x="2487045" y="4493960"/>
            <a:ext cx="4626517" cy="338514"/>
          </a:xfrm>
          <a:prstGeom prst="rect">
            <a:avLst/>
          </a:prstGeom>
          <a:solidFill>
            <a:srgbClr val="FFDDB2"/>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Proprietary profiles for header extension parsing</a:t>
            </a:r>
            <a:endParaRPr sz="16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92"/>
                                        </p:tgtEl>
                                        <p:attrNameLst>
                                          <p:attrName>style.visibility</p:attrName>
                                        </p:attrNameLst>
                                      </p:cBhvr>
                                      <p:to>
                                        <p:strVal val="visible"/>
                                      </p:to>
                                    </p:set>
                                    <p:animEffect transition="in" filter="fade">
                                      <p:cBhvr>
                                        <p:cTn id="7" dur="1000"/>
                                        <p:tgtEl>
                                          <p:spTgt spid="692"/>
                                        </p:tgtEl>
                                      </p:cBhvr>
                                    </p:animEffect>
                                  </p:childTnLst>
                                </p:cTn>
                              </p:par>
                              <p:par>
                                <p:cTn id="8" presetID="10" presetClass="entr" presetSubtype="0" fill="hold" nodeType="withEffect">
                                  <p:stCondLst>
                                    <p:cond delay="0"/>
                                  </p:stCondLst>
                                  <p:childTnLst>
                                    <p:set>
                                      <p:cBhvr>
                                        <p:cTn id="9" dur="1" fill="hold">
                                          <p:stCondLst>
                                            <p:cond delay="0"/>
                                          </p:stCondLst>
                                        </p:cTn>
                                        <p:tgtEl>
                                          <p:spTgt spid="694"/>
                                        </p:tgtEl>
                                        <p:attrNameLst>
                                          <p:attrName>style.visibility</p:attrName>
                                        </p:attrNameLst>
                                      </p:cBhvr>
                                      <p:to>
                                        <p:strVal val="visible"/>
                                      </p:to>
                                    </p:set>
                                    <p:animEffect transition="in" filter="fade">
                                      <p:cBhvr>
                                        <p:cTn id="10" dur="500"/>
                                        <p:tgtEl>
                                          <p:spTgt spid="694"/>
                                        </p:tgtEl>
                                      </p:cBhvr>
                                    </p:animEffect>
                                  </p:childTnLst>
                                </p:cTn>
                              </p:par>
                              <p:par>
                                <p:cTn id="11" presetID="10" presetClass="entr" presetSubtype="0" fill="hold" nodeType="withEffect">
                                  <p:stCondLst>
                                    <p:cond delay="0"/>
                                  </p:stCondLst>
                                  <p:childTnLst>
                                    <p:set>
                                      <p:cBhvr>
                                        <p:cTn id="12" dur="1" fill="hold">
                                          <p:stCondLst>
                                            <p:cond delay="0"/>
                                          </p:stCondLst>
                                        </p:cTn>
                                        <p:tgtEl>
                                          <p:spTgt spid="695"/>
                                        </p:tgtEl>
                                        <p:attrNameLst>
                                          <p:attrName>style.visibility</p:attrName>
                                        </p:attrNameLst>
                                      </p:cBhvr>
                                      <p:to>
                                        <p:strVal val="visible"/>
                                      </p:to>
                                    </p:set>
                                    <p:animEffect transition="in" filter="fade">
                                      <p:cBhvr>
                                        <p:cTn id="13" dur="500"/>
                                        <p:tgtEl>
                                          <p:spTgt spid="695"/>
                                        </p:tgtEl>
                                      </p:cBhvr>
                                    </p:animEffect>
                                  </p:childTnLst>
                                </p:cTn>
                              </p:par>
                              <p:par>
                                <p:cTn id="14" presetID="10" presetClass="entr" presetSubtype="0" fill="hold" nodeType="withEffect">
                                  <p:stCondLst>
                                    <p:cond delay="0"/>
                                  </p:stCondLst>
                                  <p:childTnLst>
                                    <p:set>
                                      <p:cBhvr>
                                        <p:cTn id="15" dur="1" fill="hold">
                                          <p:stCondLst>
                                            <p:cond delay="0"/>
                                          </p:stCondLst>
                                        </p:cTn>
                                        <p:tgtEl>
                                          <p:spTgt spid="691"/>
                                        </p:tgtEl>
                                        <p:attrNameLst>
                                          <p:attrName>style.visibility</p:attrName>
                                        </p:attrNameLst>
                                      </p:cBhvr>
                                      <p:to>
                                        <p:strVal val="visible"/>
                                      </p:to>
                                    </p:set>
                                    <p:animEffect transition="in" filter="fade">
                                      <p:cBhvr>
                                        <p:cTn id="16" dur="500"/>
                                        <p:tgtEl>
                                          <p:spTgt spid="69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93"/>
                                        </p:tgtEl>
                                        <p:attrNameLst>
                                          <p:attrName>style.visibility</p:attrName>
                                        </p:attrNameLst>
                                      </p:cBhvr>
                                      <p:to>
                                        <p:strVal val="visible"/>
                                      </p:to>
                                    </p:set>
                                    <p:animEffect transition="in" filter="fade">
                                      <p:cBhvr>
                                        <p:cTn id="21" dur="500"/>
                                        <p:tgtEl>
                                          <p:spTgt spid="69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97"/>
                                        </p:tgtEl>
                                        <p:attrNameLst>
                                          <p:attrName>style.visibility</p:attrName>
                                        </p:attrNameLst>
                                      </p:cBhvr>
                                      <p:to>
                                        <p:strVal val="visible"/>
                                      </p:to>
                                    </p:set>
                                    <p:animEffect transition="in" filter="fade">
                                      <p:cBhvr>
                                        <p:cTn id="26" dur="500"/>
                                        <p:tgtEl>
                                          <p:spTgt spid="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5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Discord adds one extra direction byte in RTCP messages</a:t>
            </a:r>
            <a:endParaRPr/>
          </a:p>
        </p:txBody>
      </p:sp>
      <p:sp>
        <p:nvSpPr>
          <p:cNvPr id="703" name="Google Shape;703;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20</a:t>
            </a:fld>
            <a:endParaRPr/>
          </a:p>
        </p:txBody>
      </p:sp>
      <p:sp>
        <p:nvSpPr>
          <p:cNvPr id="704" name="Google Shape;704;p54"/>
          <p:cNvSpPr txBox="1"/>
          <p:nvPr/>
        </p:nvSpPr>
        <p:spPr>
          <a:xfrm>
            <a:off x="409575" y="1210633"/>
            <a:ext cx="792742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Each Discord RTCP message of message type 200, 204, 205 and 206 adds one extra byte at the end of the RTCP message. 0x80 marking client to relay server, 0x00 marking relay server to client.</a:t>
            </a:r>
            <a:endParaRPr sz="1400" b="0" i="0" u="none" strike="noStrike" cap="none">
              <a:solidFill>
                <a:srgbClr val="000000"/>
              </a:solidFill>
              <a:latin typeface="Arial"/>
              <a:ea typeface="Arial"/>
              <a:cs typeface="Arial"/>
              <a:sym typeface="Arial"/>
            </a:endParaRPr>
          </a:p>
        </p:txBody>
      </p:sp>
      <p:pic>
        <p:nvPicPr>
          <p:cNvPr id="705" name="Google Shape;705;p54" descr="Iphone Generic outline icon | Freepik"/>
          <p:cNvPicPr preferRelativeResize="0"/>
          <p:nvPr/>
        </p:nvPicPr>
        <p:blipFill rotWithShape="1">
          <a:blip r:embed="rId3">
            <a:alphaModFix/>
          </a:blip>
          <a:srcRect/>
          <a:stretch/>
        </p:blipFill>
        <p:spPr>
          <a:xfrm>
            <a:off x="729898" y="2693519"/>
            <a:ext cx="539848" cy="539848"/>
          </a:xfrm>
          <a:prstGeom prst="rect">
            <a:avLst/>
          </a:prstGeom>
          <a:noFill/>
          <a:ln>
            <a:noFill/>
          </a:ln>
        </p:spPr>
      </p:pic>
      <p:pic>
        <p:nvPicPr>
          <p:cNvPr id="706" name="Google Shape;706;p54" descr="Discord logo, Discord icon, Discord ..."/>
          <p:cNvPicPr preferRelativeResize="0"/>
          <p:nvPr/>
        </p:nvPicPr>
        <p:blipFill rotWithShape="1">
          <a:blip r:embed="rId4">
            <a:alphaModFix/>
          </a:blip>
          <a:srcRect/>
          <a:stretch/>
        </p:blipFill>
        <p:spPr>
          <a:xfrm>
            <a:off x="659465" y="3272891"/>
            <a:ext cx="680714" cy="680714"/>
          </a:xfrm>
          <a:prstGeom prst="rect">
            <a:avLst/>
          </a:prstGeom>
          <a:noFill/>
          <a:ln>
            <a:noFill/>
          </a:ln>
        </p:spPr>
      </p:pic>
      <p:pic>
        <p:nvPicPr>
          <p:cNvPr id="707" name="Google Shape;707;p54" descr="IconExperience » G-Collection » Server Icon"/>
          <p:cNvPicPr preferRelativeResize="0"/>
          <p:nvPr/>
        </p:nvPicPr>
        <p:blipFill rotWithShape="1">
          <a:blip r:embed="rId5">
            <a:alphaModFix/>
          </a:blip>
          <a:srcRect/>
          <a:stretch/>
        </p:blipFill>
        <p:spPr>
          <a:xfrm>
            <a:off x="2765227" y="2239962"/>
            <a:ext cx="705048" cy="663575"/>
          </a:xfrm>
          <a:prstGeom prst="rect">
            <a:avLst/>
          </a:prstGeom>
          <a:noFill/>
          <a:ln>
            <a:noFill/>
          </a:ln>
        </p:spPr>
      </p:pic>
      <p:sp>
        <p:nvSpPr>
          <p:cNvPr id="708" name="Google Shape;708;p54"/>
          <p:cNvSpPr txBox="1"/>
          <p:nvPr/>
        </p:nvSpPr>
        <p:spPr>
          <a:xfrm>
            <a:off x="409575" y="3839240"/>
            <a:ext cx="130997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Discord client</a:t>
            </a:r>
            <a:endParaRPr sz="1400" b="0" i="0" u="none" strike="noStrike" cap="none">
              <a:solidFill>
                <a:srgbClr val="000000"/>
              </a:solidFill>
              <a:latin typeface="Arial"/>
              <a:ea typeface="Arial"/>
              <a:cs typeface="Arial"/>
              <a:sym typeface="Arial"/>
            </a:endParaRPr>
          </a:p>
        </p:txBody>
      </p:sp>
      <p:sp>
        <p:nvSpPr>
          <p:cNvPr id="709" name="Google Shape;709;p54"/>
          <p:cNvSpPr txBox="1"/>
          <p:nvPr/>
        </p:nvSpPr>
        <p:spPr>
          <a:xfrm>
            <a:off x="2522876" y="2965114"/>
            <a:ext cx="118974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Relay server</a:t>
            </a:r>
            <a:endParaRPr sz="1400" b="0" i="0" u="none" strike="noStrike" cap="none">
              <a:solidFill>
                <a:srgbClr val="000000"/>
              </a:solidFill>
              <a:latin typeface="Arial"/>
              <a:ea typeface="Arial"/>
              <a:cs typeface="Arial"/>
              <a:sym typeface="Arial"/>
            </a:endParaRPr>
          </a:p>
        </p:txBody>
      </p:sp>
      <p:pic>
        <p:nvPicPr>
          <p:cNvPr id="710" name="Google Shape;710;p54" descr="Iphone Generic outline icon | Freepik"/>
          <p:cNvPicPr preferRelativeResize="0"/>
          <p:nvPr/>
        </p:nvPicPr>
        <p:blipFill rotWithShape="1">
          <a:blip r:embed="rId3">
            <a:alphaModFix/>
          </a:blip>
          <a:srcRect/>
          <a:stretch/>
        </p:blipFill>
        <p:spPr>
          <a:xfrm>
            <a:off x="5536848" y="2693519"/>
            <a:ext cx="539848" cy="539848"/>
          </a:xfrm>
          <a:prstGeom prst="rect">
            <a:avLst/>
          </a:prstGeom>
          <a:noFill/>
          <a:ln>
            <a:noFill/>
          </a:ln>
        </p:spPr>
      </p:pic>
      <p:pic>
        <p:nvPicPr>
          <p:cNvPr id="711" name="Google Shape;711;p54" descr="Discord logo, Discord icon, Discord ..."/>
          <p:cNvPicPr preferRelativeResize="0"/>
          <p:nvPr/>
        </p:nvPicPr>
        <p:blipFill rotWithShape="1">
          <a:blip r:embed="rId4">
            <a:alphaModFix/>
          </a:blip>
          <a:srcRect/>
          <a:stretch/>
        </p:blipFill>
        <p:spPr>
          <a:xfrm>
            <a:off x="5466415" y="3272891"/>
            <a:ext cx="680714" cy="680714"/>
          </a:xfrm>
          <a:prstGeom prst="rect">
            <a:avLst/>
          </a:prstGeom>
          <a:noFill/>
          <a:ln>
            <a:noFill/>
          </a:ln>
        </p:spPr>
      </p:pic>
      <p:pic>
        <p:nvPicPr>
          <p:cNvPr id="712" name="Google Shape;712;p54" descr="IconExperience » G-Collection » Server Icon"/>
          <p:cNvPicPr preferRelativeResize="0"/>
          <p:nvPr/>
        </p:nvPicPr>
        <p:blipFill rotWithShape="1">
          <a:blip r:embed="rId5">
            <a:alphaModFix/>
          </a:blip>
          <a:srcRect/>
          <a:stretch/>
        </p:blipFill>
        <p:spPr>
          <a:xfrm>
            <a:off x="7572177" y="2239962"/>
            <a:ext cx="705048" cy="663575"/>
          </a:xfrm>
          <a:prstGeom prst="rect">
            <a:avLst/>
          </a:prstGeom>
          <a:noFill/>
          <a:ln>
            <a:noFill/>
          </a:ln>
        </p:spPr>
      </p:pic>
      <p:sp>
        <p:nvSpPr>
          <p:cNvPr id="713" name="Google Shape;713;p54"/>
          <p:cNvSpPr txBox="1"/>
          <p:nvPr/>
        </p:nvSpPr>
        <p:spPr>
          <a:xfrm>
            <a:off x="5216525" y="3839240"/>
            <a:ext cx="130997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Discord client</a:t>
            </a:r>
            <a:endParaRPr sz="1400" b="0" i="0" u="none" strike="noStrike" cap="none">
              <a:solidFill>
                <a:srgbClr val="000000"/>
              </a:solidFill>
              <a:latin typeface="Arial"/>
              <a:ea typeface="Arial"/>
              <a:cs typeface="Arial"/>
              <a:sym typeface="Arial"/>
            </a:endParaRPr>
          </a:p>
        </p:txBody>
      </p:sp>
      <p:sp>
        <p:nvSpPr>
          <p:cNvPr id="714" name="Google Shape;714;p54"/>
          <p:cNvSpPr txBox="1"/>
          <p:nvPr/>
        </p:nvSpPr>
        <p:spPr>
          <a:xfrm>
            <a:off x="7329826" y="2965114"/>
            <a:ext cx="118974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Relay server</a:t>
            </a:r>
            <a:endParaRPr sz="1400" b="0" i="0" u="none" strike="noStrike" cap="none">
              <a:solidFill>
                <a:srgbClr val="000000"/>
              </a:solidFill>
              <a:latin typeface="Arial"/>
              <a:ea typeface="Arial"/>
              <a:cs typeface="Arial"/>
              <a:sym typeface="Arial"/>
            </a:endParaRPr>
          </a:p>
        </p:txBody>
      </p:sp>
      <p:cxnSp>
        <p:nvCxnSpPr>
          <p:cNvPr id="715" name="Google Shape;715;p54"/>
          <p:cNvCxnSpPr>
            <a:stCxn id="705" idx="3"/>
            <a:endCxn id="707" idx="1"/>
          </p:cNvCxnSpPr>
          <p:nvPr/>
        </p:nvCxnSpPr>
        <p:spPr>
          <a:xfrm rot="10800000" flipH="1">
            <a:off x="1269746" y="2571643"/>
            <a:ext cx="1495500" cy="391800"/>
          </a:xfrm>
          <a:prstGeom prst="straightConnector1">
            <a:avLst/>
          </a:prstGeom>
          <a:noFill/>
          <a:ln w="9525" cap="flat" cmpd="sng">
            <a:solidFill>
              <a:srgbClr val="3B7FF2"/>
            </a:solidFill>
            <a:prstDash val="solid"/>
            <a:round/>
            <a:headEnd type="none" w="sm" len="sm"/>
            <a:tailEnd type="triangle" w="med" len="med"/>
          </a:ln>
        </p:spPr>
      </p:cxnSp>
      <p:cxnSp>
        <p:nvCxnSpPr>
          <p:cNvPr id="716" name="Google Shape;716;p54"/>
          <p:cNvCxnSpPr>
            <a:stCxn id="712" idx="1"/>
            <a:endCxn id="710" idx="3"/>
          </p:cNvCxnSpPr>
          <p:nvPr/>
        </p:nvCxnSpPr>
        <p:spPr>
          <a:xfrm flipH="1">
            <a:off x="6076677" y="2571750"/>
            <a:ext cx="1495500" cy="391800"/>
          </a:xfrm>
          <a:prstGeom prst="straightConnector1">
            <a:avLst/>
          </a:prstGeom>
          <a:noFill/>
          <a:ln w="9525" cap="flat" cmpd="sng">
            <a:solidFill>
              <a:srgbClr val="3B7FF2"/>
            </a:solidFill>
            <a:prstDash val="solid"/>
            <a:round/>
            <a:headEnd type="none" w="sm" len="sm"/>
            <a:tailEnd type="triangle" w="med" len="med"/>
          </a:ln>
        </p:spPr>
      </p:cxnSp>
      <p:grpSp>
        <p:nvGrpSpPr>
          <p:cNvPr id="717" name="Google Shape;717;p54"/>
          <p:cNvGrpSpPr/>
          <p:nvPr/>
        </p:nvGrpSpPr>
        <p:grpSpPr>
          <a:xfrm>
            <a:off x="449549" y="2423595"/>
            <a:ext cx="1270000" cy="222250"/>
            <a:chOff x="449549" y="2423595"/>
            <a:chExt cx="1270000" cy="222250"/>
          </a:xfrm>
        </p:grpSpPr>
        <p:sp>
          <p:nvSpPr>
            <p:cNvPr id="718" name="Google Shape;718;p54"/>
            <p:cNvSpPr/>
            <p:nvPr/>
          </p:nvSpPr>
          <p:spPr>
            <a:xfrm>
              <a:off x="449549" y="2423595"/>
              <a:ext cx="688975" cy="222250"/>
            </a:xfrm>
            <a:prstGeom prst="rect">
              <a:avLst/>
            </a:prstGeom>
            <a:solidFill>
              <a:srgbClr val="D8E6F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RTCP</a:t>
              </a:r>
              <a:endParaRPr sz="1400" b="0" i="0" u="none" strike="noStrike" cap="none">
                <a:solidFill>
                  <a:schemeClr val="dk1"/>
                </a:solidFill>
                <a:latin typeface="Arial"/>
                <a:ea typeface="Arial"/>
                <a:cs typeface="Arial"/>
                <a:sym typeface="Arial"/>
              </a:endParaRPr>
            </a:p>
          </p:txBody>
        </p:sp>
        <p:sp>
          <p:nvSpPr>
            <p:cNvPr id="719" name="Google Shape;719;p54"/>
            <p:cNvSpPr/>
            <p:nvPr/>
          </p:nvSpPr>
          <p:spPr>
            <a:xfrm>
              <a:off x="1138524" y="2423595"/>
              <a:ext cx="581025" cy="222250"/>
            </a:xfrm>
            <a:prstGeom prst="rect">
              <a:avLst/>
            </a:prstGeom>
            <a:solidFill>
              <a:srgbClr val="D8E6F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0x80</a:t>
              </a:r>
              <a:endParaRPr sz="1400" b="0" i="0" u="none" strike="noStrike" cap="none">
                <a:solidFill>
                  <a:schemeClr val="dk1"/>
                </a:solidFill>
                <a:latin typeface="Arial"/>
                <a:ea typeface="Arial"/>
                <a:cs typeface="Arial"/>
                <a:sym typeface="Arial"/>
              </a:endParaRPr>
            </a:p>
          </p:txBody>
        </p:sp>
      </p:grpSp>
      <p:grpSp>
        <p:nvGrpSpPr>
          <p:cNvPr id="720" name="Google Shape;720;p54"/>
          <p:cNvGrpSpPr/>
          <p:nvPr/>
        </p:nvGrpSpPr>
        <p:grpSpPr>
          <a:xfrm>
            <a:off x="7297737" y="1905752"/>
            <a:ext cx="1270000" cy="222250"/>
            <a:chOff x="7297737" y="1905752"/>
            <a:chExt cx="1270000" cy="222250"/>
          </a:xfrm>
        </p:grpSpPr>
        <p:sp>
          <p:nvSpPr>
            <p:cNvPr id="721" name="Google Shape;721;p54"/>
            <p:cNvSpPr/>
            <p:nvPr/>
          </p:nvSpPr>
          <p:spPr>
            <a:xfrm>
              <a:off x="7297737" y="1905752"/>
              <a:ext cx="688975" cy="222250"/>
            </a:xfrm>
            <a:prstGeom prst="rect">
              <a:avLst/>
            </a:prstGeom>
            <a:solidFill>
              <a:srgbClr val="D8E6F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RTCP</a:t>
              </a:r>
              <a:endParaRPr sz="1400" b="0" i="0" u="none" strike="noStrike" cap="none">
                <a:solidFill>
                  <a:schemeClr val="dk1"/>
                </a:solidFill>
                <a:latin typeface="Arial"/>
                <a:ea typeface="Arial"/>
                <a:cs typeface="Arial"/>
                <a:sym typeface="Arial"/>
              </a:endParaRPr>
            </a:p>
          </p:txBody>
        </p:sp>
        <p:sp>
          <p:nvSpPr>
            <p:cNvPr id="722" name="Google Shape;722;p54"/>
            <p:cNvSpPr/>
            <p:nvPr/>
          </p:nvSpPr>
          <p:spPr>
            <a:xfrm>
              <a:off x="7986712" y="1905752"/>
              <a:ext cx="581025" cy="222250"/>
            </a:xfrm>
            <a:prstGeom prst="rect">
              <a:avLst/>
            </a:prstGeom>
            <a:solidFill>
              <a:srgbClr val="D8E6FC"/>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 sz="1400" b="0" i="0" u="none" strike="noStrike" cap="none">
                  <a:solidFill>
                    <a:schemeClr val="dk1"/>
                  </a:solidFill>
                  <a:latin typeface="Arial"/>
                  <a:ea typeface="Arial"/>
                  <a:cs typeface="Arial"/>
                  <a:sym typeface="Arial"/>
                </a:rPr>
                <a:t>0x00</a:t>
              </a:r>
              <a:endParaRPr sz="1400" b="0" i="0" u="none" strike="noStrike" cap="none">
                <a:solidFill>
                  <a:schemeClr val="dk1"/>
                </a:solidFill>
                <a:latin typeface="Arial"/>
                <a:ea typeface="Arial"/>
                <a:cs typeface="Arial"/>
                <a:sym typeface="Arial"/>
              </a:endParaRPr>
            </a:p>
          </p:txBody>
        </p:sp>
      </p:grpSp>
      <p:sp>
        <p:nvSpPr>
          <p:cNvPr id="723" name="Google Shape;723;p54"/>
          <p:cNvSpPr txBox="1"/>
          <p:nvPr/>
        </p:nvSpPr>
        <p:spPr>
          <a:xfrm>
            <a:off x="2838738" y="4493960"/>
            <a:ext cx="2985288" cy="338514"/>
          </a:xfrm>
          <a:prstGeom prst="rect">
            <a:avLst/>
          </a:prstGeom>
          <a:solidFill>
            <a:srgbClr val="FFDDB2"/>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Additional indicators are added</a:t>
            </a:r>
            <a:endParaRPr sz="16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
                                        </p:tgtEl>
                                        <p:attrNameLst>
                                          <p:attrName>style.visibility</p:attrName>
                                        </p:attrNameLst>
                                      </p:cBhvr>
                                      <p:to>
                                        <p:strVal val="visible"/>
                                      </p:to>
                                    </p:set>
                                    <p:animEffect transition="in" filter="fade">
                                      <p:cBhvr>
                                        <p:cTn id="7" dur="500"/>
                                        <p:tgtEl>
                                          <p:spTgt spid="7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0"/>
                                        </p:tgtEl>
                                        <p:attrNameLst>
                                          <p:attrName>style.visibility</p:attrName>
                                        </p:attrNameLst>
                                      </p:cBhvr>
                                      <p:to>
                                        <p:strVal val="visible"/>
                                      </p:to>
                                    </p:set>
                                    <p:animEffect transition="in" filter="fade">
                                      <p:cBhvr>
                                        <p:cTn id="12" dur="500"/>
                                        <p:tgtEl>
                                          <p:spTgt spid="7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3"/>
                                        </p:tgtEl>
                                        <p:attrNameLst>
                                          <p:attrName>style.visibility</p:attrName>
                                        </p:attrNameLst>
                                      </p:cBhvr>
                                      <p:to>
                                        <p:strVal val="visible"/>
                                      </p:to>
                                    </p:set>
                                    <p:animEffect transition="in" filter="fade">
                                      <p:cBhvr>
                                        <p:cTn id="17" dur="500"/>
                                        <p:tgtEl>
                                          <p:spTgt spid="7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5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Facetime and Zoom have proprietary protocol headers</a:t>
            </a:r>
            <a:endParaRPr/>
          </a:p>
        </p:txBody>
      </p:sp>
      <p:sp>
        <p:nvSpPr>
          <p:cNvPr id="729" name="Google Shape;729;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21</a:t>
            </a:fld>
            <a:endParaRPr/>
          </a:p>
        </p:txBody>
      </p:sp>
      <p:sp>
        <p:nvSpPr>
          <p:cNvPr id="730" name="Google Shape;730;p55"/>
          <p:cNvSpPr txBox="1"/>
          <p:nvPr/>
        </p:nvSpPr>
        <p:spPr>
          <a:xfrm>
            <a:off x="3669226" y="1414990"/>
            <a:ext cx="136928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UDP datagram</a:t>
            </a:r>
            <a:endParaRPr sz="1400" b="0" i="0" u="none" strike="noStrike" cap="none">
              <a:solidFill>
                <a:srgbClr val="000000"/>
              </a:solidFill>
              <a:latin typeface="Arial"/>
              <a:ea typeface="Arial"/>
              <a:cs typeface="Arial"/>
              <a:sym typeface="Arial"/>
            </a:endParaRPr>
          </a:p>
        </p:txBody>
      </p:sp>
      <p:sp>
        <p:nvSpPr>
          <p:cNvPr id="731" name="Google Shape;731;p55"/>
          <p:cNvSpPr/>
          <p:nvPr/>
        </p:nvSpPr>
        <p:spPr>
          <a:xfrm>
            <a:off x="1800567" y="1853202"/>
            <a:ext cx="1788942" cy="234948"/>
          </a:xfrm>
          <a:prstGeom prst="rect">
            <a:avLst/>
          </a:prstGeom>
          <a:solidFill>
            <a:srgbClr val="D6D6D6"/>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2" name="Google Shape;732;p55"/>
          <p:cNvSpPr/>
          <p:nvPr/>
        </p:nvSpPr>
        <p:spPr>
          <a:xfrm>
            <a:off x="3669226" y="1853202"/>
            <a:ext cx="3193366" cy="234948"/>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3" name="Google Shape;733;p55"/>
          <p:cNvSpPr/>
          <p:nvPr/>
        </p:nvSpPr>
        <p:spPr>
          <a:xfrm>
            <a:off x="1732572" y="1790142"/>
            <a:ext cx="5200357" cy="361070"/>
          </a:xfrm>
          <a:prstGeom prst="rect">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734" name="Google Shape;734;p55"/>
          <p:cNvSpPr txBox="1"/>
          <p:nvPr/>
        </p:nvSpPr>
        <p:spPr>
          <a:xfrm>
            <a:off x="1553813" y="2223393"/>
            <a:ext cx="235192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Proprietary protocol header</a:t>
            </a:r>
            <a:endParaRPr sz="1400" b="0" i="0" u="none" strike="noStrike" cap="none">
              <a:solidFill>
                <a:srgbClr val="000000"/>
              </a:solidFill>
              <a:latin typeface="Arial"/>
              <a:ea typeface="Arial"/>
              <a:cs typeface="Arial"/>
              <a:sym typeface="Arial"/>
            </a:endParaRPr>
          </a:p>
        </p:txBody>
      </p:sp>
      <p:sp>
        <p:nvSpPr>
          <p:cNvPr id="735" name="Google Shape;735;p55"/>
          <p:cNvSpPr txBox="1"/>
          <p:nvPr/>
        </p:nvSpPr>
        <p:spPr>
          <a:xfrm>
            <a:off x="4647467" y="2221795"/>
            <a:ext cx="1680308"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RTC message(s)</a:t>
            </a:r>
            <a:endParaRPr sz="1400" b="0" i="0" u="none" strike="noStrike" cap="none">
              <a:solidFill>
                <a:srgbClr val="000000"/>
              </a:solidFill>
              <a:latin typeface="Arial"/>
              <a:ea typeface="Arial"/>
              <a:cs typeface="Arial"/>
              <a:sym typeface="Arial"/>
            </a:endParaRPr>
          </a:p>
        </p:txBody>
      </p:sp>
      <p:cxnSp>
        <p:nvCxnSpPr>
          <p:cNvPr id="736" name="Google Shape;736;p55"/>
          <p:cNvCxnSpPr/>
          <p:nvPr/>
        </p:nvCxnSpPr>
        <p:spPr>
          <a:xfrm rot="10800000" flipH="1">
            <a:off x="1732572" y="1649465"/>
            <a:ext cx="454857" cy="140677"/>
          </a:xfrm>
          <a:prstGeom prst="straightConnector1">
            <a:avLst/>
          </a:prstGeom>
          <a:noFill/>
          <a:ln w="9525" cap="flat" cmpd="sng">
            <a:solidFill>
              <a:schemeClr val="dk1"/>
            </a:solidFill>
            <a:prstDash val="solid"/>
            <a:round/>
            <a:headEnd type="none" w="sm" len="sm"/>
            <a:tailEnd type="none" w="sm" len="sm"/>
          </a:ln>
        </p:spPr>
      </p:cxnSp>
      <p:cxnSp>
        <p:nvCxnSpPr>
          <p:cNvPr id="737" name="Google Shape;737;p55"/>
          <p:cNvCxnSpPr/>
          <p:nvPr/>
        </p:nvCxnSpPr>
        <p:spPr>
          <a:xfrm>
            <a:off x="6435872" y="1640461"/>
            <a:ext cx="501746" cy="144992"/>
          </a:xfrm>
          <a:prstGeom prst="straightConnector1">
            <a:avLst/>
          </a:prstGeom>
          <a:noFill/>
          <a:ln w="9525" cap="flat" cmpd="sng">
            <a:solidFill>
              <a:schemeClr val="dk1"/>
            </a:solidFill>
            <a:prstDash val="solid"/>
            <a:round/>
            <a:headEnd type="none" w="sm" len="sm"/>
            <a:tailEnd type="none" w="sm" len="sm"/>
          </a:ln>
        </p:spPr>
      </p:cxnSp>
      <p:sp>
        <p:nvSpPr>
          <p:cNvPr id="738" name="Google Shape;738;p55"/>
          <p:cNvSpPr txBox="1"/>
          <p:nvPr/>
        </p:nvSpPr>
        <p:spPr>
          <a:xfrm>
            <a:off x="1460500" y="3049103"/>
            <a:ext cx="96051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Facetime</a:t>
            </a:r>
            <a:endParaRPr/>
          </a:p>
        </p:txBody>
      </p:sp>
      <p:sp>
        <p:nvSpPr>
          <p:cNvPr id="739" name="Google Shape;739;p55"/>
          <p:cNvSpPr txBox="1"/>
          <p:nvPr/>
        </p:nvSpPr>
        <p:spPr>
          <a:xfrm>
            <a:off x="538682" y="3400845"/>
            <a:ext cx="3130544"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90% of datagrams contain 8~19 bytes proprietary protocol headers when using relay mode.</a:t>
            </a:r>
            <a:endParaRPr/>
          </a:p>
        </p:txBody>
      </p:sp>
      <p:sp>
        <p:nvSpPr>
          <p:cNvPr id="740" name="Google Shape;740;p55"/>
          <p:cNvSpPr txBox="1"/>
          <p:nvPr/>
        </p:nvSpPr>
        <p:spPr>
          <a:xfrm>
            <a:off x="6259303" y="3049103"/>
            <a:ext cx="67197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Zoom</a:t>
            </a:r>
            <a:endParaRPr/>
          </a:p>
        </p:txBody>
      </p:sp>
      <p:sp>
        <p:nvSpPr>
          <p:cNvPr id="741" name="Google Shape;741;p55"/>
          <p:cNvSpPr txBox="1"/>
          <p:nvPr/>
        </p:nvSpPr>
        <p:spPr>
          <a:xfrm>
            <a:off x="5197785" y="3400845"/>
            <a:ext cx="3130544"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Each RTP and RTCP is preceded by a 24~39 byte proprietary header.</a:t>
            </a:r>
            <a:endParaRPr/>
          </a:p>
        </p:txBody>
      </p:sp>
      <p:sp>
        <p:nvSpPr>
          <p:cNvPr id="742" name="Google Shape;742;p55"/>
          <p:cNvSpPr txBox="1"/>
          <p:nvPr/>
        </p:nvSpPr>
        <p:spPr>
          <a:xfrm>
            <a:off x="1274202" y="4560909"/>
            <a:ext cx="6874478" cy="338514"/>
          </a:xfrm>
          <a:prstGeom prst="rect">
            <a:avLst/>
          </a:prstGeom>
          <a:solidFill>
            <a:srgbClr val="FFDDB2"/>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Many popular RTC apps add additional features on top of the standards.</a:t>
            </a:r>
            <a:endParaRPr sz="16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8"/>
                                        </p:tgtEl>
                                        <p:attrNameLst>
                                          <p:attrName>style.visibility</p:attrName>
                                        </p:attrNameLst>
                                      </p:cBhvr>
                                      <p:to>
                                        <p:strVal val="visible"/>
                                      </p:to>
                                    </p:set>
                                    <p:animEffect transition="in" filter="fade">
                                      <p:cBhvr>
                                        <p:cTn id="7" dur="500"/>
                                        <p:tgtEl>
                                          <p:spTgt spid="738"/>
                                        </p:tgtEl>
                                      </p:cBhvr>
                                    </p:animEffect>
                                  </p:childTnLst>
                                </p:cTn>
                              </p:par>
                              <p:par>
                                <p:cTn id="8" presetID="10" presetClass="entr" presetSubtype="0" fill="hold" nodeType="withEffect">
                                  <p:stCondLst>
                                    <p:cond delay="0"/>
                                  </p:stCondLst>
                                  <p:childTnLst>
                                    <p:set>
                                      <p:cBhvr>
                                        <p:cTn id="9" dur="1" fill="hold">
                                          <p:stCondLst>
                                            <p:cond delay="0"/>
                                          </p:stCondLst>
                                        </p:cTn>
                                        <p:tgtEl>
                                          <p:spTgt spid="739"/>
                                        </p:tgtEl>
                                        <p:attrNameLst>
                                          <p:attrName>style.visibility</p:attrName>
                                        </p:attrNameLst>
                                      </p:cBhvr>
                                      <p:to>
                                        <p:strVal val="visible"/>
                                      </p:to>
                                    </p:set>
                                    <p:animEffect transition="in" filter="fade">
                                      <p:cBhvr>
                                        <p:cTn id="10" dur="500"/>
                                        <p:tgtEl>
                                          <p:spTgt spid="739"/>
                                        </p:tgtEl>
                                      </p:cBhvr>
                                    </p:animEffect>
                                  </p:childTnLst>
                                </p:cTn>
                              </p:par>
                              <p:par>
                                <p:cTn id="11" presetID="10" presetClass="entr" presetSubtype="0" fill="hold" nodeType="withEffect">
                                  <p:stCondLst>
                                    <p:cond delay="0"/>
                                  </p:stCondLst>
                                  <p:childTnLst>
                                    <p:set>
                                      <p:cBhvr>
                                        <p:cTn id="12" dur="1" fill="hold">
                                          <p:stCondLst>
                                            <p:cond delay="0"/>
                                          </p:stCondLst>
                                        </p:cTn>
                                        <p:tgtEl>
                                          <p:spTgt spid="740"/>
                                        </p:tgtEl>
                                        <p:attrNameLst>
                                          <p:attrName>style.visibility</p:attrName>
                                        </p:attrNameLst>
                                      </p:cBhvr>
                                      <p:to>
                                        <p:strVal val="visible"/>
                                      </p:to>
                                    </p:set>
                                    <p:animEffect transition="in" filter="fade">
                                      <p:cBhvr>
                                        <p:cTn id="13" dur="500"/>
                                        <p:tgtEl>
                                          <p:spTgt spid="740"/>
                                        </p:tgtEl>
                                      </p:cBhvr>
                                    </p:animEffect>
                                  </p:childTnLst>
                                </p:cTn>
                              </p:par>
                              <p:par>
                                <p:cTn id="14" presetID="10" presetClass="entr" presetSubtype="0" fill="hold" nodeType="withEffect">
                                  <p:stCondLst>
                                    <p:cond delay="0"/>
                                  </p:stCondLst>
                                  <p:childTnLst>
                                    <p:set>
                                      <p:cBhvr>
                                        <p:cTn id="15" dur="1" fill="hold">
                                          <p:stCondLst>
                                            <p:cond delay="0"/>
                                          </p:stCondLst>
                                        </p:cTn>
                                        <p:tgtEl>
                                          <p:spTgt spid="741"/>
                                        </p:tgtEl>
                                        <p:attrNameLst>
                                          <p:attrName>style.visibility</p:attrName>
                                        </p:attrNameLst>
                                      </p:cBhvr>
                                      <p:to>
                                        <p:strVal val="visible"/>
                                      </p:to>
                                    </p:set>
                                    <p:animEffect transition="in" filter="fade">
                                      <p:cBhvr>
                                        <p:cTn id="16" dur="500"/>
                                        <p:tgtEl>
                                          <p:spTgt spid="74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42"/>
                                        </p:tgtEl>
                                        <p:attrNameLst>
                                          <p:attrName>style.visibility</p:attrName>
                                        </p:attrNameLst>
                                      </p:cBhvr>
                                      <p:to>
                                        <p:strVal val="visible"/>
                                      </p:to>
                                    </p:set>
                                    <p:animEffect transition="in" filter="fade">
                                      <p:cBhvr>
                                        <p:cTn id="21" dur="500"/>
                                        <p:tgtEl>
                                          <p:spTgt spid="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5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dirty="0"/>
              <a:t>Interoperation – long long journey</a:t>
            </a:r>
            <a:r>
              <a:rPr lang="zh-CN" altLang="en-US" dirty="0"/>
              <a:t> </a:t>
            </a:r>
            <a:r>
              <a:rPr lang="en-US" altLang="zh-CN" dirty="0"/>
              <a:t>across</a:t>
            </a:r>
            <a:r>
              <a:rPr lang="zh-CN" altLang="en-US" dirty="0"/>
              <a:t> </a:t>
            </a:r>
            <a:r>
              <a:rPr lang="en-US" altLang="zh-CN" dirty="0"/>
              <a:t>the</a:t>
            </a:r>
            <a:r>
              <a:rPr lang="zh-CN" altLang="en-US" dirty="0"/>
              <a:t> </a:t>
            </a:r>
            <a:r>
              <a:rPr lang="en-US" altLang="zh-CN" dirty="0"/>
              <a:t>ocean…</a:t>
            </a:r>
            <a:endParaRPr dirty="0"/>
          </a:p>
        </p:txBody>
      </p:sp>
      <p:sp>
        <p:nvSpPr>
          <p:cNvPr id="776" name="Google Shape;776;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22</a:t>
            </a:fld>
            <a:endParaRPr/>
          </a:p>
        </p:txBody>
      </p:sp>
      <p:pic>
        <p:nvPicPr>
          <p:cNvPr id="777" name="Google Shape;777;p57" descr="Messenger Logo Icon 21495949 PNG"/>
          <p:cNvPicPr preferRelativeResize="0"/>
          <p:nvPr/>
        </p:nvPicPr>
        <p:blipFill rotWithShape="1">
          <a:blip r:embed="rId3">
            <a:alphaModFix/>
          </a:blip>
          <a:srcRect/>
          <a:stretch/>
        </p:blipFill>
        <p:spPr>
          <a:xfrm>
            <a:off x="2829602" y="2862972"/>
            <a:ext cx="741734" cy="745045"/>
          </a:xfrm>
          <a:prstGeom prst="rect">
            <a:avLst/>
          </a:prstGeom>
          <a:noFill/>
          <a:ln>
            <a:noFill/>
          </a:ln>
        </p:spPr>
      </p:pic>
      <p:pic>
        <p:nvPicPr>
          <p:cNvPr id="778" name="Google Shape;778;p57"/>
          <p:cNvPicPr preferRelativeResize="0"/>
          <p:nvPr/>
        </p:nvPicPr>
        <p:blipFill rotWithShape="1">
          <a:blip r:embed="rId4">
            <a:alphaModFix/>
          </a:blip>
          <a:srcRect/>
          <a:stretch/>
        </p:blipFill>
        <p:spPr>
          <a:xfrm>
            <a:off x="4152582" y="3608017"/>
            <a:ext cx="551086" cy="553547"/>
          </a:xfrm>
          <a:prstGeom prst="rect">
            <a:avLst/>
          </a:prstGeom>
          <a:noFill/>
          <a:ln>
            <a:noFill/>
          </a:ln>
        </p:spPr>
      </p:pic>
      <p:pic>
        <p:nvPicPr>
          <p:cNvPr id="779" name="Google Shape;779;p57"/>
          <p:cNvPicPr preferRelativeResize="0"/>
          <p:nvPr/>
        </p:nvPicPr>
        <p:blipFill rotWithShape="1">
          <a:blip r:embed="rId5">
            <a:alphaModFix/>
          </a:blip>
          <a:srcRect/>
          <a:stretch/>
        </p:blipFill>
        <p:spPr>
          <a:xfrm>
            <a:off x="5458951" y="3016459"/>
            <a:ext cx="438069" cy="438069"/>
          </a:xfrm>
          <a:prstGeom prst="rect">
            <a:avLst/>
          </a:prstGeom>
          <a:noFill/>
          <a:ln>
            <a:noFill/>
          </a:ln>
        </p:spPr>
      </p:pic>
      <p:pic>
        <p:nvPicPr>
          <p:cNvPr id="780" name="Google Shape;780;p57" descr="Discord logo, Discord icon, Discord ..."/>
          <p:cNvPicPr preferRelativeResize="0"/>
          <p:nvPr/>
        </p:nvPicPr>
        <p:blipFill rotWithShape="1">
          <a:blip r:embed="rId6">
            <a:alphaModFix/>
          </a:blip>
          <a:srcRect/>
          <a:stretch/>
        </p:blipFill>
        <p:spPr>
          <a:xfrm>
            <a:off x="2860112" y="1700651"/>
            <a:ext cx="680714" cy="680714"/>
          </a:xfrm>
          <a:prstGeom prst="rect">
            <a:avLst/>
          </a:prstGeom>
          <a:noFill/>
          <a:ln>
            <a:noFill/>
          </a:ln>
        </p:spPr>
      </p:pic>
      <p:pic>
        <p:nvPicPr>
          <p:cNvPr id="781" name="Google Shape;781;p57" descr="Google Meets - Flat - Wired - Lordicon"/>
          <p:cNvPicPr preferRelativeResize="0"/>
          <p:nvPr/>
        </p:nvPicPr>
        <p:blipFill rotWithShape="1">
          <a:blip r:embed="rId7">
            <a:alphaModFix/>
          </a:blip>
          <a:srcRect/>
          <a:stretch/>
        </p:blipFill>
        <p:spPr>
          <a:xfrm>
            <a:off x="4142737" y="1250694"/>
            <a:ext cx="570776" cy="570776"/>
          </a:xfrm>
          <a:prstGeom prst="rect">
            <a:avLst/>
          </a:prstGeom>
          <a:noFill/>
          <a:ln>
            <a:noFill/>
          </a:ln>
        </p:spPr>
      </p:pic>
      <p:pic>
        <p:nvPicPr>
          <p:cNvPr id="782" name="Google Shape;782;p57" descr="Zoom Logo and symbol, meaning, history, PNG"/>
          <p:cNvPicPr preferRelativeResize="0"/>
          <p:nvPr/>
        </p:nvPicPr>
        <p:blipFill rotWithShape="1">
          <a:blip r:embed="rId8">
            <a:alphaModFix/>
          </a:blip>
          <a:srcRect l="18712" r="22136"/>
          <a:stretch/>
        </p:blipFill>
        <p:spPr>
          <a:xfrm>
            <a:off x="5429316" y="1807960"/>
            <a:ext cx="490677" cy="466096"/>
          </a:xfrm>
          <a:prstGeom prst="rect">
            <a:avLst/>
          </a:prstGeom>
          <a:noFill/>
          <a:ln>
            <a:noFill/>
          </a:ln>
        </p:spPr>
      </p:pic>
      <p:pic>
        <p:nvPicPr>
          <p:cNvPr id="783" name="Google Shape;783;p57" descr="Weak Chain Icon Stock Illustrations ..."/>
          <p:cNvPicPr preferRelativeResize="0"/>
          <p:nvPr/>
        </p:nvPicPr>
        <p:blipFill rotWithShape="1">
          <a:blip r:embed="rId9">
            <a:alphaModFix/>
          </a:blip>
          <a:srcRect/>
          <a:stretch/>
        </p:blipFill>
        <p:spPr>
          <a:xfrm rot="-1596390">
            <a:off x="3426934" y="1479140"/>
            <a:ext cx="686114" cy="384224"/>
          </a:xfrm>
          <a:prstGeom prst="rect">
            <a:avLst/>
          </a:prstGeom>
          <a:noFill/>
          <a:ln>
            <a:noFill/>
          </a:ln>
        </p:spPr>
      </p:pic>
      <p:pic>
        <p:nvPicPr>
          <p:cNvPr id="784" name="Google Shape;784;p57" descr="Weak Chain Icon Stock Illustrations ..."/>
          <p:cNvPicPr preferRelativeResize="0"/>
          <p:nvPr/>
        </p:nvPicPr>
        <p:blipFill rotWithShape="1">
          <a:blip r:embed="rId9">
            <a:alphaModFix/>
          </a:blip>
          <a:srcRect/>
          <a:stretch/>
        </p:blipFill>
        <p:spPr>
          <a:xfrm rot="-1596390">
            <a:off x="4753380" y="3483785"/>
            <a:ext cx="686114" cy="384224"/>
          </a:xfrm>
          <a:prstGeom prst="rect">
            <a:avLst/>
          </a:prstGeom>
          <a:noFill/>
          <a:ln>
            <a:noFill/>
          </a:ln>
        </p:spPr>
      </p:pic>
      <p:pic>
        <p:nvPicPr>
          <p:cNvPr id="785" name="Google Shape;785;p57" descr="Weak Chain Icon Stock Illustrations ..."/>
          <p:cNvPicPr preferRelativeResize="0"/>
          <p:nvPr/>
        </p:nvPicPr>
        <p:blipFill rotWithShape="1">
          <a:blip r:embed="rId9">
            <a:alphaModFix/>
          </a:blip>
          <a:srcRect/>
          <a:stretch/>
        </p:blipFill>
        <p:spPr>
          <a:xfrm rot="-5400000">
            <a:off x="2857412" y="2425001"/>
            <a:ext cx="686114" cy="384224"/>
          </a:xfrm>
          <a:prstGeom prst="rect">
            <a:avLst/>
          </a:prstGeom>
          <a:noFill/>
          <a:ln>
            <a:noFill/>
          </a:ln>
        </p:spPr>
      </p:pic>
      <p:pic>
        <p:nvPicPr>
          <p:cNvPr id="786" name="Google Shape;786;p57" descr="Weak Chain Icon Stock Illustrations ..."/>
          <p:cNvPicPr preferRelativeResize="0"/>
          <p:nvPr/>
        </p:nvPicPr>
        <p:blipFill rotWithShape="1">
          <a:blip r:embed="rId9">
            <a:alphaModFix/>
          </a:blip>
          <a:srcRect/>
          <a:stretch/>
        </p:blipFill>
        <p:spPr>
          <a:xfrm rot="-5400000">
            <a:off x="5308006" y="2439687"/>
            <a:ext cx="686114" cy="384224"/>
          </a:xfrm>
          <a:prstGeom prst="rect">
            <a:avLst/>
          </a:prstGeom>
          <a:noFill/>
          <a:ln>
            <a:noFill/>
          </a:ln>
        </p:spPr>
      </p:pic>
      <p:pic>
        <p:nvPicPr>
          <p:cNvPr id="787" name="Google Shape;787;p57" descr="Weak Chain Icon Stock Illustrations ..."/>
          <p:cNvPicPr preferRelativeResize="0"/>
          <p:nvPr/>
        </p:nvPicPr>
        <p:blipFill rotWithShape="1">
          <a:blip r:embed="rId9">
            <a:alphaModFix/>
          </a:blip>
          <a:srcRect/>
          <a:stretch/>
        </p:blipFill>
        <p:spPr>
          <a:xfrm rot="-8716690">
            <a:off x="4754756" y="1508539"/>
            <a:ext cx="686114" cy="384224"/>
          </a:xfrm>
          <a:prstGeom prst="rect">
            <a:avLst/>
          </a:prstGeom>
          <a:noFill/>
          <a:ln>
            <a:noFill/>
          </a:ln>
        </p:spPr>
      </p:pic>
      <p:pic>
        <p:nvPicPr>
          <p:cNvPr id="788" name="Google Shape;788;p57" descr="Weak Chain Icon Stock Illustrations ..."/>
          <p:cNvPicPr preferRelativeResize="0"/>
          <p:nvPr/>
        </p:nvPicPr>
        <p:blipFill rotWithShape="1">
          <a:blip r:embed="rId9">
            <a:alphaModFix/>
          </a:blip>
          <a:srcRect/>
          <a:stretch/>
        </p:blipFill>
        <p:spPr>
          <a:xfrm rot="-8716690">
            <a:off x="3345643" y="3510146"/>
            <a:ext cx="686114" cy="384224"/>
          </a:xfrm>
          <a:prstGeom prst="rect">
            <a:avLst/>
          </a:prstGeom>
          <a:noFill/>
          <a:ln>
            <a:noFill/>
          </a:ln>
        </p:spPr>
      </p:pic>
      <p:sp>
        <p:nvSpPr>
          <p:cNvPr id="2" name="TextBox 1">
            <a:extLst>
              <a:ext uri="{FF2B5EF4-FFF2-40B4-BE49-F238E27FC236}">
                <a16:creationId xmlns:a16="http://schemas.microsoft.com/office/drawing/2014/main" id="{52F43294-21B3-B757-D296-6F79D7735DE5}"/>
              </a:ext>
            </a:extLst>
          </p:cNvPr>
          <p:cNvSpPr txBox="1"/>
          <p:nvPr/>
        </p:nvSpPr>
        <p:spPr>
          <a:xfrm>
            <a:off x="508409" y="4389917"/>
            <a:ext cx="2063362" cy="523220"/>
          </a:xfrm>
          <a:prstGeom prst="rect">
            <a:avLst/>
          </a:prstGeom>
          <a:noFill/>
        </p:spPr>
        <p:txBody>
          <a:bodyPr wrap="square" rtlCol="0">
            <a:spAutoFit/>
          </a:bodyPr>
          <a:lstStyle/>
          <a:p>
            <a:pPr algn="ctr"/>
            <a:r>
              <a:rPr lang="en-US" altLang="zh-CN" dirty="0"/>
              <a:t>Share</a:t>
            </a:r>
            <a:r>
              <a:rPr lang="zh-CN" altLang="en-US" dirty="0"/>
              <a:t> </a:t>
            </a:r>
            <a:r>
              <a:rPr lang="en-US" altLang="zh-CN" dirty="0"/>
              <a:t>the</a:t>
            </a:r>
            <a:r>
              <a:rPr lang="zh-CN" altLang="en-US" dirty="0"/>
              <a:t> </a:t>
            </a:r>
            <a:r>
              <a:rPr lang="en-US" altLang="zh-CN" dirty="0"/>
              <a:t>same</a:t>
            </a:r>
            <a:r>
              <a:rPr lang="zh-CN" altLang="en-US" dirty="0"/>
              <a:t> </a:t>
            </a:r>
            <a:r>
              <a:rPr lang="en-US" altLang="zh-CN" dirty="0"/>
              <a:t>protocol</a:t>
            </a:r>
            <a:r>
              <a:rPr lang="zh-CN" altLang="en-US" dirty="0"/>
              <a:t> </a:t>
            </a:r>
            <a:r>
              <a:rPr lang="en-US" altLang="zh-CN" dirty="0"/>
              <a:t>standard</a:t>
            </a:r>
            <a:r>
              <a:rPr lang="zh-CN" altLang="en-US" dirty="0"/>
              <a:t> </a:t>
            </a:r>
            <a:endParaRPr lang="en-US" dirty="0"/>
          </a:p>
        </p:txBody>
      </p:sp>
      <p:sp>
        <p:nvSpPr>
          <p:cNvPr id="3" name="TextBox 2">
            <a:extLst>
              <a:ext uri="{FF2B5EF4-FFF2-40B4-BE49-F238E27FC236}">
                <a16:creationId xmlns:a16="http://schemas.microsoft.com/office/drawing/2014/main" id="{009066C9-5938-F524-03C9-1CD9A7AC7320}"/>
              </a:ext>
            </a:extLst>
          </p:cNvPr>
          <p:cNvSpPr txBox="1"/>
          <p:nvPr/>
        </p:nvSpPr>
        <p:spPr>
          <a:xfrm>
            <a:off x="3120957" y="4389917"/>
            <a:ext cx="2614335" cy="523220"/>
          </a:xfrm>
          <a:prstGeom prst="rect">
            <a:avLst/>
          </a:prstGeom>
          <a:noFill/>
        </p:spPr>
        <p:txBody>
          <a:bodyPr wrap="square" rtlCol="0">
            <a:spAutoFit/>
          </a:bodyPr>
          <a:lstStyle/>
          <a:p>
            <a:pPr algn="ctr"/>
            <a:r>
              <a:rPr lang="en-US" altLang="zh-CN" dirty="0"/>
              <a:t>Design</a:t>
            </a:r>
            <a:r>
              <a:rPr lang="zh-CN" altLang="en-US" dirty="0"/>
              <a:t> </a:t>
            </a:r>
            <a:r>
              <a:rPr lang="en-US" altLang="zh-CN" dirty="0"/>
              <a:t>adaptors</a:t>
            </a:r>
            <a:r>
              <a:rPr lang="zh-CN" altLang="en-US" dirty="0"/>
              <a:t> </a:t>
            </a:r>
            <a:r>
              <a:rPr lang="en-US" altLang="zh-CN" dirty="0"/>
              <a:t>for</a:t>
            </a:r>
            <a:r>
              <a:rPr lang="zh-CN" altLang="en-US" dirty="0"/>
              <a:t> </a:t>
            </a:r>
            <a:r>
              <a:rPr lang="en-US" altLang="zh-CN" dirty="0"/>
              <a:t>each</a:t>
            </a:r>
            <a:r>
              <a:rPr lang="zh-CN" altLang="en-US" dirty="0"/>
              <a:t> </a:t>
            </a:r>
            <a:r>
              <a:rPr lang="en-US" altLang="zh-CN" dirty="0"/>
              <a:t>protocol</a:t>
            </a:r>
            <a:r>
              <a:rPr lang="zh-CN" altLang="en-US" dirty="0"/>
              <a:t> </a:t>
            </a:r>
            <a:r>
              <a:rPr lang="en-US" altLang="zh-CN" dirty="0"/>
              <a:t>/</a:t>
            </a:r>
            <a:r>
              <a:rPr lang="zh-CN" altLang="en-US" dirty="0"/>
              <a:t> </a:t>
            </a:r>
            <a:r>
              <a:rPr lang="en-US" altLang="zh-CN" dirty="0"/>
              <a:t>application</a:t>
            </a:r>
            <a:endParaRPr lang="en-US" dirty="0"/>
          </a:p>
        </p:txBody>
      </p:sp>
      <p:sp>
        <p:nvSpPr>
          <p:cNvPr id="4" name="TextBox 3">
            <a:extLst>
              <a:ext uri="{FF2B5EF4-FFF2-40B4-BE49-F238E27FC236}">
                <a16:creationId xmlns:a16="http://schemas.microsoft.com/office/drawing/2014/main" id="{C36E0FF9-B178-0B5C-321E-E8D67BB06099}"/>
              </a:ext>
            </a:extLst>
          </p:cNvPr>
          <p:cNvSpPr txBox="1"/>
          <p:nvPr/>
        </p:nvSpPr>
        <p:spPr>
          <a:xfrm>
            <a:off x="6669275" y="4497638"/>
            <a:ext cx="1617751" cy="307777"/>
          </a:xfrm>
          <a:prstGeom prst="rect">
            <a:avLst/>
          </a:prstGeom>
          <a:noFill/>
        </p:spPr>
        <p:txBody>
          <a:bodyPr wrap="none" rtlCol="0">
            <a:spAutoFit/>
          </a:bodyPr>
          <a:lstStyle/>
          <a:p>
            <a:r>
              <a:rPr lang="en-US" altLang="zh-CN" dirty="0"/>
              <a:t>Other</a:t>
            </a:r>
            <a:r>
              <a:rPr lang="zh-CN" altLang="en-US" dirty="0"/>
              <a:t> </a:t>
            </a:r>
            <a:r>
              <a:rPr lang="en-US" altLang="zh-CN" dirty="0"/>
              <a:t>solutions…</a:t>
            </a:r>
            <a:endParaRPr lang="en-US" dirty="0"/>
          </a:p>
        </p:txBody>
      </p:sp>
      <p:pic>
        <p:nvPicPr>
          <p:cNvPr id="2052" name="Picture 4" descr="问号人图片免费下载_问号人素材_问号人海报-新图网">
            <a:extLst>
              <a:ext uri="{FF2B5EF4-FFF2-40B4-BE49-F238E27FC236}">
                <a16:creationId xmlns:a16="http://schemas.microsoft.com/office/drawing/2014/main" id="{7EB9D5DD-B9E4-F8B5-7D4F-ECDDF43E740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94851" y="4295248"/>
            <a:ext cx="551513" cy="71255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问号人图片免费下载_问号人素材_问号人海报-新图网">
            <a:extLst>
              <a:ext uri="{FF2B5EF4-FFF2-40B4-BE49-F238E27FC236}">
                <a16:creationId xmlns:a16="http://schemas.microsoft.com/office/drawing/2014/main" id="{EE97C7E5-447C-F77D-21BD-1ED28C41F5F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83433" y="4280998"/>
            <a:ext cx="551513" cy="7125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2052"/>
                                        </p:tgtEl>
                                        <p:attrNameLst>
                                          <p:attrName>style.visibility</p:attrName>
                                        </p:attrNameLst>
                                      </p:cBhvr>
                                      <p:to>
                                        <p:strVal val="visible"/>
                                      </p:to>
                                    </p:set>
                                    <p:animEffect transition="in" filter="blinds(horizontal)">
                                      <p:cBhvr>
                                        <p:cTn id="10" dur="500"/>
                                        <p:tgtEl>
                                          <p:spTgt spid="205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linds(horizontal)">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5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Conclusion &amp; Future work</a:t>
            </a:r>
            <a:endParaRPr/>
          </a:p>
        </p:txBody>
      </p:sp>
      <p:sp>
        <p:nvSpPr>
          <p:cNvPr id="794" name="Google Shape;794;p58"/>
          <p:cNvSpPr txBox="1">
            <a:spLocks noGrp="1"/>
          </p:cNvSpPr>
          <p:nvPr>
            <p:ph type="body" idx="1"/>
          </p:nvPr>
        </p:nvSpPr>
        <p:spPr>
          <a:xfrm>
            <a:off x="311700" y="1152474"/>
            <a:ext cx="8520600" cy="3711625"/>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Font typeface="Arial"/>
              <a:buChar char="•"/>
            </a:pPr>
            <a:r>
              <a:rPr lang="en" sz="1800" b="0" i="0" u="none" strike="noStrike" dirty="0">
                <a:solidFill>
                  <a:schemeClr val="tx1"/>
                </a:solidFill>
                <a:latin typeface="Helvetica Neue"/>
                <a:ea typeface="Helvetica Neue"/>
                <a:cs typeface="Helvetica Neue"/>
                <a:sym typeface="Helvetica Neue"/>
              </a:rPr>
              <a:t>This work provides the first message-level measurement of protocol compliance in RTC applications.</a:t>
            </a:r>
            <a:endParaRPr sz="1800" b="0" i="0" u="none" strike="noStrike" dirty="0">
              <a:solidFill>
                <a:schemeClr val="tx1"/>
              </a:solidFill>
              <a:latin typeface="Arial"/>
              <a:ea typeface="Arial"/>
              <a:cs typeface="Arial"/>
              <a:sym typeface="Arial"/>
            </a:endParaRPr>
          </a:p>
          <a:p>
            <a:pPr marL="457200" lvl="0" indent="-342900" algn="l" rtl="0">
              <a:lnSpc>
                <a:spcPct val="115000"/>
              </a:lnSpc>
              <a:spcBef>
                <a:spcPts val="0"/>
              </a:spcBef>
              <a:spcAft>
                <a:spcPts val="0"/>
              </a:spcAft>
              <a:buSzPts val="1800"/>
              <a:buFont typeface="Arial"/>
              <a:buChar char="•"/>
            </a:pPr>
            <a:r>
              <a:rPr lang="en" sz="1800" b="0" i="0" u="none" strike="noStrike" dirty="0">
                <a:solidFill>
                  <a:schemeClr val="tx1"/>
                </a:solidFill>
                <a:latin typeface="Helvetica Neue"/>
                <a:ea typeface="Helvetica Neue"/>
                <a:cs typeface="Helvetica Neue"/>
                <a:sym typeface="Helvetica Neue"/>
              </a:rPr>
              <a:t>No application fully follows all the protocol specifications.</a:t>
            </a:r>
            <a:endParaRPr dirty="0">
              <a:solidFill>
                <a:schemeClr val="tx1"/>
              </a:solidFill>
            </a:endParaRPr>
          </a:p>
          <a:p>
            <a:pPr marL="457200" lvl="0" indent="-228600" algn="l" rtl="0">
              <a:lnSpc>
                <a:spcPct val="115000"/>
              </a:lnSpc>
              <a:spcBef>
                <a:spcPts val="0"/>
              </a:spcBef>
              <a:spcAft>
                <a:spcPts val="0"/>
              </a:spcAft>
              <a:buSzPts val="1800"/>
              <a:buFont typeface="Arial"/>
              <a:buNone/>
            </a:pPr>
            <a:endParaRPr dirty="0">
              <a:solidFill>
                <a:schemeClr val="tx1"/>
              </a:solidFill>
            </a:endParaRPr>
          </a:p>
          <a:p>
            <a:pPr marL="457200" lvl="0" indent="-228600" algn="l" rtl="0">
              <a:lnSpc>
                <a:spcPct val="115000"/>
              </a:lnSpc>
              <a:spcBef>
                <a:spcPts val="0"/>
              </a:spcBef>
              <a:spcAft>
                <a:spcPts val="0"/>
              </a:spcAft>
              <a:buSzPts val="1800"/>
              <a:buFont typeface="Arial"/>
              <a:buNone/>
            </a:pPr>
            <a:endParaRPr dirty="0">
              <a:solidFill>
                <a:schemeClr val="tx1"/>
              </a:solidFill>
            </a:endParaRPr>
          </a:p>
          <a:p>
            <a:pPr marL="457200" lvl="0" indent="-342900" algn="l" rtl="0">
              <a:lnSpc>
                <a:spcPct val="115000"/>
              </a:lnSpc>
              <a:spcBef>
                <a:spcPts val="0"/>
              </a:spcBef>
              <a:spcAft>
                <a:spcPts val="0"/>
              </a:spcAft>
              <a:buSzPts val="1800"/>
              <a:buFont typeface="Arial"/>
              <a:buChar char="•"/>
            </a:pPr>
            <a:r>
              <a:rPr lang="en" dirty="0">
                <a:solidFill>
                  <a:schemeClr val="tx1"/>
                </a:solidFill>
              </a:rPr>
              <a:t>Future work:</a:t>
            </a:r>
          </a:p>
          <a:p>
            <a:pPr lvl="1" indent="-342900">
              <a:buSzPts val="1800"/>
              <a:buFont typeface="Arial"/>
              <a:buChar char="•"/>
            </a:pPr>
            <a:r>
              <a:rPr lang="en-US" b="1" dirty="0">
                <a:solidFill>
                  <a:schemeClr val="tx1"/>
                </a:solidFill>
              </a:rPr>
              <a:t>RTC protocols and application interoperability</a:t>
            </a:r>
            <a:endParaRPr b="1" dirty="0">
              <a:solidFill>
                <a:schemeClr val="tx1"/>
              </a:solidFill>
            </a:endParaRPr>
          </a:p>
          <a:p>
            <a:pPr marL="914400" lvl="1" indent="-317500" algn="l" rtl="0">
              <a:lnSpc>
                <a:spcPct val="115000"/>
              </a:lnSpc>
              <a:spcBef>
                <a:spcPts val="0"/>
              </a:spcBef>
              <a:spcAft>
                <a:spcPts val="0"/>
              </a:spcAft>
              <a:buSzPts val="1400"/>
              <a:buFont typeface="Arial"/>
              <a:buChar char="•"/>
            </a:pPr>
            <a:r>
              <a:rPr lang="en" dirty="0">
                <a:solidFill>
                  <a:schemeClr val="tx1"/>
                </a:solidFill>
                <a:latin typeface="Helvetica Neue"/>
                <a:ea typeface="Helvetica Neue"/>
                <a:cs typeface="Helvetica Neue"/>
                <a:sym typeface="Helvetica Neue"/>
              </a:rPr>
              <a:t>The compliance study between </a:t>
            </a:r>
            <a:r>
              <a:rPr lang="en" dirty="0" err="1">
                <a:solidFill>
                  <a:schemeClr val="tx1"/>
                </a:solidFill>
                <a:latin typeface="Helvetica Neue"/>
                <a:ea typeface="Helvetica Neue"/>
                <a:cs typeface="Helvetica Neue"/>
                <a:sym typeface="Helvetica Neue"/>
              </a:rPr>
              <a:t>WebApps</a:t>
            </a:r>
            <a:r>
              <a:rPr lang="en" dirty="0">
                <a:solidFill>
                  <a:schemeClr val="tx1"/>
                </a:solidFill>
                <a:latin typeface="Helvetica Neue"/>
                <a:ea typeface="Helvetica Neue"/>
                <a:cs typeface="Helvetica Neue"/>
                <a:sym typeface="Helvetica Neue"/>
              </a:rPr>
              <a:t> and </a:t>
            </a:r>
            <a:r>
              <a:rPr lang="en" dirty="0" err="1">
                <a:solidFill>
                  <a:schemeClr val="tx1"/>
                </a:solidFill>
                <a:latin typeface="Helvetica Neue"/>
                <a:ea typeface="Helvetica Neue"/>
                <a:cs typeface="Helvetica Neue"/>
                <a:sym typeface="Helvetica Neue"/>
              </a:rPr>
              <a:t>MobileApps</a:t>
            </a:r>
            <a:endParaRPr dirty="0">
              <a:solidFill>
                <a:schemeClr val="tx1"/>
              </a:solidFill>
            </a:endParaRPr>
          </a:p>
          <a:p>
            <a:pPr marL="914400" lvl="1" indent="-317500" algn="l" rtl="0">
              <a:lnSpc>
                <a:spcPct val="115000"/>
              </a:lnSpc>
              <a:spcBef>
                <a:spcPts val="0"/>
              </a:spcBef>
              <a:spcAft>
                <a:spcPts val="0"/>
              </a:spcAft>
              <a:buSzPts val="1400"/>
              <a:buFont typeface="Arial"/>
              <a:buChar char="•"/>
            </a:pPr>
            <a:r>
              <a:rPr lang="en" dirty="0">
                <a:solidFill>
                  <a:schemeClr val="tx1"/>
                </a:solidFill>
                <a:latin typeface="Helvetica Neue"/>
                <a:ea typeface="Helvetica Neue"/>
                <a:cs typeface="Helvetica Neue"/>
                <a:sym typeface="Helvetica Neue"/>
              </a:rPr>
              <a:t>Protocol compliance study of group calls</a:t>
            </a:r>
            <a:endParaRPr dirty="0">
              <a:solidFill>
                <a:schemeClr val="tx1"/>
              </a:solidFill>
            </a:endParaRPr>
          </a:p>
          <a:p>
            <a:pPr marL="914400" lvl="1" indent="-228600" algn="l" rtl="0">
              <a:lnSpc>
                <a:spcPct val="115000"/>
              </a:lnSpc>
              <a:spcBef>
                <a:spcPts val="0"/>
              </a:spcBef>
              <a:spcAft>
                <a:spcPts val="0"/>
              </a:spcAft>
              <a:buSzPts val="1800"/>
              <a:buFont typeface="Arial"/>
              <a:buNone/>
            </a:pPr>
            <a:endParaRPr dirty="0">
              <a:solidFill>
                <a:schemeClr val="tx1"/>
              </a:solidFill>
            </a:endParaRPr>
          </a:p>
        </p:txBody>
      </p:sp>
      <p:sp>
        <p:nvSpPr>
          <p:cNvPr id="795" name="Google Shape;795;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23</a:t>
            </a:fld>
            <a:endParaRPr/>
          </a:p>
        </p:txBody>
      </p:sp>
      <p:sp>
        <p:nvSpPr>
          <p:cNvPr id="3" name="TextBox 2">
            <a:extLst>
              <a:ext uri="{FF2B5EF4-FFF2-40B4-BE49-F238E27FC236}">
                <a16:creationId xmlns:a16="http://schemas.microsoft.com/office/drawing/2014/main" id="{BA4EF577-E975-DD37-E17C-33CAD5945843}"/>
              </a:ext>
            </a:extLst>
          </p:cNvPr>
          <p:cNvSpPr txBox="1"/>
          <p:nvPr/>
        </p:nvSpPr>
        <p:spPr>
          <a:xfrm>
            <a:off x="0" y="4835723"/>
            <a:ext cx="8298226" cy="307777"/>
          </a:xfrm>
          <a:prstGeom prst="rect">
            <a:avLst/>
          </a:prstGeom>
          <a:noFill/>
        </p:spPr>
        <p:txBody>
          <a:bodyPr wrap="square">
            <a:spAutoFit/>
          </a:bodyPr>
          <a:lstStyle/>
          <a:p>
            <a:r>
              <a:rPr lang="en-US" altLang="zh-CN" dirty="0"/>
              <a:t>Measurement</a:t>
            </a:r>
            <a:r>
              <a:rPr lang="zh-CN" altLang="en-US" dirty="0"/>
              <a:t> </a:t>
            </a:r>
            <a:r>
              <a:rPr lang="en-US" altLang="zh-CN" dirty="0"/>
              <a:t>tools</a:t>
            </a:r>
            <a:r>
              <a:rPr lang="zh-CN" altLang="en-US" dirty="0"/>
              <a:t> </a:t>
            </a:r>
            <a:r>
              <a:rPr lang="en-US" altLang="zh-CN" dirty="0"/>
              <a:t>open-sourced</a:t>
            </a:r>
            <a:r>
              <a:rPr lang="zh-CN" altLang="en-US" dirty="0"/>
              <a:t> </a:t>
            </a:r>
            <a:r>
              <a:rPr lang="en-US" altLang="zh-CN" dirty="0"/>
              <a:t>at:</a:t>
            </a:r>
            <a:r>
              <a:rPr lang="zh-CN" altLang="en-US" dirty="0"/>
              <a:t> </a:t>
            </a:r>
            <a:r>
              <a:rPr lang="en-US" dirty="0"/>
              <a:t>https://</a:t>
            </a:r>
            <a:r>
              <a:rPr lang="en-US" dirty="0" err="1"/>
              <a:t>github.com</a:t>
            </a:r>
            <a:r>
              <a:rPr lang="en-US" dirty="0"/>
              <a:t>/RTC-Measurement-Project/</a:t>
            </a:r>
            <a:r>
              <a:rPr lang="en-US" dirty="0" err="1"/>
              <a:t>rtc_code</a:t>
            </a:r>
            <a:endParaRPr lang="en-US"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1050</TotalTime>
  <Words>1007</Words>
  <Application>Microsoft Macintosh PowerPoint</Application>
  <PresentationFormat>On-screen Show (16:9)</PresentationFormat>
  <Paragraphs>225</Paragraphs>
  <Slides>23</Slides>
  <Notes>23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23</vt:i4>
      </vt:variant>
    </vt:vector>
  </HeadingPairs>
  <TitlesOfParts>
    <vt:vector size="28" baseType="lpstr">
      <vt:lpstr>Arial</vt:lpstr>
      <vt:lpstr>Helvetica Neue</vt:lpstr>
      <vt:lpstr>Cambria Math</vt:lpstr>
      <vt:lpstr>Simple Light</vt:lpstr>
      <vt:lpstr>Simple Light</vt:lpstr>
      <vt:lpstr>Protocol Compliance in Popular RTC Applications</vt:lpstr>
      <vt:lpstr>Real-Time Communication (RTC) applications &amp; protocols</vt:lpstr>
      <vt:lpstr>RTC protocol stack</vt:lpstr>
      <vt:lpstr>The implementations of RTC protocols are noncompliant</vt:lpstr>
      <vt:lpstr>Significance of compliance study</vt:lpstr>
      <vt:lpstr>In this paper we study…</vt:lpstr>
      <vt:lpstr>Outline</vt:lpstr>
      <vt:lpstr>Message-level measurement</vt:lpstr>
      <vt:lpstr>Determine compliance of a message</vt:lpstr>
      <vt:lpstr>2 metrics for compliance of an application</vt:lpstr>
      <vt:lpstr>Outline</vt:lpstr>
      <vt:lpstr>Experiment setup</vt:lpstr>
      <vt:lpstr>Extract Messages from UDP datagrams</vt:lpstr>
      <vt:lpstr>Outline</vt:lpstr>
      <vt:lpstr>Results: Compliance ratio by traffic volume</vt:lpstr>
      <vt:lpstr>Results: Compliance ratio by message type</vt:lpstr>
      <vt:lpstr>Outline</vt:lpstr>
      <vt:lpstr>Discord uses reserved identifier in RTP header extension</vt:lpstr>
      <vt:lpstr>FaceTime introduces undefined profile identifier for RTP header extensions</vt:lpstr>
      <vt:lpstr>Discord adds one extra direction byte in RTCP messages</vt:lpstr>
      <vt:lpstr>Facetime and Zoom have proprietary protocol headers</vt:lpstr>
      <vt:lpstr>Interoperation – long long journey across the ocean…</vt:lpstr>
      <vt:lpstr>Conclusion &amp; Future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Peiqing Chen</cp:lastModifiedBy>
  <cp:revision>9</cp:revision>
  <dcterms:modified xsi:type="dcterms:W3CDTF">2025-10-29T20:38:38Z</dcterms:modified>
</cp:coreProperties>
</file>